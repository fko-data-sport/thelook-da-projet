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Arial" charset="1" panose="020B0604020202020204"/>
      <p:regular r:id="rId25"/>
    </p:embeddedFont>
    <p:embeddedFont>
      <p:font typeface="Arial Bold" charset="1" panose="020B0704020202020204"/>
      <p:regular r:id="rId26"/>
    </p:embeddedFont>
    <p:embeddedFont>
      <p:font typeface="TT Interphases Bold" charset="1" panose="020008030600000200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18" Target="../media/image18.png" Type="http://schemas.openxmlformats.org/officeDocument/2006/relationships/image"/><Relationship Id="rId19"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4.png" Type="http://schemas.openxmlformats.org/officeDocument/2006/relationships/image"/><Relationship Id="rId5" Target="../media/image25.svg" Type="http://schemas.openxmlformats.org/officeDocument/2006/relationships/image"/><Relationship Id="rId6" Target="../media/image26.pn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7.png" Type="http://schemas.openxmlformats.org/officeDocument/2006/relationships/image"/><Relationship Id="rId5" Target="../media/image28.png" Type="http://schemas.openxmlformats.org/officeDocument/2006/relationships/image"/><Relationship Id="rId6" Target="../media/image29.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0.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1.png" Type="http://schemas.openxmlformats.org/officeDocument/2006/relationships/image"/><Relationship Id="rId6" Target="../media/image32.png" Type="http://schemas.openxmlformats.org/officeDocument/2006/relationships/image"/><Relationship Id="rId7" Target="../media/image33.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35.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36.png" Type="http://schemas.openxmlformats.org/officeDocument/2006/relationships/image"/><Relationship Id="rId7" Target="../media/image3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38.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9.png" Type="http://schemas.openxmlformats.org/officeDocument/2006/relationships/image"/><Relationship Id="rId6" Target="../media/image40.png" Type="http://schemas.openxmlformats.org/officeDocument/2006/relationships/image"/><Relationship Id="rId7" Target="../media/image41.png" Type="http://schemas.openxmlformats.org/officeDocument/2006/relationships/image"/><Relationship Id="rId8" Target="../media/image42.png" Type="http://schemas.openxmlformats.org/officeDocument/2006/relationships/image"/><Relationship Id="rId9" Target="../media/image43.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4.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5.png" Type="http://schemas.openxmlformats.org/officeDocument/2006/relationships/image"/><Relationship Id="rId6" Target="../media/image46.png" Type="http://schemas.openxmlformats.org/officeDocument/2006/relationships/image"/><Relationship Id="rId7" Target="../media/image4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8.png" Type="http://schemas.openxmlformats.org/officeDocument/2006/relationships/image"/><Relationship Id="rId7" Target="../media/image49.png" Type="http://schemas.openxmlformats.org/officeDocument/2006/relationships/image"/><Relationship Id="rId8" Target="../media/image50.png" Type="http://schemas.openxmlformats.org/officeDocument/2006/relationships/image"/><Relationship Id="rId9" Target="../media/image51.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8.png" Type="http://schemas.openxmlformats.org/officeDocument/2006/relationships/image"/><Relationship Id="rId17"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 Id="rId8" Target="../media/image20.png" Type="http://schemas.openxmlformats.org/officeDocument/2006/relationships/image"/><Relationship Id="rId9" Target="../media/image21.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610476" y="1035745"/>
            <a:ext cx="3645247"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a:t>
            </a:r>
          </a:p>
        </p:txBody>
      </p:sp>
      <p:sp>
        <p:nvSpPr>
          <p:cNvPr name="Freeform 54" id="54"/>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8">
              <a:extLst>
                <a:ext uri="{96DAC541-7B7A-43D3-8B79-37D633B846F1}">
                  <asvg:svgBlip xmlns:asvg="http://schemas.microsoft.com/office/drawing/2016/SVG/main" r:embed="rId19"/>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411980"/>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1177593" y="1500751"/>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
        <p:nvSpPr>
          <p:cNvPr name="Freeform 36" id="36"/>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1209418" y="1643479"/>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
        <p:nvSpPr>
          <p:cNvPr name="Freeform 39" id="3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810360" y="3776124"/>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1217182" y="1853962"/>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
        <p:nvSpPr>
          <p:cNvPr name="Freeform 11" id="11"/>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4"/>
            <a:stretch>
              <a:fillRect l="0" t="0" r="0" b="0"/>
            </a:stretch>
          </a:blipFill>
        </p:spPr>
      </p:sp>
      <p:sp>
        <p:nvSpPr>
          <p:cNvPr name="TextBox 5" id="5"/>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6" id="6"/>
          <p:cNvSpPr txBox="true"/>
          <p:nvPr/>
        </p:nvSpPr>
        <p:spPr>
          <a:xfrm rot="0">
            <a:off x="1209418" y="1855470"/>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7" id="7"/>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
        <p:nvSpPr>
          <p:cNvPr name="Freeform 8" id="8"/>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146524" y="1756135"/>
            <a:ext cx="723730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&amp; CA 2023 vs CA 2024</a:t>
            </a:r>
          </a:p>
        </p:txBody>
      </p:sp>
      <p:sp>
        <p:nvSpPr>
          <p:cNvPr name="TextBox 10" id="10"/>
          <p:cNvSpPr txBox="true"/>
          <p:nvPr/>
        </p:nvSpPr>
        <p:spPr>
          <a:xfrm rot="0">
            <a:off x="11953456" y="2329801"/>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
        <p:nvSpPr>
          <p:cNvPr name="Freeform 11" id="11"/>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2" id="12"/>
          <p:cNvSpPr/>
          <p:nvPr/>
        </p:nvSpPr>
        <p:spPr>
          <a:xfrm flipH="false" flipV="false" rot="0">
            <a:off x="17096832" y="8995922"/>
            <a:ext cx="324936" cy="443095"/>
          </a:xfrm>
          <a:custGeom>
            <a:avLst/>
            <a:gdLst/>
            <a:ahLst/>
            <a:cxnLst/>
            <a:rect r="r" b="b" t="t" l="l"/>
            <a:pathLst>
              <a:path h="443095" w="324936">
                <a:moveTo>
                  <a:pt x="0" y="0"/>
                </a:moveTo>
                <a:lnTo>
                  <a:pt x="324936" y="0"/>
                </a:lnTo>
                <a:lnTo>
                  <a:pt x="324936" y="443096"/>
                </a:lnTo>
                <a:lnTo>
                  <a:pt x="0" y="4430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3" id="13"/>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grpSp>
        <p:nvGrpSpPr>
          <p:cNvPr name="Group 4" id="4"/>
          <p:cNvGrpSpPr/>
          <p:nvPr/>
        </p:nvGrpSpPr>
        <p:grpSpPr>
          <a:xfrm rot="0">
            <a:off x="6986947" y="2472398"/>
            <a:ext cx="585429" cy="248130"/>
            <a:chOff x="0" y="0"/>
            <a:chExt cx="154187" cy="65351"/>
          </a:xfrm>
        </p:grpSpPr>
        <p:sp>
          <p:nvSpPr>
            <p:cNvPr name="Freeform 5" id="5"/>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6" id="6"/>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7" id="7"/>
          <p:cNvGrpSpPr/>
          <p:nvPr/>
        </p:nvGrpSpPr>
        <p:grpSpPr>
          <a:xfrm rot="0">
            <a:off x="1028700" y="9081243"/>
            <a:ext cx="3099781" cy="361435"/>
            <a:chOff x="0" y="0"/>
            <a:chExt cx="413304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0" id="10"/>
          <p:cNvGrpSpPr/>
          <p:nvPr/>
        </p:nvGrpSpPr>
        <p:grpSpPr>
          <a:xfrm rot="0">
            <a:off x="1028700" y="1028700"/>
            <a:ext cx="4484785" cy="361435"/>
            <a:chOff x="0" y="0"/>
            <a:chExt cx="5979713" cy="481914"/>
          </a:xfrm>
        </p:grpSpPr>
        <p:sp>
          <p:nvSpPr>
            <p:cNvPr name="Freeform 11" id="11"/>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 id="12"/>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3" id="13"/>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4" id="14"/>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5" id="15"/>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
        <p:nvSpPr>
          <p:cNvPr name="Freeform 16" id="16"/>
          <p:cNvSpPr/>
          <p:nvPr/>
        </p:nvSpPr>
        <p:spPr>
          <a:xfrm flipH="false" flipV="false" rot="0">
            <a:off x="17115420" y="9016755"/>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979640" y="1732524"/>
            <a:ext cx="5941264" cy="3628217"/>
          </a:xfrm>
          <a:custGeom>
            <a:avLst/>
            <a:gdLst/>
            <a:ahLst/>
            <a:cxnLst/>
            <a:rect r="r" b="b" t="t" l="l"/>
            <a:pathLst>
              <a:path h="3628217" w="5941264">
                <a:moveTo>
                  <a:pt x="0" y="0"/>
                </a:moveTo>
                <a:lnTo>
                  <a:pt x="5941263" y="0"/>
                </a:lnTo>
                <a:lnTo>
                  <a:pt x="5941263" y="3628217"/>
                </a:lnTo>
                <a:lnTo>
                  <a:pt x="0" y="362821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028700" y="4274813"/>
            <a:ext cx="7293078" cy="4339381"/>
          </a:xfrm>
          <a:custGeom>
            <a:avLst/>
            <a:gdLst/>
            <a:ahLst/>
            <a:cxnLst/>
            <a:rect r="r" b="b" t="t" l="l"/>
            <a:pathLst>
              <a:path h="4339381" w="7293078">
                <a:moveTo>
                  <a:pt x="0" y="0"/>
                </a:moveTo>
                <a:lnTo>
                  <a:pt x="7293078" y="0"/>
                </a:lnTo>
                <a:lnTo>
                  <a:pt x="7293078" y="4339382"/>
                </a:lnTo>
                <a:lnTo>
                  <a:pt x="0" y="4339382"/>
                </a:lnTo>
                <a:lnTo>
                  <a:pt x="0" y="0"/>
                </a:lnTo>
                <a:close/>
              </a:path>
            </a:pathLst>
          </a:custGeom>
          <a:blipFill>
            <a:blip r:embed="rId5"/>
            <a:stretch>
              <a:fillRect l="0" t="0" r="0" b="0"/>
            </a:stretch>
          </a:blipFill>
        </p:spPr>
      </p:sp>
      <p:sp>
        <p:nvSpPr>
          <p:cNvPr name="Freeform 10" id="10"/>
          <p:cNvSpPr/>
          <p:nvPr/>
        </p:nvSpPr>
        <p:spPr>
          <a:xfrm flipH="false" flipV="false" rot="0">
            <a:off x="2330541" y="2497572"/>
            <a:ext cx="1881104" cy="1256999"/>
          </a:xfrm>
          <a:custGeom>
            <a:avLst/>
            <a:gdLst/>
            <a:ahLst/>
            <a:cxnLst/>
            <a:rect r="r" b="b" t="t" l="l"/>
            <a:pathLst>
              <a:path h="1256999" w="1881104">
                <a:moveTo>
                  <a:pt x="0" y="0"/>
                </a:moveTo>
                <a:lnTo>
                  <a:pt x="1881103" y="0"/>
                </a:lnTo>
                <a:lnTo>
                  <a:pt x="1881103" y="1256999"/>
                </a:lnTo>
                <a:lnTo>
                  <a:pt x="0" y="1256999"/>
                </a:lnTo>
                <a:lnTo>
                  <a:pt x="0" y="0"/>
                </a:lnTo>
                <a:close/>
              </a:path>
            </a:pathLst>
          </a:custGeom>
          <a:blipFill>
            <a:blip r:embed="rId6"/>
            <a:stretch>
              <a:fillRect l="0" t="0" r="0" b="0"/>
            </a:stretch>
          </a:blipFill>
        </p:spPr>
      </p:sp>
      <p:sp>
        <p:nvSpPr>
          <p:cNvPr name="Freeform 11" id="11"/>
          <p:cNvSpPr/>
          <p:nvPr/>
        </p:nvSpPr>
        <p:spPr>
          <a:xfrm flipH="false" flipV="false" rot="0">
            <a:off x="4211644" y="2530320"/>
            <a:ext cx="1904598" cy="1191502"/>
          </a:xfrm>
          <a:custGeom>
            <a:avLst/>
            <a:gdLst/>
            <a:ahLst/>
            <a:cxnLst/>
            <a:rect r="r" b="b" t="t" l="l"/>
            <a:pathLst>
              <a:path h="1191502" w="1904598">
                <a:moveTo>
                  <a:pt x="0" y="0"/>
                </a:moveTo>
                <a:lnTo>
                  <a:pt x="1904599" y="0"/>
                </a:lnTo>
                <a:lnTo>
                  <a:pt x="1904599" y="1191502"/>
                </a:lnTo>
                <a:lnTo>
                  <a:pt x="0" y="1191502"/>
                </a:lnTo>
                <a:lnTo>
                  <a:pt x="0" y="0"/>
                </a:lnTo>
                <a:close/>
              </a:path>
            </a:pathLst>
          </a:custGeom>
          <a:blipFill>
            <a:blip r:embed="rId7"/>
            <a:stretch>
              <a:fillRect l="0" t="0" r="0" b="0"/>
            </a:stretch>
          </a:blipFill>
        </p:spPr>
      </p:sp>
      <p:sp>
        <p:nvSpPr>
          <p:cNvPr name="TextBox 12" id="12"/>
          <p:cNvSpPr txBox="true"/>
          <p:nvPr/>
        </p:nvSpPr>
        <p:spPr>
          <a:xfrm rot="0">
            <a:off x="1166502" y="1799199"/>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3" id="13"/>
          <p:cNvSpPr txBox="true"/>
          <p:nvPr/>
        </p:nvSpPr>
        <p:spPr>
          <a:xfrm rot="0">
            <a:off x="8979640" y="5533154"/>
            <a:ext cx="7913048" cy="3410513"/>
          </a:xfrm>
          <a:prstGeom prst="rect">
            <a:avLst/>
          </a:prstGeom>
        </p:spPr>
        <p:txBody>
          <a:bodyPr anchor="t" rtlCol="false" tIns="0" lIns="0" bIns="0" rIns="0">
            <a:spAutoFit/>
          </a:bodyPr>
          <a:lstStyle/>
          <a:p>
            <a:pPr algn="just">
              <a:lnSpc>
                <a:spcPts val="1683"/>
              </a:lnSpc>
              <a:spcBef>
                <a:spcPct val="0"/>
              </a:spcBef>
            </a:pPr>
            <a:r>
              <a:rPr lang="en-US" b="true" sz="1202" spc="-58" u="sng">
                <a:solidFill>
                  <a:srgbClr val="000000"/>
                </a:solidFill>
                <a:latin typeface="Arial Bold"/>
                <a:ea typeface="Arial Bold"/>
                <a:cs typeface="Arial Bold"/>
                <a:sym typeface="Arial Bold"/>
              </a:rPr>
              <a:t>Principaux constats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Clothing Sets : 100% de retours — toutes les lignes sont retournées</a:t>
            </a:r>
          </a:p>
          <a:p>
            <a:pPr algn="l" marL="227215" indent="-113607" lvl="1">
              <a:lnSpc>
                <a:spcPts val="1473"/>
              </a:lnSpc>
              <a:buFont typeface="Arial"/>
              <a:buChar char="•"/>
            </a:pPr>
            <a:r>
              <a:rPr lang="en-US" sz="1052" spc="-51">
                <a:solidFill>
                  <a:srgbClr val="000000"/>
                </a:solidFill>
                <a:latin typeface="Arial"/>
                <a:ea typeface="Arial"/>
                <a:cs typeface="Arial"/>
                <a:sym typeface="Arial"/>
              </a:rPr>
              <a:t>Suits : 60% — taux très élevé révélant des problèmes de coupe</a:t>
            </a:r>
          </a:p>
          <a:p>
            <a:pPr algn="l" marL="227215" indent="-113607" lvl="1">
              <a:lnSpc>
                <a:spcPts val="1473"/>
              </a:lnSpc>
              <a:buFont typeface="Arial"/>
              <a:buChar char="•"/>
            </a:pPr>
            <a:r>
              <a:rPr lang="en-US" sz="1052" spc="-51">
                <a:solidFill>
                  <a:srgbClr val="000000"/>
                </a:solidFill>
                <a:latin typeface="Arial"/>
                <a:ea typeface="Arial"/>
                <a:cs typeface="Arial"/>
                <a:sym typeface="Arial"/>
              </a:rPr>
              <a:t>Blazers &amp; Jackets : 55% — même problématique que Suits</a:t>
            </a:r>
          </a:p>
          <a:p>
            <a:pPr algn="l" marL="227215" indent="-113607" lvl="1">
              <a:lnSpc>
                <a:spcPts val="1473"/>
              </a:lnSpc>
              <a:buFont typeface="Arial"/>
              <a:buChar char="•"/>
            </a:pPr>
            <a:r>
              <a:rPr lang="en-US" sz="1052" spc="-51">
                <a:solidFill>
                  <a:srgbClr val="000000"/>
                </a:solidFill>
                <a:latin typeface="Arial"/>
                <a:ea typeface="Arial"/>
                <a:cs typeface="Arial"/>
                <a:sym typeface="Arial"/>
              </a:rPr>
              <a:t>Tops &amp; Tees : 47,4% — catégorie à surveiller</a:t>
            </a:r>
          </a:p>
          <a:p>
            <a:pPr algn="l" marL="227215" indent="-113607" lvl="1">
              <a:lnSpc>
                <a:spcPts val="1473"/>
              </a:lnSpc>
              <a:buFont typeface="Arial"/>
              <a:buChar char="•"/>
            </a:pPr>
            <a:r>
              <a:rPr lang="en-US" sz="1052" spc="-51">
                <a:solidFill>
                  <a:srgbClr val="000000"/>
                </a:solidFill>
                <a:latin typeface="Arial"/>
                <a:ea typeface="Arial"/>
                <a:cs typeface="Arial"/>
                <a:sym typeface="Arial"/>
              </a:rPr>
              <a:t>Outerwear &amp; Coats : 44% malgré son fort CA (3 148 €)</a:t>
            </a:r>
          </a:p>
          <a:p>
            <a:pPr algn="l" marL="227215" indent="-113607" lvl="1">
              <a:lnSpc>
                <a:spcPts val="1473"/>
              </a:lnSpc>
              <a:buFont typeface="Arial"/>
              <a:buChar char="•"/>
            </a:pPr>
            <a:r>
              <a:rPr lang="en-US" sz="1052" spc="-51">
                <a:solidFill>
                  <a:srgbClr val="000000"/>
                </a:solidFill>
                <a:latin typeface="Arial"/>
                <a:ea typeface="Arial"/>
                <a:cs typeface="Arial"/>
                <a:sym typeface="Arial"/>
              </a:rPr>
              <a:t>Taux global 2024 : 30,42% (vs 37,87% en 2023 : -7,5 pts)</a:t>
            </a:r>
          </a:p>
          <a:p>
            <a:pPr algn="l">
              <a:lnSpc>
                <a:spcPts val="1408"/>
              </a:lnSpc>
            </a:pPr>
          </a:p>
          <a:p>
            <a:pPr algn="just">
              <a:lnSpc>
                <a:spcPts val="1683"/>
              </a:lnSpc>
            </a:pPr>
            <a:r>
              <a:rPr lang="en-US" b="true" sz="1202" spc="-58" u="sng">
                <a:solidFill>
                  <a:srgbClr val="000000"/>
                </a:solidFill>
                <a:latin typeface="Arial Bold"/>
                <a:ea typeface="Arial Bold"/>
                <a:cs typeface="Arial Bold"/>
                <a:sym typeface="Arial Bold"/>
              </a:rPr>
              <a:t>Insights clés:</a:t>
            </a:r>
          </a:p>
          <a:p>
            <a:pPr algn="just">
              <a:lnSpc>
                <a:spcPts val="1408"/>
              </a:lnSpc>
            </a:pPr>
          </a:p>
          <a:p>
            <a:pPr algn="l" marL="227215" indent="-113607" lvl="1">
              <a:lnSpc>
                <a:spcPts val="1473"/>
              </a:lnSpc>
              <a:buFont typeface="Arial"/>
              <a:buChar char="•"/>
            </a:pPr>
            <a:r>
              <a:rPr lang="en-US" sz="1052" spc="-51">
                <a:solidFill>
                  <a:srgbClr val="000000"/>
                </a:solidFill>
                <a:latin typeface="Arial"/>
                <a:ea typeface="Arial"/>
                <a:cs typeface="Arial"/>
                <a:sym typeface="Arial"/>
              </a:rPr>
              <a:t>Les catégories Clothing Sets et Suits doivent être revues en priorité. </a:t>
            </a:r>
          </a:p>
          <a:p>
            <a:pPr algn="l" marL="227215" indent="-113607" lvl="1">
              <a:lnSpc>
                <a:spcPts val="1473"/>
              </a:lnSpc>
              <a:buFont typeface="Arial"/>
              <a:buChar char="•"/>
            </a:pPr>
            <a:r>
              <a:rPr lang="en-US" sz="1052" spc="-51">
                <a:solidFill>
                  <a:srgbClr val="000000"/>
                </a:solidFill>
                <a:latin typeface="Arial"/>
                <a:ea typeface="Arial"/>
                <a:cs typeface="Arial"/>
                <a:sym typeface="Arial"/>
              </a:rPr>
              <a:t>Chaque point de retour en moins = marge directement récupérée.</a:t>
            </a:r>
          </a:p>
          <a:p>
            <a:pPr algn="just">
              <a:lnSpc>
                <a:spcPts val="1408"/>
              </a:lnSpc>
              <a:spcBef>
                <a:spcPct val="0"/>
              </a:spcBef>
            </a:pPr>
          </a:p>
          <a:p>
            <a:pPr algn="just">
              <a:lnSpc>
                <a:spcPts val="1683"/>
              </a:lnSpc>
              <a:spcBef>
                <a:spcPct val="0"/>
              </a:spcBef>
            </a:pPr>
            <a:r>
              <a:rPr lang="en-US" b="true" sz="1202" spc="-58" u="sng">
                <a:solidFill>
                  <a:srgbClr val="000000"/>
                </a:solidFill>
                <a:latin typeface="Arial Bold"/>
                <a:ea typeface="Arial Bold"/>
                <a:cs typeface="Arial Bold"/>
                <a:sym typeface="Arial Bold"/>
              </a:rPr>
              <a:t>Recommandation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473"/>
              </a:lnSpc>
              <a:spcBef>
                <a:spcPct val="0"/>
              </a:spcBef>
            </a:pPr>
          </a:p>
        </p:txBody>
      </p:sp>
      <p:sp>
        <p:nvSpPr>
          <p:cNvPr name="Freeform 14" id="14"/>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5" id="15"/>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ré-achat &amp; Fidélisation client</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903717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3" id="13"/>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0" id="10"/>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1" id="11"/>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2" id="12"/>
          <p:cNvSpPr txBox="true"/>
          <p:nvPr/>
        </p:nvSpPr>
        <p:spPr>
          <a:xfrm rot="0">
            <a:off x="11529077" y="3277401"/>
            <a:ext cx="5910830" cy="477202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par personne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Contra-intuitif : Paris n'est pas dominante. Les villes moyennes représentent un fort potentiel non capturé.</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a:t>
            </a:r>
            <a:r>
              <a:rPr lang="en-US" sz="1400" spc="-68">
                <a:solidFill>
                  <a:srgbClr val="000000"/>
                </a:solidFill>
                <a:latin typeface="Arial"/>
                <a:ea typeface="Arial"/>
                <a:cs typeface="Arial"/>
                <a:sym typeface="Arial"/>
              </a:rPr>
              <a:t>ncer des campagnes géo-ciblées sur les villes à fort potentiel (500-900€ CA). Objectif : activer 10 nouvelles villes en 2025 pour +15% CA.</a:t>
            </a:r>
          </a:p>
          <a:p>
            <a:pPr algn="l">
              <a:lnSpc>
                <a:spcPts val="1960"/>
              </a:lnSpc>
              <a:spcBef>
                <a:spcPct val="0"/>
              </a:spcBef>
            </a:pPr>
          </a:p>
        </p:txBody>
      </p:sp>
      <p:sp>
        <p:nvSpPr>
          <p:cNvPr name="Freeform 13" id="13"/>
          <p:cNvSpPr/>
          <p:nvPr/>
        </p:nvSpPr>
        <p:spPr>
          <a:xfrm flipH="false" flipV="false" rot="0">
            <a:off x="17271516"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4" id="14"/>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4217613" y="2184676"/>
            <a:ext cx="9852773" cy="1525869"/>
            <a:chOff x="0" y="0"/>
            <a:chExt cx="13137031" cy="2034492"/>
          </a:xfrm>
        </p:grpSpPr>
        <p:grpSp>
          <p:nvGrpSpPr>
            <p:cNvPr name="Group 11" id="11"/>
            <p:cNvGrpSpPr/>
            <p:nvPr/>
          </p:nvGrpSpPr>
          <p:grpSpPr>
            <a:xfrm rot="0">
              <a:off x="1622325" y="0"/>
              <a:ext cx="11097783" cy="2034492"/>
              <a:chOff x="0" y="0"/>
              <a:chExt cx="2254056" cy="413223"/>
            </a:xfrm>
          </p:grpSpPr>
          <p:sp>
            <p:nvSpPr>
              <p:cNvPr name="Freeform 12" id="12"/>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3" id="13"/>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4" id="14"/>
            <p:cNvGrpSpPr/>
            <p:nvPr/>
          </p:nvGrpSpPr>
          <p:grpSpPr>
            <a:xfrm rot="0">
              <a:off x="0" y="0"/>
              <a:ext cx="1441406" cy="2034492"/>
              <a:chOff x="0" y="0"/>
              <a:chExt cx="292762" cy="413223"/>
            </a:xfrm>
          </p:grpSpPr>
          <p:sp>
            <p:nvSpPr>
              <p:cNvPr name="Freeform 15" id="1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6" id="1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7" id="17"/>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0" id="20"/>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1" id="21"/>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2" id="22"/>
          <p:cNvGrpSpPr/>
          <p:nvPr/>
        </p:nvGrpSpPr>
        <p:grpSpPr>
          <a:xfrm rot="0">
            <a:off x="4217613" y="3939145"/>
            <a:ext cx="9852773" cy="1525869"/>
            <a:chOff x="0" y="0"/>
            <a:chExt cx="13137031" cy="2034492"/>
          </a:xfrm>
        </p:grpSpPr>
        <p:grpSp>
          <p:nvGrpSpPr>
            <p:cNvPr name="Group 23" id="23"/>
            <p:cNvGrpSpPr/>
            <p:nvPr/>
          </p:nvGrpSpPr>
          <p:grpSpPr>
            <a:xfrm rot="0">
              <a:off x="1622325" y="0"/>
              <a:ext cx="11097783" cy="2034492"/>
              <a:chOff x="0" y="0"/>
              <a:chExt cx="2254056" cy="413223"/>
            </a:xfrm>
          </p:grpSpPr>
          <p:sp>
            <p:nvSpPr>
              <p:cNvPr name="Freeform 24" id="24"/>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25" id="25"/>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6" id="26"/>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7" id="27"/>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8" id="28"/>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29" id="29"/>
            <p:cNvGrpSpPr/>
            <p:nvPr/>
          </p:nvGrpSpPr>
          <p:grpSpPr>
            <a:xfrm rot="0">
              <a:off x="0" y="0"/>
              <a:ext cx="1441406" cy="2034492"/>
              <a:chOff x="0" y="0"/>
              <a:chExt cx="292762" cy="413223"/>
            </a:xfrm>
          </p:grpSpPr>
          <p:sp>
            <p:nvSpPr>
              <p:cNvPr name="Freeform 30" id="30"/>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31" id="31"/>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2" id="32"/>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3" id="33"/>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grpSp>
        <p:nvGrpSpPr>
          <p:cNvPr name="Group 34" id="34"/>
          <p:cNvGrpSpPr/>
          <p:nvPr/>
        </p:nvGrpSpPr>
        <p:grpSpPr>
          <a:xfrm rot="0">
            <a:off x="4217613" y="5693614"/>
            <a:ext cx="9540081" cy="1525869"/>
            <a:chOff x="0" y="0"/>
            <a:chExt cx="12720108" cy="2034492"/>
          </a:xfrm>
        </p:grpSpPr>
        <p:grpSp>
          <p:nvGrpSpPr>
            <p:cNvPr name="Group 35" id="35"/>
            <p:cNvGrpSpPr/>
            <p:nvPr/>
          </p:nvGrpSpPr>
          <p:grpSpPr>
            <a:xfrm rot="0">
              <a:off x="1622325" y="0"/>
              <a:ext cx="11097783" cy="2034492"/>
              <a:chOff x="0" y="0"/>
              <a:chExt cx="2254056" cy="413223"/>
            </a:xfrm>
          </p:grpSpPr>
          <p:sp>
            <p:nvSpPr>
              <p:cNvPr name="Freeform 36" id="36"/>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37" id="37"/>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8" id="38"/>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39" id="39"/>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0" id="40"/>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1" id="41"/>
            <p:cNvGrpSpPr/>
            <p:nvPr/>
          </p:nvGrpSpPr>
          <p:grpSpPr>
            <a:xfrm rot="0">
              <a:off x="0" y="0"/>
              <a:ext cx="1441406" cy="2034492"/>
              <a:chOff x="0" y="0"/>
              <a:chExt cx="292762" cy="413223"/>
            </a:xfrm>
          </p:grpSpPr>
          <p:sp>
            <p:nvSpPr>
              <p:cNvPr name="Freeform 42" id="42"/>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43" id="43"/>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4" id="44"/>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5" id="45"/>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46" id="46"/>
          <p:cNvGrpSpPr/>
          <p:nvPr/>
        </p:nvGrpSpPr>
        <p:grpSpPr>
          <a:xfrm rot="0">
            <a:off x="4217613" y="7448083"/>
            <a:ext cx="9540081" cy="1525869"/>
            <a:chOff x="0" y="0"/>
            <a:chExt cx="12720108" cy="2034492"/>
          </a:xfrm>
        </p:grpSpPr>
        <p:grpSp>
          <p:nvGrpSpPr>
            <p:cNvPr name="Group 47" id="47"/>
            <p:cNvGrpSpPr/>
            <p:nvPr/>
          </p:nvGrpSpPr>
          <p:grpSpPr>
            <a:xfrm rot="0">
              <a:off x="1622325" y="0"/>
              <a:ext cx="11097783" cy="2034492"/>
              <a:chOff x="0" y="0"/>
              <a:chExt cx="2254056" cy="413223"/>
            </a:xfrm>
          </p:grpSpPr>
          <p:sp>
            <p:nvSpPr>
              <p:cNvPr name="Freeform 48" id="48"/>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49" id="49"/>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0" id="50"/>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1" id="5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2" id="52"/>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3" id="53"/>
            <p:cNvGrpSpPr/>
            <p:nvPr/>
          </p:nvGrpSpPr>
          <p:grpSpPr>
            <a:xfrm rot="0">
              <a:off x="0" y="0"/>
              <a:ext cx="1441406" cy="2034492"/>
              <a:chOff x="0" y="0"/>
              <a:chExt cx="292762" cy="413223"/>
            </a:xfrm>
          </p:grpSpPr>
          <p:sp>
            <p:nvSpPr>
              <p:cNvPr name="Freeform 54" id="54"/>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55" id="55"/>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6" id="56"/>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57" id="57"/>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sp>
        <p:nvSpPr>
          <p:cNvPr name="Freeform 58" id="58"/>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9" id="5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6">
              <a:extLst>
                <a:ext uri="{96DAC541-7B7A-43D3-8B79-37D633B846F1}">
                  <asvg:svgBlip xmlns:asvg="http://schemas.microsoft.com/office/drawing/2016/SVG/main" r:embed="rId17"/>
                </a:ext>
              </a:extLst>
            </a:blip>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5" id="5"/>
          <p:cNvGrpSpPr/>
          <p:nvPr/>
        </p:nvGrpSpPr>
        <p:grpSpPr>
          <a:xfrm rot="0">
            <a:off x="1028700" y="1028700"/>
            <a:ext cx="4329431" cy="361435"/>
            <a:chOff x="0" y="0"/>
            <a:chExt cx="5772575"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8" id="8"/>
          <p:cNvGrpSpPr/>
          <p:nvPr/>
        </p:nvGrpSpPr>
        <p:grpSpPr>
          <a:xfrm rot="0">
            <a:off x="1028700" y="9037170"/>
            <a:ext cx="3099781" cy="361435"/>
            <a:chOff x="0" y="0"/>
            <a:chExt cx="4133041" cy="481914"/>
          </a:xfrm>
        </p:grpSpPr>
        <p:sp>
          <p:nvSpPr>
            <p:cNvPr name="Freeform 9" id="9"/>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1" id="11"/>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2" id="12"/>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
        <p:nvSpPr>
          <p:cNvPr name="Freeform 13" id="13"/>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Freeform 9" id="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