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ial" charset="1" panose="020B0604020202020204"/>
      <p:regular r:id="rId25"/>
    </p:embeddedFont>
    <p:embeddedFont>
      <p:font typeface="Arial Bold" charset="1" panose="020B0704020202020204"/>
      <p:regular r:id="rId26"/>
    </p:embeddedFont>
    <p:embeddedFont>
      <p:font typeface="TT Interphases Bold" charset="1" panose="0200080306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19" Target="../media/image1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38.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4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8.png" Type="http://schemas.openxmlformats.org/officeDocument/2006/relationships/image"/><Relationship Id="rId17" Target="../media/image1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4389" y="1652572"/>
            <a:ext cx="3490928" cy="3490928"/>
          </a:xfrm>
          <a:custGeom>
            <a:avLst/>
            <a:gdLst/>
            <a:ahLst/>
            <a:cxnLst/>
            <a:rect r="r" b="b" t="t" l="l"/>
            <a:pathLst>
              <a:path h="3490928" w="3490928">
                <a:moveTo>
                  <a:pt x="0" y="0"/>
                </a:moveTo>
                <a:lnTo>
                  <a:pt x="3490928" y="0"/>
                </a:lnTo>
                <a:lnTo>
                  <a:pt x="3490928" y="3490928"/>
                </a:lnTo>
                <a:lnTo>
                  <a:pt x="0" y="3490928"/>
                </a:lnTo>
                <a:lnTo>
                  <a:pt x="0" y="0"/>
                </a:lnTo>
                <a:close/>
              </a:path>
            </a:pathLst>
          </a:custGeom>
          <a:blipFill>
            <a:blip r:embed="rId2"/>
            <a:stretch>
              <a:fillRect l="0" t="0" r="0" b="0"/>
            </a:stretch>
          </a:blipFill>
        </p:spPr>
      </p:sp>
      <p:grpSp>
        <p:nvGrpSpPr>
          <p:cNvPr name="Group 3" id="3"/>
          <p:cNvGrpSpPr/>
          <p:nvPr/>
        </p:nvGrpSpPr>
        <p:grpSpPr>
          <a:xfrm rot="0">
            <a:off x="1028700" y="8915917"/>
            <a:ext cx="16230600" cy="337811"/>
            <a:chOff x="0" y="0"/>
            <a:chExt cx="4274726" cy="88971"/>
          </a:xfrm>
        </p:grpSpPr>
        <p:sp>
          <p:nvSpPr>
            <p:cNvPr name="Freeform 4" id="4"/>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5" id="5"/>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
        <p:nvSpPr>
          <p:cNvPr name="TextBox 6" id="6"/>
          <p:cNvSpPr txBox="true"/>
          <p:nvPr/>
        </p:nvSpPr>
        <p:spPr>
          <a:xfrm rot="0">
            <a:off x="8056953" y="4115229"/>
            <a:ext cx="9202347" cy="1936750"/>
          </a:xfrm>
          <a:prstGeom prst="rect">
            <a:avLst/>
          </a:prstGeom>
        </p:spPr>
        <p:txBody>
          <a:bodyPr anchor="t" rtlCol="false" tIns="0" lIns="0" bIns="0" rIns="0">
            <a:spAutoFit/>
          </a:bodyPr>
          <a:lstStyle/>
          <a:p>
            <a:pPr algn="r">
              <a:lnSpc>
                <a:spcPts val="7699"/>
              </a:lnSpc>
              <a:spcBef>
                <a:spcPct val="0"/>
              </a:spcBef>
            </a:pPr>
            <a:r>
              <a:rPr lang="en-US" sz="5499" spc="-269">
                <a:solidFill>
                  <a:srgbClr val="AD6200"/>
                </a:solidFill>
                <a:latin typeface="Arial"/>
                <a:ea typeface="Arial"/>
                <a:cs typeface="Arial"/>
                <a:sym typeface="Arial"/>
              </a:rPr>
              <a:t>Analyse e-commerce </a:t>
            </a:r>
          </a:p>
          <a:p>
            <a:pPr algn="r">
              <a:lnSpc>
                <a:spcPts val="7699"/>
              </a:lnSpc>
              <a:spcBef>
                <a:spcPct val="0"/>
              </a:spcBef>
            </a:pPr>
            <a:r>
              <a:rPr lang="en-US" sz="5499" spc="-269">
                <a:solidFill>
                  <a:srgbClr val="AD6200"/>
                </a:solidFill>
                <a:latin typeface="Arial"/>
                <a:ea typeface="Arial"/>
                <a:cs typeface="Arial"/>
                <a:sym typeface="Arial"/>
              </a:rPr>
              <a:t> Women - France - 2023 vs 2024</a:t>
            </a:r>
          </a:p>
        </p:txBody>
      </p:sp>
      <p:sp>
        <p:nvSpPr>
          <p:cNvPr name="TextBox 7" id="7"/>
          <p:cNvSpPr txBox="true"/>
          <p:nvPr/>
        </p:nvSpPr>
        <p:spPr>
          <a:xfrm rot="0">
            <a:off x="1028700" y="2885340"/>
            <a:ext cx="5813524" cy="4911797"/>
          </a:xfrm>
          <a:prstGeom prst="rect">
            <a:avLst/>
          </a:prstGeom>
        </p:spPr>
        <p:txBody>
          <a:bodyPr anchor="t" rtlCol="false" tIns="0" lIns="0" bIns="0" rIns="0">
            <a:spAutoFit/>
          </a:bodyPr>
          <a:lstStyle/>
          <a:p>
            <a:pPr algn="l">
              <a:lnSpc>
                <a:spcPts val="12392"/>
              </a:lnSpc>
            </a:pPr>
            <a:r>
              <a:rPr lang="en-US" sz="14244" spc="-697" b="true">
                <a:solidFill>
                  <a:srgbClr val="3779E3"/>
                </a:solidFill>
                <a:latin typeface="Arial Bold"/>
                <a:ea typeface="Arial Bold"/>
                <a:cs typeface="Arial Bold"/>
                <a:sym typeface="Arial Bold"/>
              </a:rPr>
              <a:t>The</a:t>
            </a:r>
            <a:r>
              <a:rPr lang="en-US" sz="14244" spc="-697" b="true">
                <a:solidFill>
                  <a:srgbClr val="000000"/>
                </a:solidFill>
                <a:latin typeface="Arial Bold"/>
                <a:ea typeface="Arial Bold"/>
                <a:cs typeface="Arial Bold"/>
                <a:sym typeface="Arial Bold"/>
              </a:rPr>
              <a:t> </a:t>
            </a:r>
          </a:p>
          <a:p>
            <a:pPr algn="l">
              <a:lnSpc>
                <a:spcPts val="12392"/>
              </a:lnSpc>
            </a:pPr>
            <a:r>
              <a:rPr lang="en-US" sz="14244" spc="-697" b="true">
                <a:solidFill>
                  <a:srgbClr val="3779E3"/>
                </a:solidFill>
                <a:latin typeface="Arial Bold"/>
                <a:ea typeface="Arial Bold"/>
                <a:cs typeface="Arial Bold"/>
                <a:sym typeface="Arial Bold"/>
              </a:rPr>
              <a:t>Look</a:t>
            </a:r>
            <a:r>
              <a:rPr lang="en-US" sz="14244" spc="-697">
                <a:solidFill>
                  <a:srgbClr val="000000"/>
                </a:solidFill>
                <a:latin typeface="Arial"/>
                <a:ea typeface="Arial"/>
                <a:cs typeface="Arial"/>
                <a:sym typeface="Arial"/>
              </a:rPr>
              <a:t> </a:t>
            </a:r>
          </a:p>
          <a:p>
            <a:pPr algn="l">
              <a:lnSpc>
                <a:spcPts val="12392"/>
              </a:lnSpc>
            </a:pPr>
            <a:r>
              <a:rPr lang="en-US" sz="14244" spc="-697" b="true">
                <a:solidFill>
                  <a:srgbClr val="3779E3"/>
                </a:solidFill>
                <a:latin typeface="Arial Bold"/>
                <a:ea typeface="Arial Bold"/>
                <a:cs typeface="Arial Bold"/>
                <a:sym typeface="Arial Bold"/>
              </a:rPr>
              <a:t>Europe </a:t>
            </a:r>
          </a:p>
        </p:txBody>
      </p:sp>
      <p:grpSp>
        <p:nvGrpSpPr>
          <p:cNvPr name="Group 8" id="8"/>
          <p:cNvGrpSpPr/>
          <p:nvPr/>
        </p:nvGrpSpPr>
        <p:grpSpPr>
          <a:xfrm rot="0">
            <a:off x="1028700" y="1028700"/>
            <a:ext cx="16230600" cy="337811"/>
            <a:chOff x="0" y="0"/>
            <a:chExt cx="4274726" cy="88971"/>
          </a:xfrm>
        </p:grpSpPr>
        <p:sp>
          <p:nvSpPr>
            <p:cNvPr name="Freeform 9" id="9"/>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10" id="10"/>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49159" y="1952087"/>
            <a:ext cx="11044774" cy="815341"/>
          </a:xfrm>
          <a:prstGeom prst="rect">
            <a:avLst/>
          </a:prstGeom>
        </p:spPr>
        <p:txBody>
          <a:bodyPr anchor="t" rtlCol="false" tIns="0" lIns="0" bIns="0" rIns="0">
            <a:spAutoFit/>
          </a:bodyPr>
          <a:lstStyle/>
          <a:p>
            <a:pPr algn="l">
              <a:lnSpc>
                <a:spcPts val="5655"/>
              </a:lnSpc>
            </a:pPr>
            <a:r>
              <a:rPr lang="en-US" sz="6500" spc="-318" b="true">
                <a:solidFill>
                  <a:srgbClr val="AD6200"/>
                </a:solidFill>
                <a:latin typeface="Arial Bold"/>
                <a:ea typeface="Arial Bold"/>
                <a:cs typeface="Arial Bold"/>
                <a:sym typeface="Arial Bold"/>
              </a:rPr>
              <a:t>Sommaire </a:t>
            </a:r>
          </a:p>
        </p:txBody>
      </p:sp>
      <p:sp>
        <p:nvSpPr>
          <p:cNvPr name="TextBox 6" id="6"/>
          <p:cNvSpPr txBox="true"/>
          <p:nvPr/>
        </p:nvSpPr>
        <p:spPr>
          <a:xfrm rot="0">
            <a:off x="1549159" y="9134067"/>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549159" y="3517891"/>
            <a:ext cx="12743947" cy="4837139"/>
            <a:chOff x="0" y="0"/>
            <a:chExt cx="16991929" cy="6449518"/>
          </a:xfrm>
        </p:grpSpPr>
        <p:grpSp>
          <p:nvGrpSpPr>
            <p:cNvPr name="Group 8" id="8"/>
            <p:cNvGrpSpPr/>
            <p:nvPr/>
          </p:nvGrpSpPr>
          <p:grpSpPr>
            <a:xfrm rot="0">
              <a:off x="0" y="0"/>
              <a:ext cx="1158447" cy="1063844"/>
              <a:chOff x="0" y="0"/>
              <a:chExt cx="228829" cy="210142"/>
            </a:xfrm>
          </p:grpSpPr>
          <p:sp>
            <p:nvSpPr>
              <p:cNvPr name="Freeform 9" id="9"/>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0" id="10"/>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1" id="11"/>
            <p:cNvGrpSpPr/>
            <p:nvPr/>
          </p:nvGrpSpPr>
          <p:grpSpPr>
            <a:xfrm rot="0">
              <a:off x="0" y="1343244"/>
              <a:ext cx="1158447" cy="1063844"/>
              <a:chOff x="0" y="0"/>
              <a:chExt cx="228829" cy="210142"/>
            </a:xfrm>
          </p:grpSpPr>
          <p:sp>
            <p:nvSpPr>
              <p:cNvPr name="Freeform 12" id="12"/>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3" id="13"/>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4" id="14"/>
            <p:cNvGrpSpPr/>
            <p:nvPr/>
          </p:nvGrpSpPr>
          <p:grpSpPr>
            <a:xfrm rot="0">
              <a:off x="10054" y="2686487"/>
              <a:ext cx="1158447" cy="1063844"/>
              <a:chOff x="0" y="0"/>
              <a:chExt cx="228829" cy="210142"/>
            </a:xfrm>
          </p:grpSpPr>
          <p:sp>
            <p:nvSpPr>
              <p:cNvPr name="Freeform 15" id="15"/>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6" id="16"/>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7" id="17"/>
            <p:cNvGrpSpPr/>
            <p:nvPr/>
          </p:nvGrpSpPr>
          <p:grpSpPr>
            <a:xfrm rot="0">
              <a:off x="10054" y="4027698"/>
              <a:ext cx="1158447" cy="1063844"/>
              <a:chOff x="0" y="0"/>
              <a:chExt cx="228829" cy="210142"/>
            </a:xfrm>
          </p:grpSpPr>
          <p:sp>
            <p:nvSpPr>
              <p:cNvPr name="Freeform 18" id="18"/>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9" id="19"/>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0" id="20"/>
            <p:cNvGrpSpPr/>
            <p:nvPr/>
          </p:nvGrpSpPr>
          <p:grpSpPr>
            <a:xfrm rot="0">
              <a:off x="10054" y="5385675"/>
              <a:ext cx="1158447" cy="1063844"/>
              <a:chOff x="0" y="0"/>
              <a:chExt cx="228829" cy="210142"/>
            </a:xfrm>
          </p:grpSpPr>
          <p:sp>
            <p:nvSpPr>
              <p:cNvPr name="Freeform 21" id="21"/>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22" id="22"/>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3" id="23"/>
            <p:cNvGrpSpPr/>
            <p:nvPr/>
          </p:nvGrpSpPr>
          <p:grpSpPr>
            <a:xfrm rot="0">
              <a:off x="1611239" y="0"/>
              <a:ext cx="15380691" cy="1063844"/>
              <a:chOff x="0" y="0"/>
              <a:chExt cx="3038161" cy="210142"/>
            </a:xfrm>
          </p:grpSpPr>
          <p:sp>
            <p:nvSpPr>
              <p:cNvPr name="Freeform 24" id="24"/>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5" id="25"/>
              <p:cNvSpPr txBox="true"/>
              <p:nvPr/>
            </p:nvSpPr>
            <p:spPr>
              <a:xfrm>
                <a:off x="0" y="57150"/>
                <a:ext cx="3038161" cy="152992"/>
              </a:xfrm>
              <a:prstGeom prst="rect">
                <a:avLst/>
              </a:prstGeom>
            </p:spPr>
            <p:txBody>
              <a:bodyPr anchor="ctr" rtlCol="false" tIns="50800" lIns="50800" bIns="50800" rIns="50800"/>
              <a:lstStyle/>
              <a:p>
                <a:pPr algn="ctr">
                  <a:lnSpc>
                    <a:spcPts val="1479"/>
                  </a:lnSpc>
                </a:pPr>
              </a:p>
              <a:p>
                <a:pPr algn="ctr">
                  <a:lnSpc>
                    <a:spcPts val="1479"/>
                  </a:lnSpc>
                </a:pPr>
              </a:p>
            </p:txBody>
          </p:sp>
        </p:grpSp>
        <p:grpSp>
          <p:nvGrpSpPr>
            <p:cNvPr name="Group 26" id="26"/>
            <p:cNvGrpSpPr/>
            <p:nvPr/>
          </p:nvGrpSpPr>
          <p:grpSpPr>
            <a:xfrm rot="0">
              <a:off x="1611239" y="1343244"/>
              <a:ext cx="15380691" cy="1063844"/>
              <a:chOff x="0" y="0"/>
              <a:chExt cx="3038161" cy="210142"/>
            </a:xfrm>
          </p:grpSpPr>
          <p:sp>
            <p:nvSpPr>
              <p:cNvPr name="Freeform 27" id="27"/>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8" id="28"/>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29" id="29"/>
            <p:cNvGrpSpPr/>
            <p:nvPr/>
          </p:nvGrpSpPr>
          <p:grpSpPr>
            <a:xfrm rot="0">
              <a:off x="1611239" y="2686487"/>
              <a:ext cx="15380691" cy="1063844"/>
              <a:chOff x="0" y="0"/>
              <a:chExt cx="3038161" cy="210142"/>
            </a:xfrm>
          </p:grpSpPr>
          <p:sp>
            <p:nvSpPr>
              <p:cNvPr name="Freeform 30" id="30"/>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1" id="31"/>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2" id="32"/>
            <p:cNvGrpSpPr/>
            <p:nvPr/>
          </p:nvGrpSpPr>
          <p:grpSpPr>
            <a:xfrm rot="0">
              <a:off x="1611239" y="4029731"/>
              <a:ext cx="15380691" cy="1063844"/>
              <a:chOff x="0" y="0"/>
              <a:chExt cx="3038161" cy="210142"/>
            </a:xfrm>
          </p:grpSpPr>
          <p:sp>
            <p:nvSpPr>
              <p:cNvPr name="Freeform 33" id="33"/>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4" id="34"/>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5" id="35"/>
            <p:cNvGrpSpPr/>
            <p:nvPr/>
          </p:nvGrpSpPr>
          <p:grpSpPr>
            <a:xfrm rot="0">
              <a:off x="1611239" y="5372975"/>
              <a:ext cx="15380691" cy="1063844"/>
              <a:chOff x="0" y="0"/>
              <a:chExt cx="3038161" cy="210142"/>
            </a:xfrm>
          </p:grpSpPr>
          <p:sp>
            <p:nvSpPr>
              <p:cNvPr name="Freeform 36" id="36"/>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7" id="37"/>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sp>
          <p:nvSpPr>
            <p:cNvPr name="Freeform 38" id="38"/>
            <p:cNvSpPr/>
            <p:nvPr/>
          </p:nvSpPr>
          <p:spPr>
            <a:xfrm flipH="false" flipV="false" rot="0">
              <a:off x="684157" y="243413"/>
              <a:ext cx="239603" cy="586727"/>
            </a:xfrm>
            <a:custGeom>
              <a:avLst/>
              <a:gdLst/>
              <a:ahLst/>
              <a:cxnLst/>
              <a:rect r="r" b="b" t="t" l="l"/>
              <a:pathLst>
                <a:path h="586727" w="239603">
                  <a:moveTo>
                    <a:pt x="0" y="0"/>
                  </a:moveTo>
                  <a:lnTo>
                    <a:pt x="239603" y="0"/>
                  </a:lnTo>
                  <a:lnTo>
                    <a:pt x="239603" y="586727"/>
                  </a:lnTo>
                  <a:lnTo>
                    <a:pt x="0" y="5867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42821" y="24341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0" id="40"/>
            <p:cNvSpPr/>
            <p:nvPr/>
          </p:nvSpPr>
          <p:spPr>
            <a:xfrm flipH="false" flipV="false" rot="0">
              <a:off x="140236" y="1581802"/>
              <a:ext cx="449042" cy="586727"/>
            </a:xfrm>
            <a:custGeom>
              <a:avLst/>
              <a:gdLst/>
              <a:ahLst/>
              <a:cxnLst/>
              <a:rect r="r" b="b" t="t" l="l"/>
              <a:pathLst>
                <a:path h="586727" w="449042">
                  <a:moveTo>
                    <a:pt x="0" y="0"/>
                  </a:moveTo>
                  <a:lnTo>
                    <a:pt x="449041" y="0"/>
                  </a:lnTo>
                  <a:lnTo>
                    <a:pt x="449041"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1" id="41"/>
            <p:cNvSpPr/>
            <p:nvPr/>
          </p:nvSpPr>
          <p:spPr>
            <a:xfrm flipH="false" flipV="false" rot="0">
              <a:off x="142821" y="2925046"/>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2" id="42"/>
            <p:cNvSpPr/>
            <p:nvPr/>
          </p:nvSpPr>
          <p:spPr>
            <a:xfrm flipH="false" flipV="false" rot="0">
              <a:off x="142821" y="4268289"/>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3" id="43"/>
            <p:cNvSpPr/>
            <p:nvPr/>
          </p:nvSpPr>
          <p:spPr>
            <a:xfrm flipH="false" flipV="false" rot="0">
              <a:off x="142821" y="562423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4" id="44"/>
            <p:cNvSpPr/>
            <p:nvPr/>
          </p:nvSpPr>
          <p:spPr>
            <a:xfrm flipH="false" flipV="false" rot="0">
              <a:off x="638253" y="1592005"/>
              <a:ext cx="414447" cy="561082"/>
            </a:xfrm>
            <a:custGeom>
              <a:avLst/>
              <a:gdLst/>
              <a:ahLst/>
              <a:cxnLst/>
              <a:rect r="r" b="b" t="t" l="l"/>
              <a:pathLst>
                <a:path h="561082" w="414447">
                  <a:moveTo>
                    <a:pt x="0" y="0"/>
                  </a:moveTo>
                  <a:lnTo>
                    <a:pt x="414448" y="0"/>
                  </a:lnTo>
                  <a:lnTo>
                    <a:pt x="414448" y="561082"/>
                  </a:lnTo>
                  <a:lnTo>
                    <a:pt x="0" y="561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p:cNvSpPr/>
            <p:nvPr/>
          </p:nvSpPr>
          <p:spPr>
            <a:xfrm flipH="false" flipV="false" rot="0">
              <a:off x="631531" y="292553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6" id="46"/>
            <p:cNvSpPr/>
            <p:nvPr/>
          </p:nvSpPr>
          <p:spPr>
            <a:xfrm flipH="false" flipV="false" rot="0">
              <a:off x="605294" y="4264223"/>
              <a:ext cx="502312" cy="590794"/>
            </a:xfrm>
            <a:custGeom>
              <a:avLst/>
              <a:gdLst/>
              <a:ahLst/>
              <a:cxnLst/>
              <a:rect r="r" b="b" t="t" l="l"/>
              <a:pathLst>
                <a:path h="590794" w="502312">
                  <a:moveTo>
                    <a:pt x="0" y="0"/>
                  </a:moveTo>
                  <a:lnTo>
                    <a:pt x="502312" y="0"/>
                  </a:lnTo>
                  <a:lnTo>
                    <a:pt x="502312" y="590793"/>
                  </a:lnTo>
                  <a:lnTo>
                    <a:pt x="0" y="59079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7" id="47"/>
            <p:cNvSpPr/>
            <p:nvPr/>
          </p:nvSpPr>
          <p:spPr>
            <a:xfrm flipH="false" flipV="false" rot="0">
              <a:off x="605294" y="5624233"/>
              <a:ext cx="429768" cy="586727"/>
            </a:xfrm>
            <a:custGeom>
              <a:avLst/>
              <a:gdLst/>
              <a:ahLst/>
              <a:cxnLst/>
              <a:rect r="r" b="b" t="t" l="l"/>
              <a:pathLst>
                <a:path h="586727" w="429768">
                  <a:moveTo>
                    <a:pt x="0" y="0"/>
                  </a:moveTo>
                  <a:lnTo>
                    <a:pt x="429769" y="0"/>
                  </a:lnTo>
                  <a:lnTo>
                    <a:pt x="429769" y="586727"/>
                  </a:lnTo>
                  <a:lnTo>
                    <a:pt x="0" y="58672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8" id="48"/>
            <p:cNvSpPr txBox="true"/>
            <p:nvPr/>
          </p:nvSpPr>
          <p:spPr>
            <a:xfrm rot="0">
              <a:off x="1820536" y="288618"/>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Contexte &amp; périmètre</a:t>
              </a:r>
            </a:p>
          </p:txBody>
        </p:sp>
        <p:sp>
          <p:nvSpPr>
            <p:cNvPr name="TextBox 49" id="49"/>
            <p:cNvSpPr txBox="true"/>
            <p:nvPr/>
          </p:nvSpPr>
          <p:spPr>
            <a:xfrm rot="0">
              <a:off x="1820536" y="1658002"/>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Qualité des données</a:t>
              </a:r>
            </a:p>
          </p:txBody>
        </p:sp>
        <p:sp>
          <p:nvSpPr>
            <p:cNvPr name="TextBox 50" id="50"/>
            <p:cNvSpPr txBox="true"/>
            <p:nvPr/>
          </p:nvSpPr>
          <p:spPr>
            <a:xfrm rot="0">
              <a:off x="1820536" y="3003987"/>
              <a:ext cx="5437951"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Résultats 2023 vs 2024</a:t>
              </a:r>
            </a:p>
          </p:txBody>
        </p:sp>
        <p:sp>
          <p:nvSpPr>
            <p:cNvPr name="TextBox 51" id="51"/>
            <p:cNvSpPr txBox="true"/>
            <p:nvPr/>
          </p:nvSpPr>
          <p:spPr>
            <a:xfrm rot="0">
              <a:off x="1820536" y="4347231"/>
              <a:ext cx="5933347"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Analyse exploratoire</a:t>
              </a:r>
            </a:p>
          </p:txBody>
        </p:sp>
        <p:sp>
          <p:nvSpPr>
            <p:cNvPr name="TextBox 52" id="52"/>
            <p:cNvSpPr txBox="true"/>
            <p:nvPr/>
          </p:nvSpPr>
          <p:spPr>
            <a:xfrm rot="0">
              <a:off x="1820536" y="5652375"/>
              <a:ext cx="4559749"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Recommandations</a:t>
              </a:r>
            </a:p>
          </p:txBody>
        </p:sp>
      </p:grpSp>
      <p:sp>
        <p:nvSpPr>
          <p:cNvPr name="TextBox 53" id="53"/>
          <p:cNvSpPr txBox="true"/>
          <p:nvPr/>
        </p:nvSpPr>
        <p:spPr>
          <a:xfrm rot="0">
            <a:off x="1610476" y="1035745"/>
            <a:ext cx="3645247" cy="299720"/>
          </a:xfrm>
          <a:prstGeom prst="rect">
            <a:avLst/>
          </a:prstGeom>
        </p:spPr>
        <p:txBody>
          <a:bodyPr anchor="t" rtlCol="false" tIns="0" lIns="0" bIns="0" rIns="0">
            <a:spAutoFit/>
          </a:bodyPr>
          <a:lstStyle/>
          <a:p>
            <a:pPr algn="ctr">
              <a:lnSpc>
                <a:spcPts val="2380"/>
              </a:lnSpc>
              <a:spcBef>
                <a:spcPct val="0"/>
              </a:spcBef>
            </a:pPr>
            <a:r>
              <a:rPr lang="en-US" b="true" sz="1700" spc="-83">
                <a:solidFill>
                  <a:srgbClr val="000000"/>
                </a:solidFill>
                <a:latin typeface="Arial Bold"/>
                <a:ea typeface="Arial Bold"/>
                <a:cs typeface="Arial Bold"/>
                <a:sym typeface="Arial Bold"/>
              </a:rPr>
              <a:t>TheLook - Women France 2023 vs 2024</a:t>
            </a:r>
          </a:p>
        </p:txBody>
      </p:sp>
      <p:sp>
        <p:nvSpPr>
          <p:cNvPr name="Freeform 54" id="54"/>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414548"/>
            <a:ext cx="2482588" cy="2109509"/>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01</a:t>
            </a:r>
          </a:p>
        </p:txBody>
      </p:sp>
      <p:grpSp>
        <p:nvGrpSpPr>
          <p:cNvPr name="Group 9" id="9"/>
          <p:cNvGrpSpPr/>
          <p:nvPr/>
        </p:nvGrpSpPr>
        <p:grpSpPr>
          <a:xfrm rot="0">
            <a:off x="5352422" y="4524057"/>
            <a:ext cx="7583156" cy="1238885"/>
            <a:chOff x="0" y="0"/>
            <a:chExt cx="10110875" cy="1651847"/>
          </a:xfrm>
        </p:grpSpPr>
        <p:sp>
          <p:nvSpPr>
            <p:cNvPr name="TextBox 10" id="10"/>
            <p:cNvSpPr txBox="true"/>
            <p:nvPr/>
          </p:nvSpPr>
          <p:spPr>
            <a:xfrm rot="0">
              <a:off x="0" y="171450"/>
              <a:ext cx="10110875" cy="114427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Contexte &amp; périmètre</a:t>
              </a:r>
            </a:p>
          </p:txBody>
        </p:sp>
        <p:sp>
          <p:nvSpPr>
            <p:cNvPr name="TextBox 11" id="11"/>
            <p:cNvSpPr txBox="true"/>
            <p:nvPr/>
          </p:nvSpPr>
          <p:spPr>
            <a:xfrm rot="0">
              <a:off x="0" y="1268096"/>
              <a:ext cx="10110875"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Source, sous-périmètre, tables BigQuery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928018"/>
            <a:ext cx="5455686" cy="361435"/>
            <a:chOff x="0" y="0"/>
            <a:chExt cx="7274248"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93946" y="119671"/>
              <a:ext cx="6580302"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 </a:t>
              </a:r>
            </a:p>
          </p:txBody>
        </p:sp>
      </p:grpSp>
      <p:sp>
        <p:nvSpPr>
          <p:cNvPr name="TextBox 5" id="5"/>
          <p:cNvSpPr txBox="true"/>
          <p:nvPr/>
        </p:nvSpPr>
        <p:spPr>
          <a:xfrm rot="0">
            <a:off x="1547450" y="2834153"/>
            <a:ext cx="8692127" cy="4411980"/>
          </a:xfrm>
          <a:prstGeom prst="rect">
            <a:avLst/>
          </a:prstGeom>
        </p:spPr>
        <p:txBody>
          <a:bodyPr anchor="t" rtlCol="false" tIns="0" lIns="0" bIns="0" rIns="0">
            <a:spAutoFit/>
          </a:bodyPr>
          <a:lstStyle/>
          <a:p>
            <a:pPr algn="l">
              <a:lnSpc>
                <a:spcPts val="2520"/>
              </a:lnSpc>
            </a:pPr>
            <a:r>
              <a:rPr lang="en-US" sz="1800" spc="-88">
                <a:solidFill>
                  <a:srgbClr val="000000"/>
                </a:solidFill>
                <a:latin typeface="Arial"/>
                <a:ea typeface="Arial"/>
                <a:cs typeface="Arial"/>
                <a:sym typeface="Arial"/>
              </a:rPr>
              <a:t>TheLook est un site de vente en ligne de vêtements développé par l'équipe Looker.</a:t>
            </a:r>
          </a:p>
          <a:p>
            <a:pPr algn="l">
              <a:lnSpc>
                <a:spcPts val="2520"/>
              </a:lnSpc>
            </a:pPr>
          </a:p>
          <a:p>
            <a:pPr algn="l">
              <a:lnSpc>
                <a:spcPts val="2520"/>
              </a:lnSpc>
            </a:pPr>
            <a:r>
              <a:rPr lang="en-US" sz="1800" spc="-88">
                <a:solidFill>
                  <a:srgbClr val="000000"/>
                </a:solidFill>
                <a:latin typeface="Arial"/>
                <a:ea typeface="Arial"/>
                <a:cs typeface="Arial"/>
                <a:sym typeface="Arial"/>
              </a:rPr>
              <a:t>L'ensemble de données e-commerce TheLook contient des informations sur les clients, les produits, les commandes, la logistique, les événements Web et les campagnes de marketing numérique. Le contenu de cet ensemble de données est synthétique et est mis à la disposition des professionnels du secteur à des fins de découverte, de test et d'évaluation de produits.</a:t>
            </a:r>
          </a:p>
          <a:p>
            <a:pPr algn="l">
              <a:lnSpc>
                <a:spcPts val="2520"/>
              </a:lnSpc>
            </a:pPr>
          </a:p>
          <a:p>
            <a:pPr algn="l">
              <a:lnSpc>
                <a:spcPts val="2520"/>
              </a:lnSpc>
            </a:pPr>
            <a:r>
              <a:rPr lang="en-US" sz="1800" spc="-88">
                <a:solidFill>
                  <a:srgbClr val="000000"/>
                </a:solidFill>
                <a:latin typeface="Arial"/>
                <a:ea typeface="Arial"/>
                <a:cs typeface="Arial"/>
                <a:sym typeface="Arial"/>
              </a:rPr>
              <a:t> La direction e‑commerce nous demande d’analyser la performance de l’activité sur un périmètre précis et de comparer l’année 2023 à l’année 2024 sous  le périmètre d’étude : France × Département « Women » × Période du 01/01/2023 au 31/12/2024.</a:t>
            </a:r>
          </a:p>
          <a:p>
            <a:pPr algn="l">
              <a:lnSpc>
                <a:spcPts val="2520"/>
              </a:lnSpc>
            </a:pPr>
          </a:p>
          <a:p>
            <a:pPr algn="l">
              <a:lnSpc>
                <a:spcPts val="2520"/>
              </a:lnSpc>
            </a:pPr>
            <a:r>
              <a:rPr lang="en-US" sz="1800" spc="-88">
                <a:solidFill>
                  <a:srgbClr val="000000"/>
                </a:solidFill>
                <a:latin typeface="Arial"/>
                <a:ea typeface="Arial"/>
                <a:cs typeface="Arial"/>
                <a:sym typeface="Arial"/>
              </a:rPr>
              <a:t>N</a:t>
            </a:r>
            <a:r>
              <a:rPr lang="en-US" sz="1800" spc="-88">
                <a:solidFill>
                  <a:srgbClr val="000000"/>
                </a:solidFill>
                <a:latin typeface="Arial"/>
                <a:ea typeface="Arial"/>
                <a:cs typeface="Arial"/>
                <a:sym typeface="Arial"/>
              </a:rPr>
              <a:t>otre mission : Analyser la performance e-commerce du département Women en France, comparer et comprendre les dynamiques de chiffre d’affaires, marge, retours et comportement client entre 2023 et 2024, puis restituer des recommandations actionnables à la directions.</a:t>
            </a:r>
          </a:p>
        </p:txBody>
      </p:sp>
      <p:grpSp>
        <p:nvGrpSpPr>
          <p:cNvPr name="Group 6" id="6"/>
          <p:cNvGrpSpPr/>
          <p:nvPr/>
        </p:nvGrpSpPr>
        <p:grpSpPr>
          <a:xfrm rot="0">
            <a:off x="1028700" y="847982"/>
            <a:ext cx="4489184" cy="361435"/>
            <a:chOff x="0" y="0"/>
            <a:chExt cx="5985579"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93946" y="110908"/>
              <a:ext cx="5291634"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grpSp>
        <p:nvGrpSpPr>
          <p:cNvPr name="Group 9" id="9"/>
          <p:cNvGrpSpPr/>
          <p:nvPr/>
        </p:nvGrpSpPr>
        <p:grpSpPr>
          <a:xfrm rot="0">
            <a:off x="11030152" y="2477916"/>
            <a:ext cx="2993795" cy="1144074"/>
            <a:chOff x="0" y="0"/>
            <a:chExt cx="3991727" cy="1525433"/>
          </a:xfrm>
        </p:grpSpPr>
        <p:grpSp>
          <p:nvGrpSpPr>
            <p:cNvPr name="Group 10" id="10"/>
            <p:cNvGrpSpPr/>
            <p:nvPr/>
          </p:nvGrpSpPr>
          <p:grpSpPr>
            <a:xfrm rot="0">
              <a:off x="0" y="0"/>
              <a:ext cx="267086" cy="1525433"/>
              <a:chOff x="0" y="0"/>
              <a:chExt cx="52758" cy="301320"/>
            </a:xfrm>
          </p:grpSpPr>
          <p:sp>
            <p:nvSpPr>
              <p:cNvPr name="Freeform 11" id="11"/>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004AAD"/>
              </a:solidFill>
            </p:spPr>
          </p:sp>
          <p:sp>
            <p:nvSpPr>
              <p:cNvPr name="TextBox 12" id="12"/>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13" id="13"/>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Source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bigquery-public</a:t>
              </a:r>
            </a:p>
            <a:p>
              <a:pPr algn="l">
                <a:lnSpc>
                  <a:spcPts val="1566"/>
                </a:lnSpc>
              </a:pPr>
              <a:r>
                <a:rPr lang="en-US" sz="1800" spc="-88">
                  <a:solidFill>
                    <a:srgbClr val="000000"/>
                  </a:solidFill>
                  <a:latin typeface="Arial"/>
                  <a:ea typeface="Arial"/>
                  <a:cs typeface="Arial"/>
                  <a:sym typeface="Arial"/>
                </a:rPr>
                <a:t>data.thelook_ecommerce</a:t>
              </a:r>
            </a:p>
          </p:txBody>
        </p:sp>
      </p:grpSp>
      <p:sp>
        <p:nvSpPr>
          <p:cNvPr name="Freeform 14" id="14"/>
          <p:cNvSpPr/>
          <p:nvPr/>
        </p:nvSpPr>
        <p:spPr>
          <a:xfrm flipH="false" flipV="false" rot="0">
            <a:off x="17095652" y="8887188"/>
            <a:ext cx="327295" cy="443095"/>
          </a:xfrm>
          <a:custGeom>
            <a:avLst/>
            <a:gdLst/>
            <a:ahLst/>
            <a:cxnLst/>
            <a:rect r="r" b="b" t="t" l="l"/>
            <a:pathLst>
              <a:path h="443095" w="327295">
                <a:moveTo>
                  <a:pt x="0" y="0"/>
                </a:moveTo>
                <a:lnTo>
                  <a:pt x="327296" y="0"/>
                </a:lnTo>
                <a:lnTo>
                  <a:pt x="327296"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1030152" y="5698969"/>
            <a:ext cx="6392795" cy="1705814"/>
            <a:chOff x="0" y="0"/>
            <a:chExt cx="8523727" cy="2274419"/>
          </a:xfrm>
        </p:grpSpPr>
        <p:grpSp>
          <p:nvGrpSpPr>
            <p:cNvPr name="Group 16" id="16"/>
            <p:cNvGrpSpPr/>
            <p:nvPr/>
          </p:nvGrpSpPr>
          <p:grpSpPr>
            <a:xfrm rot="0">
              <a:off x="0" y="0"/>
              <a:ext cx="267086" cy="2274419"/>
              <a:chOff x="0" y="0"/>
              <a:chExt cx="52758" cy="449268"/>
            </a:xfrm>
          </p:grpSpPr>
          <p:sp>
            <p:nvSpPr>
              <p:cNvPr name="Freeform 17" id="17"/>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04AAD"/>
              </a:solidFill>
            </p:spPr>
          </p:sp>
          <p:sp>
            <p:nvSpPr>
              <p:cNvPr name="TextBox 18" id="18"/>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9" id="19"/>
            <p:cNvSpPr txBox="true"/>
            <p:nvPr/>
          </p:nvSpPr>
          <p:spPr>
            <a:xfrm rot="0">
              <a:off x="507166" y="407212"/>
              <a:ext cx="8016561" cy="15266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Périmètre d’étude </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France × Département « Women » × Période du 01/01/2023 au 31/12/2024.</a:t>
              </a:r>
            </a:p>
            <a:p>
              <a:pPr algn="l">
                <a:lnSpc>
                  <a:spcPts val="1653"/>
                </a:lnSpc>
              </a:pPr>
            </a:p>
          </p:txBody>
        </p:sp>
      </p:grpSp>
      <p:sp>
        <p:nvSpPr>
          <p:cNvPr name="TextBox 20" id="20"/>
          <p:cNvSpPr txBox="true"/>
          <p:nvPr/>
        </p:nvSpPr>
        <p:spPr>
          <a:xfrm rot="0">
            <a:off x="1177593" y="1500751"/>
            <a:ext cx="3247653" cy="500380"/>
          </a:xfrm>
          <a:prstGeom prst="rect">
            <a:avLst/>
          </a:prstGeom>
        </p:spPr>
        <p:txBody>
          <a:bodyPr anchor="t" rtlCol="false" tIns="0" lIns="0" bIns="0" rIns="0">
            <a:spAutoFit/>
          </a:bodyPr>
          <a:lstStyle/>
          <a:p>
            <a:pPr algn="ctr">
              <a:lnSpc>
                <a:spcPts val="3919"/>
              </a:lnSpc>
              <a:spcBef>
                <a:spcPct val="0"/>
              </a:spcBef>
            </a:pPr>
            <a:r>
              <a:rPr lang="en-US" b="true" sz="2799" spc="-137">
                <a:solidFill>
                  <a:srgbClr val="000000"/>
                </a:solidFill>
                <a:latin typeface="Arial Bold"/>
                <a:ea typeface="Arial Bold"/>
                <a:cs typeface="Arial Bold"/>
                <a:sym typeface="Arial Bold"/>
              </a:rPr>
              <a:t>Contexte &amp; périmètre</a:t>
            </a:r>
          </a:p>
        </p:txBody>
      </p:sp>
      <p:grpSp>
        <p:nvGrpSpPr>
          <p:cNvPr name="Group 21" id="21"/>
          <p:cNvGrpSpPr/>
          <p:nvPr/>
        </p:nvGrpSpPr>
        <p:grpSpPr>
          <a:xfrm rot="0">
            <a:off x="11030152" y="4088443"/>
            <a:ext cx="2993795" cy="1144074"/>
            <a:chOff x="0" y="0"/>
            <a:chExt cx="3991727" cy="1525433"/>
          </a:xfrm>
        </p:grpSpPr>
        <p:grpSp>
          <p:nvGrpSpPr>
            <p:cNvPr name="Group 22" id="22"/>
            <p:cNvGrpSpPr/>
            <p:nvPr/>
          </p:nvGrpSpPr>
          <p:grpSpPr>
            <a:xfrm rot="0">
              <a:off x="0" y="0"/>
              <a:ext cx="267086" cy="1525433"/>
              <a:chOff x="0" y="0"/>
              <a:chExt cx="52758" cy="301320"/>
            </a:xfrm>
          </p:grpSpPr>
          <p:sp>
            <p:nvSpPr>
              <p:cNvPr name="Freeform 23" id="2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FF3131"/>
              </a:solidFill>
            </p:spPr>
          </p:sp>
          <p:sp>
            <p:nvSpPr>
              <p:cNvPr name="TextBox 24" id="2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25" id="25"/>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Méthode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SQL → EDA Python</a:t>
              </a:r>
            </a:p>
            <a:p>
              <a:pPr algn="l">
                <a:lnSpc>
                  <a:spcPts val="1566"/>
                </a:lnSpc>
              </a:pPr>
              <a:r>
                <a:rPr lang="en-US" sz="1800" spc="-88">
                  <a:solidFill>
                    <a:srgbClr val="000000"/>
                  </a:solidFill>
                  <a:latin typeface="Arial"/>
                  <a:ea typeface="Arial"/>
                  <a:cs typeface="Arial"/>
                  <a:sym typeface="Arial"/>
                </a:rPr>
                <a:t>→ Dash</a:t>
              </a:r>
              <a:r>
                <a:rPr lang="en-US" sz="1800" spc="-88">
                  <a:solidFill>
                    <a:srgbClr val="000000"/>
                  </a:solidFill>
                  <a:latin typeface="Arial"/>
                  <a:ea typeface="Arial"/>
                  <a:cs typeface="Arial"/>
                  <a:sym typeface="Arial"/>
                </a:rPr>
                <a:t>board Power BI</a:t>
              </a:r>
            </a:p>
          </p:txBody>
        </p:sp>
      </p:grpSp>
      <p:grpSp>
        <p:nvGrpSpPr>
          <p:cNvPr name="Group 26" id="26"/>
          <p:cNvGrpSpPr/>
          <p:nvPr/>
        </p:nvGrpSpPr>
        <p:grpSpPr>
          <a:xfrm rot="0">
            <a:off x="14429153" y="4088443"/>
            <a:ext cx="2993795" cy="1144074"/>
            <a:chOff x="0" y="0"/>
            <a:chExt cx="3991727" cy="1525433"/>
          </a:xfrm>
        </p:grpSpPr>
        <p:grpSp>
          <p:nvGrpSpPr>
            <p:cNvPr name="Group 27" id="27"/>
            <p:cNvGrpSpPr/>
            <p:nvPr/>
          </p:nvGrpSpPr>
          <p:grpSpPr>
            <a:xfrm rot="0">
              <a:off x="0" y="0"/>
              <a:ext cx="267086" cy="1525433"/>
              <a:chOff x="0" y="0"/>
              <a:chExt cx="52758" cy="301320"/>
            </a:xfrm>
          </p:grpSpPr>
          <p:sp>
            <p:nvSpPr>
              <p:cNvPr name="Freeform 28" id="28"/>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B4B4B4"/>
              </a:solidFill>
            </p:spPr>
          </p:sp>
          <p:sp>
            <p:nvSpPr>
              <p:cNvPr name="TextBox 29" id="29"/>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0" id="30"/>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Données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1 679</a:t>
              </a:r>
              <a:r>
                <a:rPr lang="en-US" sz="1800" spc="-88">
                  <a:solidFill>
                    <a:srgbClr val="000000"/>
                  </a:solidFill>
                  <a:latin typeface="Arial"/>
                  <a:ea typeface="Arial"/>
                  <a:cs typeface="Arial"/>
                  <a:sym typeface="Arial"/>
                </a:rPr>
                <a:t> lignes · 20 colonnes</a:t>
              </a:r>
            </a:p>
            <a:p>
              <a:pPr algn="l">
                <a:lnSpc>
                  <a:spcPts val="1566"/>
                </a:lnSpc>
              </a:pPr>
            </a:p>
          </p:txBody>
        </p:sp>
      </p:grpSp>
      <p:grpSp>
        <p:nvGrpSpPr>
          <p:cNvPr name="Group 31" id="31"/>
          <p:cNvGrpSpPr/>
          <p:nvPr/>
        </p:nvGrpSpPr>
        <p:grpSpPr>
          <a:xfrm rot="0">
            <a:off x="14429153" y="2477643"/>
            <a:ext cx="2994710" cy="1144074"/>
            <a:chOff x="0" y="0"/>
            <a:chExt cx="3992947" cy="1525433"/>
          </a:xfrm>
        </p:grpSpPr>
        <p:grpSp>
          <p:nvGrpSpPr>
            <p:cNvPr name="Group 32" id="32"/>
            <p:cNvGrpSpPr/>
            <p:nvPr/>
          </p:nvGrpSpPr>
          <p:grpSpPr>
            <a:xfrm rot="0">
              <a:off x="0" y="0"/>
              <a:ext cx="267086" cy="1525433"/>
              <a:chOff x="0" y="0"/>
              <a:chExt cx="52758" cy="301320"/>
            </a:xfrm>
          </p:grpSpPr>
          <p:sp>
            <p:nvSpPr>
              <p:cNvPr name="Freeform 33" id="3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449864"/>
              </a:solidFill>
            </p:spPr>
          </p:sp>
          <p:sp>
            <p:nvSpPr>
              <p:cNvPr name="TextBox 34" id="3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5" id="35"/>
            <p:cNvSpPr txBox="true"/>
            <p:nvPr/>
          </p:nvSpPr>
          <p:spPr>
            <a:xfrm rot="0">
              <a:off x="50838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Outils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Python • SQL B</a:t>
              </a:r>
              <a:r>
                <a:rPr lang="en-US" sz="1800" spc="-88">
                  <a:solidFill>
                    <a:srgbClr val="000000"/>
                  </a:solidFill>
                  <a:latin typeface="Arial"/>
                  <a:ea typeface="Arial"/>
                  <a:cs typeface="Arial"/>
                  <a:sym typeface="Arial"/>
                </a:rPr>
                <a:t>igQuery</a:t>
              </a:r>
            </a:p>
            <a:p>
              <a:pPr algn="l">
                <a:lnSpc>
                  <a:spcPts val="1566"/>
                </a:lnSpc>
              </a:pPr>
              <a:r>
                <a:rPr lang="en-US" sz="1800" spc="-88">
                  <a:solidFill>
                    <a:srgbClr val="000000"/>
                  </a:solidFill>
                  <a:latin typeface="Arial"/>
                  <a:ea typeface="Arial"/>
                  <a:cs typeface="Arial"/>
                  <a:sym typeface="Arial"/>
                </a:rPr>
                <a:t>Power BI • Git</a:t>
              </a:r>
            </a:p>
          </p:txBody>
        </p:sp>
      </p:grpSp>
      <p:sp>
        <p:nvSpPr>
          <p:cNvPr name="Freeform 36" id="36"/>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83609" cy="361435"/>
            <a:chOff x="0" y="0"/>
            <a:chExt cx="4111479"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40622"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6291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02</a:t>
            </a:r>
          </a:p>
        </p:txBody>
      </p:sp>
      <p:grpSp>
        <p:nvGrpSpPr>
          <p:cNvPr name="Group 9" id="9"/>
          <p:cNvGrpSpPr/>
          <p:nvPr/>
        </p:nvGrpSpPr>
        <p:grpSpPr>
          <a:xfrm rot="0">
            <a:off x="5086350" y="4650105"/>
            <a:ext cx="8115300" cy="1238883"/>
            <a:chOff x="0" y="0"/>
            <a:chExt cx="10820400" cy="1651844"/>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Q</a:t>
              </a:r>
              <a:r>
                <a:rPr lang="en-US" b="true" sz="6500" spc="-318">
                  <a:solidFill>
                    <a:srgbClr val="FFFFFF"/>
                  </a:solidFill>
                  <a:latin typeface="Arial Bold"/>
                  <a:ea typeface="Arial Bold"/>
                  <a:cs typeface="Arial Bold"/>
                  <a:sym typeface="Arial Bold"/>
                </a:rPr>
                <a:t>ualité des données</a:t>
              </a:r>
            </a:p>
          </p:txBody>
        </p:sp>
        <p:sp>
          <p:nvSpPr>
            <p:cNvPr name="TextBox 11" id="11"/>
            <p:cNvSpPr txBox="true"/>
            <p:nvPr/>
          </p:nvSpPr>
          <p:spPr>
            <a:xfrm rot="0">
              <a:off x="3283893" y="1268096"/>
              <a:ext cx="4252615" cy="383748"/>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Contrôles, nettoyage, conventions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9145905"/>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47982"/>
            <a:ext cx="4564231" cy="361435"/>
            <a:chOff x="0" y="0"/>
            <a:chExt cx="60856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2184" y="110908"/>
              <a:ext cx="5323456"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sp>
        <p:nvSpPr>
          <p:cNvPr name="TextBox 6" id="6"/>
          <p:cNvSpPr txBox="true"/>
          <p:nvPr/>
        </p:nvSpPr>
        <p:spPr>
          <a:xfrm rot="0">
            <a:off x="1533007" y="9242802"/>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209418" y="2589502"/>
            <a:ext cx="6392795" cy="1705814"/>
            <a:chOff x="0" y="0"/>
            <a:chExt cx="8523727" cy="2274419"/>
          </a:xfrm>
        </p:grpSpPr>
        <p:grpSp>
          <p:nvGrpSpPr>
            <p:cNvPr name="Group 8" id="8"/>
            <p:cNvGrpSpPr/>
            <p:nvPr/>
          </p:nvGrpSpPr>
          <p:grpSpPr>
            <a:xfrm rot="0">
              <a:off x="0" y="0"/>
              <a:ext cx="267086" cy="2274419"/>
              <a:chOff x="0" y="0"/>
              <a:chExt cx="52758" cy="449268"/>
            </a:xfrm>
          </p:grpSpPr>
          <p:sp>
            <p:nvSpPr>
              <p:cNvPr name="Freeform 9" id="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ED957"/>
              </a:solidFill>
            </p:spPr>
          </p:sp>
          <p:sp>
            <p:nvSpPr>
              <p:cNvPr name="TextBox 10" id="1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1" id="1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Doublons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0 do</a:t>
              </a:r>
              <a:r>
                <a:rPr lang="en-US" sz="1800" spc="-88" b="true">
                  <a:solidFill>
                    <a:srgbClr val="000000"/>
                  </a:solidFill>
                  <a:latin typeface="Arial Bold"/>
                  <a:ea typeface="Arial Bold"/>
                  <a:cs typeface="Arial Bold"/>
                  <a:sym typeface="Arial Bold"/>
                </a:rPr>
                <a:t>ublon détecté</a:t>
              </a:r>
            </a:p>
            <a:p>
              <a:pPr algn="l">
                <a:lnSpc>
                  <a:spcPts val="1566"/>
                </a:lnSpc>
              </a:pPr>
            </a:p>
            <a:p>
              <a:pPr algn="l">
                <a:lnSpc>
                  <a:spcPts val="1566"/>
                </a:lnSpc>
              </a:pPr>
            </a:p>
            <a:p>
              <a:pPr algn="l">
                <a:lnSpc>
                  <a:spcPts val="1566"/>
                </a:lnSpc>
              </a:pPr>
              <a:r>
                <a:rPr lang="en-US" sz="1800" spc="-88">
                  <a:solidFill>
                    <a:srgbClr val="000000"/>
                  </a:solidFill>
                  <a:latin typeface="Arial"/>
                  <a:ea typeface="Arial"/>
                  <a:cs typeface="Arial"/>
                  <a:sym typeface="Arial"/>
                </a:rPr>
                <a:t>order_item_id unique - intégrité confirmée</a:t>
              </a:r>
            </a:p>
          </p:txBody>
        </p:sp>
      </p:grpSp>
      <p:grpSp>
        <p:nvGrpSpPr>
          <p:cNvPr name="Group 12" id="12"/>
          <p:cNvGrpSpPr/>
          <p:nvPr/>
        </p:nvGrpSpPr>
        <p:grpSpPr>
          <a:xfrm rot="0">
            <a:off x="10188451" y="2589502"/>
            <a:ext cx="6392795" cy="1705814"/>
            <a:chOff x="0" y="0"/>
            <a:chExt cx="8523727" cy="2274419"/>
          </a:xfrm>
        </p:grpSpPr>
        <p:grpSp>
          <p:nvGrpSpPr>
            <p:cNvPr name="Group 13" id="13"/>
            <p:cNvGrpSpPr/>
            <p:nvPr/>
          </p:nvGrpSpPr>
          <p:grpSpPr>
            <a:xfrm rot="0">
              <a:off x="0" y="0"/>
              <a:ext cx="267086" cy="2274419"/>
              <a:chOff x="0" y="0"/>
              <a:chExt cx="52758" cy="449268"/>
            </a:xfrm>
          </p:grpSpPr>
          <p:sp>
            <p:nvSpPr>
              <p:cNvPr name="Freeform 14" id="1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CC0DF"/>
              </a:solidFill>
            </p:spPr>
          </p:sp>
          <p:sp>
            <p:nvSpPr>
              <p:cNvPr name="TextBox 15" id="1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6" id="16"/>
            <p:cNvSpPr txBox="true"/>
            <p:nvPr/>
          </p:nvSpPr>
          <p:spPr>
            <a:xfrm rot="0">
              <a:off x="507166" y="182040"/>
              <a:ext cx="8016561" cy="19457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Types de dates</a:t>
              </a:r>
            </a:p>
            <a:p>
              <a:pPr algn="l">
                <a:lnSpc>
                  <a:spcPts val="1566"/>
                </a:lnSpc>
              </a:pPr>
              <a:r>
                <a:rPr lang="en-US" sz="1800" spc="-88"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4 colonnes converties</a:t>
              </a:r>
            </a:p>
            <a:p>
              <a:pPr algn="l">
                <a:lnSpc>
                  <a:spcPts val="1566"/>
                </a:lnSpc>
              </a:pPr>
            </a:p>
            <a:p>
              <a:pPr algn="l">
                <a:lnSpc>
                  <a:spcPts val="1566"/>
                </a:lnSpc>
              </a:pPr>
              <a:r>
                <a:rPr lang="en-US" sz="1800" spc="-88">
                  <a:solidFill>
                    <a:srgbClr val="000000"/>
                  </a:solidFill>
                  <a:latin typeface="Arial"/>
                  <a:ea typeface="Arial"/>
                  <a:cs typeface="Arial"/>
                  <a:sym typeface="Arial"/>
                </a:rPr>
                <a:t>pd.to_datetime() appliqué sur df_clean (item_created_at, order_created_at, shipped_at, delivered_at) sur df_clean</a:t>
              </a:r>
            </a:p>
            <a:p>
              <a:pPr algn="l">
                <a:lnSpc>
                  <a:spcPts val="1653"/>
                </a:lnSpc>
              </a:pPr>
            </a:p>
          </p:txBody>
        </p:sp>
      </p:grpSp>
      <p:grpSp>
        <p:nvGrpSpPr>
          <p:cNvPr name="Group 17" id="17"/>
          <p:cNvGrpSpPr/>
          <p:nvPr/>
        </p:nvGrpSpPr>
        <p:grpSpPr>
          <a:xfrm rot="0">
            <a:off x="1209418" y="4755581"/>
            <a:ext cx="6392795" cy="1705814"/>
            <a:chOff x="0" y="0"/>
            <a:chExt cx="8523727" cy="2274419"/>
          </a:xfrm>
        </p:grpSpPr>
        <p:grpSp>
          <p:nvGrpSpPr>
            <p:cNvPr name="Group 18" id="18"/>
            <p:cNvGrpSpPr/>
            <p:nvPr/>
          </p:nvGrpSpPr>
          <p:grpSpPr>
            <a:xfrm rot="0">
              <a:off x="0" y="0"/>
              <a:ext cx="267086" cy="2274419"/>
              <a:chOff x="0" y="0"/>
              <a:chExt cx="52758" cy="449268"/>
            </a:xfrm>
          </p:grpSpPr>
          <p:sp>
            <p:nvSpPr>
              <p:cNvPr name="Freeform 19" id="1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914D"/>
              </a:solidFill>
            </p:spPr>
          </p:sp>
          <p:sp>
            <p:nvSpPr>
              <p:cNvPr name="TextBox 20" id="2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1" id="21"/>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Valeurs manquantes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sh</a:t>
              </a:r>
              <a:r>
                <a:rPr lang="en-US" sz="1800" spc="-88" b="true">
                  <a:solidFill>
                    <a:srgbClr val="000000"/>
                  </a:solidFill>
                  <a:latin typeface="Arial Bold"/>
                  <a:ea typeface="Arial Bold"/>
                  <a:cs typeface="Arial Bold"/>
                  <a:sym typeface="Arial Bold"/>
                </a:rPr>
                <a:t>ipped_at / delivered_at</a:t>
              </a:r>
            </a:p>
            <a:p>
              <a:pPr algn="l">
                <a:lnSpc>
                  <a:spcPts val="1566"/>
                </a:lnSpc>
              </a:pPr>
            </a:p>
            <a:p>
              <a:pPr algn="l">
                <a:lnSpc>
                  <a:spcPts val="1566"/>
                </a:lnSpc>
              </a:pPr>
              <a:r>
                <a:rPr lang="en-US" sz="1800" spc="-88">
                  <a:solidFill>
                    <a:srgbClr val="000000"/>
                  </a:solidFill>
                  <a:latin typeface="Arial"/>
                  <a:ea typeface="Arial"/>
                  <a:cs typeface="Arial"/>
                  <a:sym typeface="Arial"/>
                </a:rPr>
                <a:t>Cohérent avec les commandes annulées ou en cours =&gt; conservées</a:t>
              </a:r>
            </a:p>
            <a:p>
              <a:pPr algn="l">
                <a:lnSpc>
                  <a:spcPts val="1566"/>
                </a:lnSpc>
              </a:pPr>
            </a:p>
          </p:txBody>
        </p:sp>
      </p:grpSp>
      <p:grpSp>
        <p:nvGrpSpPr>
          <p:cNvPr name="Group 22" id="22"/>
          <p:cNvGrpSpPr/>
          <p:nvPr/>
        </p:nvGrpSpPr>
        <p:grpSpPr>
          <a:xfrm rot="0">
            <a:off x="10188451" y="4755581"/>
            <a:ext cx="6392795" cy="1705814"/>
            <a:chOff x="0" y="0"/>
            <a:chExt cx="8523727" cy="2274419"/>
          </a:xfrm>
        </p:grpSpPr>
        <p:grpSp>
          <p:nvGrpSpPr>
            <p:cNvPr name="Group 23" id="23"/>
            <p:cNvGrpSpPr/>
            <p:nvPr/>
          </p:nvGrpSpPr>
          <p:grpSpPr>
            <a:xfrm rot="0">
              <a:off x="0" y="0"/>
              <a:ext cx="267086" cy="2274419"/>
              <a:chOff x="0" y="0"/>
              <a:chExt cx="52758" cy="449268"/>
            </a:xfrm>
          </p:grpSpPr>
          <p:sp>
            <p:nvSpPr>
              <p:cNvPr name="Freeform 24" id="2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37373"/>
              </a:solidFill>
            </p:spPr>
          </p:sp>
          <p:sp>
            <p:nvSpPr>
              <p:cNvPr name="TextBox 25" id="2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6" id="26"/>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Bornes temporelles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Jan 2023 → Dé</a:t>
              </a:r>
              <a:r>
                <a:rPr lang="en-US" sz="1800" spc="-88" b="true">
                  <a:solidFill>
                    <a:srgbClr val="000000"/>
                  </a:solidFill>
                  <a:latin typeface="Arial Bold"/>
                  <a:ea typeface="Arial Bold"/>
                  <a:cs typeface="Arial Bold"/>
                  <a:sym typeface="Arial Bold"/>
                </a:rPr>
                <a:t>c 2024</a:t>
              </a:r>
            </a:p>
            <a:p>
              <a:pPr algn="l">
                <a:lnSpc>
                  <a:spcPts val="1566"/>
                </a:lnSpc>
              </a:pPr>
            </a:p>
            <a:p>
              <a:pPr algn="l">
                <a:lnSpc>
                  <a:spcPts val="1566"/>
                </a:lnSpc>
              </a:pPr>
              <a:r>
                <a:rPr lang="en-US" sz="1800" spc="-88">
                  <a:solidFill>
                    <a:srgbClr val="000000"/>
                  </a:solidFill>
                  <a:latin typeface="Arial"/>
                  <a:ea typeface="Arial"/>
                  <a:cs typeface="Arial"/>
                  <a:sym typeface="Arial"/>
                </a:rPr>
                <a:t>Sous-périmètre conforme à l'énoncé</a:t>
              </a:r>
            </a:p>
            <a:p>
              <a:pPr algn="l">
                <a:lnSpc>
                  <a:spcPts val="1566"/>
                </a:lnSpc>
              </a:pPr>
            </a:p>
          </p:txBody>
        </p:sp>
      </p:grpSp>
      <p:grpSp>
        <p:nvGrpSpPr>
          <p:cNvPr name="Group 27" id="27"/>
          <p:cNvGrpSpPr/>
          <p:nvPr/>
        </p:nvGrpSpPr>
        <p:grpSpPr>
          <a:xfrm rot="0">
            <a:off x="1209418" y="6918595"/>
            <a:ext cx="6392795" cy="1705814"/>
            <a:chOff x="0" y="0"/>
            <a:chExt cx="8523727" cy="2274419"/>
          </a:xfrm>
        </p:grpSpPr>
        <p:grpSp>
          <p:nvGrpSpPr>
            <p:cNvPr name="Group 28" id="28"/>
            <p:cNvGrpSpPr/>
            <p:nvPr/>
          </p:nvGrpSpPr>
          <p:grpSpPr>
            <a:xfrm rot="0">
              <a:off x="0" y="0"/>
              <a:ext cx="267086" cy="2274419"/>
              <a:chOff x="0" y="0"/>
              <a:chExt cx="52758" cy="449268"/>
            </a:xfrm>
          </p:grpSpPr>
          <p:sp>
            <p:nvSpPr>
              <p:cNvPr name="Freeform 29" id="2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CB6CE6"/>
              </a:solidFill>
            </p:spPr>
          </p:sp>
          <p:sp>
            <p:nvSpPr>
              <p:cNvPr name="TextBox 30" id="3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1" id="3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Colonne brand</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N</a:t>
              </a:r>
              <a:r>
                <a:rPr lang="en-US" sz="1800" spc="-88" b="true">
                  <a:solidFill>
                    <a:srgbClr val="000000"/>
                  </a:solidFill>
                  <a:latin typeface="Arial Bold"/>
                  <a:ea typeface="Arial Bold"/>
                  <a:cs typeface="Arial Bold"/>
                  <a:sym typeface="Arial Bold"/>
                </a:rPr>
                <a:t>ulls → 'Unknown'</a:t>
              </a:r>
            </a:p>
            <a:p>
              <a:pPr algn="l">
                <a:lnSpc>
                  <a:spcPts val="1566"/>
                </a:lnSpc>
              </a:pPr>
            </a:p>
            <a:p>
              <a:pPr algn="l">
                <a:lnSpc>
                  <a:spcPts val="1566"/>
                </a:lnSpc>
              </a:pPr>
              <a:r>
                <a:rPr lang="en-US" sz="1800" spc="-88">
                  <a:solidFill>
                    <a:srgbClr val="000000"/>
                  </a:solidFill>
                  <a:latin typeface="Arial"/>
                  <a:ea typeface="Arial"/>
                  <a:cs typeface="Arial"/>
                  <a:sym typeface="Arial"/>
                </a:rPr>
                <a:t>fillna('Unknown') - lignes conservées pour les analyses</a:t>
              </a:r>
            </a:p>
            <a:p>
              <a:pPr algn="l">
                <a:lnSpc>
                  <a:spcPts val="1566"/>
                </a:lnSpc>
              </a:pPr>
            </a:p>
          </p:txBody>
        </p:sp>
      </p:grpSp>
      <p:grpSp>
        <p:nvGrpSpPr>
          <p:cNvPr name="Group 32" id="32"/>
          <p:cNvGrpSpPr/>
          <p:nvPr/>
        </p:nvGrpSpPr>
        <p:grpSpPr>
          <a:xfrm rot="0">
            <a:off x="10188451" y="6918595"/>
            <a:ext cx="6392795" cy="1705814"/>
            <a:chOff x="0" y="0"/>
            <a:chExt cx="8523727" cy="2274419"/>
          </a:xfrm>
        </p:grpSpPr>
        <p:grpSp>
          <p:nvGrpSpPr>
            <p:cNvPr name="Group 33" id="33"/>
            <p:cNvGrpSpPr/>
            <p:nvPr/>
          </p:nvGrpSpPr>
          <p:grpSpPr>
            <a:xfrm rot="0">
              <a:off x="0" y="0"/>
              <a:ext cx="267086" cy="2274419"/>
              <a:chOff x="0" y="0"/>
              <a:chExt cx="52758" cy="449268"/>
            </a:xfrm>
          </p:grpSpPr>
          <p:sp>
            <p:nvSpPr>
              <p:cNvPr name="Freeform 34" id="3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DE59"/>
              </a:solidFill>
            </p:spPr>
          </p:sp>
          <p:sp>
            <p:nvSpPr>
              <p:cNvPr name="TextBox 35" id="3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6" id="36"/>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ℹ️ Statuts présents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5 statuts d</a:t>
              </a:r>
              <a:r>
                <a:rPr lang="en-US" sz="1800" spc="-88" b="true">
                  <a:solidFill>
                    <a:srgbClr val="000000"/>
                  </a:solidFill>
                  <a:latin typeface="Arial Bold"/>
                  <a:ea typeface="Arial Bold"/>
                  <a:cs typeface="Arial Bold"/>
                  <a:sym typeface="Arial Bold"/>
                </a:rPr>
                <a:t>ifférents</a:t>
              </a:r>
            </a:p>
            <a:p>
              <a:pPr algn="l">
                <a:lnSpc>
                  <a:spcPts val="1566"/>
                </a:lnSpc>
              </a:pPr>
            </a:p>
            <a:p>
              <a:pPr algn="l">
                <a:lnSpc>
                  <a:spcPts val="1566"/>
                </a:lnSpc>
              </a:pPr>
              <a:r>
                <a:rPr lang="en-US" sz="1800" spc="-88">
                  <a:solidFill>
                    <a:srgbClr val="000000"/>
                  </a:solidFill>
                  <a:latin typeface="Arial"/>
                  <a:ea typeface="Arial"/>
                  <a:cs typeface="Arial"/>
                  <a:sym typeface="Arial"/>
                </a:rPr>
                <a:t>Convention : Complete = vente • Returned = retour </a:t>
              </a:r>
            </a:p>
            <a:p>
              <a:pPr algn="l">
                <a:lnSpc>
                  <a:spcPts val="1566"/>
                </a:lnSpc>
              </a:pPr>
              <a:r>
                <a:rPr lang="en-US" sz="1800" spc="-88">
                  <a:solidFill>
                    <a:srgbClr val="000000"/>
                  </a:solidFill>
                  <a:latin typeface="Arial"/>
                  <a:ea typeface="Arial"/>
                  <a:cs typeface="Arial"/>
                  <a:sym typeface="Arial"/>
                </a:rPr>
                <a:t>3 statuts exclus des KPI</a:t>
              </a:r>
            </a:p>
            <a:p>
              <a:pPr algn="l">
                <a:lnSpc>
                  <a:spcPts val="1566"/>
                </a:lnSpc>
              </a:pPr>
            </a:p>
          </p:txBody>
        </p:sp>
      </p:grpSp>
      <p:sp>
        <p:nvSpPr>
          <p:cNvPr name="Freeform 37" id="37"/>
          <p:cNvSpPr/>
          <p:nvPr/>
        </p:nvSpPr>
        <p:spPr>
          <a:xfrm flipH="false" flipV="false" rot="0">
            <a:off x="17101361" y="8924357"/>
            <a:ext cx="315878" cy="443095"/>
          </a:xfrm>
          <a:custGeom>
            <a:avLst/>
            <a:gdLst/>
            <a:ahLst/>
            <a:cxnLst/>
            <a:rect r="r" b="b" t="t" l="l"/>
            <a:pathLst>
              <a:path h="443095" w="315878">
                <a:moveTo>
                  <a:pt x="0" y="0"/>
                </a:moveTo>
                <a:lnTo>
                  <a:pt x="315878" y="0"/>
                </a:lnTo>
                <a:lnTo>
                  <a:pt x="315878"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1209418" y="1643479"/>
            <a:ext cx="3992592"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Contrôle qualité du CSV</a:t>
            </a:r>
          </a:p>
        </p:txBody>
      </p:sp>
      <p:sp>
        <p:nvSpPr>
          <p:cNvPr name="Freeform 39" id="39"/>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9703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03</a:t>
            </a:r>
          </a:p>
        </p:txBody>
      </p:sp>
      <p:grpSp>
        <p:nvGrpSpPr>
          <p:cNvPr name="Group 9" id="9"/>
          <p:cNvGrpSpPr/>
          <p:nvPr/>
        </p:nvGrpSpPr>
        <p:grpSpPr>
          <a:xfrm rot="0">
            <a:off x="5086350" y="4650105"/>
            <a:ext cx="8115300" cy="1238885"/>
            <a:chOff x="0" y="0"/>
            <a:chExt cx="10820400" cy="1651847"/>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Résultats 2023 vs 2024</a:t>
              </a:r>
            </a:p>
          </p:txBody>
        </p:sp>
        <p:sp>
          <p:nvSpPr>
            <p:cNvPr name="TextBox 11" id="11"/>
            <p:cNvSpPr txBox="true"/>
            <p:nvPr/>
          </p:nvSpPr>
          <p:spPr>
            <a:xfrm rot="0">
              <a:off x="4240659" y="1268096"/>
              <a:ext cx="2339082"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Les 5 KPI du projet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7800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73555"/>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847982"/>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66627"/>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0933" y="8996340"/>
            <a:ext cx="376734" cy="443095"/>
          </a:xfrm>
          <a:custGeom>
            <a:avLst/>
            <a:gdLst/>
            <a:ahLst/>
            <a:cxnLst/>
            <a:rect r="r" b="b" t="t" l="l"/>
            <a:pathLst>
              <a:path h="443095" w="376734">
                <a:moveTo>
                  <a:pt x="0" y="0"/>
                </a:moveTo>
                <a:lnTo>
                  <a:pt x="376734" y="0"/>
                </a:lnTo>
                <a:lnTo>
                  <a:pt x="376734"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10360" y="3776124"/>
            <a:ext cx="16230600" cy="2734753"/>
          </a:xfrm>
          <a:custGeom>
            <a:avLst/>
            <a:gdLst/>
            <a:ahLst/>
            <a:cxnLst/>
            <a:rect r="r" b="b" t="t" l="l"/>
            <a:pathLst>
              <a:path h="2734753" w="16230600">
                <a:moveTo>
                  <a:pt x="0" y="0"/>
                </a:moveTo>
                <a:lnTo>
                  <a:pt x="16230600" y="0"/>
                </a:lnTo>
                <a:lnTo>
                  <a:pt x="16230600" y="2734752"/>
                </a:lnTo>
                <a:lnTo>
                  <a:pt x="0" y="2734752"/>
                </a:lnTo>
                <a:lnTo>
                  <a:pt x="0" y="0"/>
                </a:lnTo>
                <a:close/>
              </a:path>
            </a:pathLst>
          </a:custGeom>
          <a:blipFill>
            <a:blip r:embed="rId6"/>
            <a:stretch>
              <a:fillRect l="0" t="0" r="-2117" b="0"/>
            </a:stretch>
          </a:blipFill>
        </p:spPr>
      </p:sp>
      <p:sp>
        <p:nvSpPr>
          <p:cNvPr name="TextBox 10" id="10"/>
          <p:cNvSpPr txBox="true"/>
          <p:nvPr/>
        </p:nvSpPr>
        <p:spPr>
          <a:xfrm rot="0">
            <a:off x="1217182" y="1853962"/>
            <a:ext cx="391649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Vue d'ensemble des KPI</a:t>
            </a:r>
          </a:p>
        </p:txBody>
      </p:sp>
      <p:sp>
        <p:nvSpPr>
          <p:cNvPr name="Freeform 11" id="11"/>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98424" y="2609603"/>
            <a:ext cx="13091152" cy="5907382"/>
          </a:xfrm>
          <a:custGeom>
            <a:avLst/>
            <a:gdLst/>
            <a:ahLst/>
            <a:cxnLst/>
            <a:rect r="r" b="b" t="t" l="l"/>
            <a:pathLst>
              <a:path h="5907382" w="13091152">
                <a:moveTo>
                  <a:pt x="0" y="0"/>
                </a:moveTo>
                <a:lnTo>
                  <a:pt x="13091152" y="0"/>
                </a:lnTo>
                <a:lnTo>
                  <a:pt x="13091152" y="5907383"/>
                </a:lnTo>
                <a:lnTo>
                  <a:pt x="0" y="5907383"/>
                </a:lnTo>
                <a:lnTo>
                  <a:pt x="0" y="0"/>
                </a:lnTo>
                <a:close/>
              </a:path>
            </a:pathLst>
          </a:custGeom>
          <a:blipFill>
            <a:blip r:embed="rId4"/>
            <a:stretch>
              <a:fillRect l="0" t="0" r="0" b="0"/>
            </a:stretch>
          </a:blipFill>
        </p:spPr>
      </p:sp>
      <p:sp>
        <p:nvSpPr>
          <p:cNvPr name="TextBox 5" id="5"/>
          <p:cNvSpPr txBox="true"/>
          <p:nvPr/>
        </p:nvSpPr>
        <p:spPr>
          <a:xfrm rot="0">
            <a:off x="1600338" y="9174480"/>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sp>
        <p:nvSpPr>
          <p:cNvPr name="TextBox 6" id="6"/>
          <p:cNvSpPr txBox="true"/>
          <p:nvPr/>
        </p:nvSpPr>
        <p:spPr>
          <a:xfrm rot="0">
            <a:off x="1209418" y="1855470"/>
            <a:ext cx="694257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Tableau récapitulatif des KPI — 2023 vs 2024</a:t>
            </a:r>
          </a:p>
        </p:txBody>
      </p:sp>
      <p:sp>
        <p:nvSpPr>
          <p:cNvPr name="TextBox 7" id="7"/>
          <p:cNvSpPr txBox="true"/>
          <p:nvPr/>
        </p:nvSpPr>
        <p:spPr>
          <a:xfrm rot="0">
            <a:off x="1600338" y="1064383"/>
            <a:ext cx="3913147" cy="325753"/>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sp>
        <p:nvSpPr>
          <p:cNvPr name="Freeform 8" id="8"/>
          <p:cNvSpPr/>
          <p:nvPr/>
        </p:nvSpPr>
        <p:spPr>
          <a:xfrm flipH="false" flipV="false" rot="0">
            <a:off x="17098137" y="8959667"/>
            <a:ext cx="322326" cy="440045"/>
          </a:xfrm>
          <a:custGeom>
            <a:avLst/>
            <a:gdLst/>
            <a:ahLst/>
            <a:cxnLst/>
            <a:rect r="r" b="b" t="t" l="l"/>
            <a:pathLst>
              <a:path h="440045" w="322326">
                <a:moveTo>
                  <a:pt x="0" y="0"/>
                </a:moveTo>
                <a:lnTo>
                  <a:pt x="322326" y="0"/>
                </a:lnTo>
                <a:lnTo>
                  <a:pt x="322326" y="440046"/>
                </a:lnTo>
                <a:lnTo>
                  <a:pt x="0" y="4400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54736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04</a:t>
            </a:r>
          </a:p>
        </p:txBody>
      </p:sp>
      <p:grpSp>
        <p:nvGrpSpPr>
          <p:cNvPr name="Group 9" id="9"/>
          <p:cNvGrpSpPr/>
          <p:nvPr/>
        </p:nvGrpSpPr>
        <p:grpSpPr>
          <a:xfrm rot="0">
            <a:off x="5387898" y="4650105"/>
            <a:ext cx="7512204" cy="1238885"/>
            <a:chOff x="0" y="0"/>
            <a:chExt cx="10016272" cy="1651847"/>
          </a:xfrm>
        </p:grpSpPr>
        <p:sp>
          <p:nvSpPr>
            <p:cNvPr name="TextBox 10" id="10"/>
            <p:cNvSpPr txBox="true"/>
            <p:nvPr/>
          </p:nvSpPr>
          <p:spPr>
            <a:xfrm rot="0">
              <a:off x="0" y="171450"/>
              <a:ext cx="10016272"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Analy</a:t>
              </a:r>
              <a:r>
                <a:rPr lang="en-US" b="true" sz="6500" spc="-318">
                  <a:solidFill>
                    <a:srgbClr val="FFFFFF"/>
                  </a:solidFill>
                  <a:latin typeface="Arial Bold"/>
                  <a:ea typeface="Arial Bold"/>
                  <a:cs typeface="Arial Bold"/>
                  <a:sym typeface="Arial Bold"/>
                </a:rPr>
                <a:t>se Exploratoire</a:t>
              </a:r>
            </a:p>
          </p:txBody>
        </p:sp>
        <p:sp>
          <p:nvSpPr>
            <p:cNvPr name="TextBox 11" id="11"/>
            <p:cNvSpPr txBox="true"/>
            <p:nvPr/>
          </p:nvSpPr>
          <p:spPr>
            <a:xfrm rot="0">
              <a:off x="2553613" y="1268096"/>
              <a:ext cx="4909046"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Marques, catégories, villes, saisonnalité</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63905" y="2377426"/>
            <a:ext cx="4159085" cy="6027448"/>
          </a:xfrm>
          <a:custGeom>
            <a:avLst/>
            <a:gdLst/>
            <a:ahLst/>
            <a:cxnLst/>
            <a:rect r="r" b="b" t="t" l="l"/>
            <a:pathLst>
              <a:path h="6027448" w="4159085">
                <a:moveTo>
                  <a:pt x="0" y="0"/>
                </a:moveTo>
                <a:lnTo>
                  <a:pt x="4159084" y="0"/>
                </a:lnTo>
                <a:lnTo>
                  <a:pt x="4159084" y="6027448"/>
                </a:lnTo>
                <a:lnTo>
                  <a:pt x="0" y="6027448"/>
                </a:lnTo>
                <a:lnTo>
                  <a:pt x="0" y="0"/>
                </a:lnTo>
                <a:close/>
              </a:path>
            </a:pathLst>
          </a:custGeom>
          <a:blipFill>
            <a:blip r:embed="rId2"/>
            <a:stretch>
              <a:fillRect l="0" t="0" r="0" b="-1132"/>
            </a:stretch>
          </a:blipFill>
        </p:spPr>
      </p:sp>
      <p:grpSp>
        <p:nvGrpSpPr>
          <p:cNvPr name="Group 3" id="3"/>
          <p:cNvGrpSpPr/>
          <p:nvPr/>
        </p:nvGrpSpPr>
        <p:grpSpPr>
          <a:xfrm rot="0">
            <a:off x="1028700" y="9077582"/>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877813"/>
            <a:ext cx="4507921" cy="361435"/>
            <a:chOff x="0" y="0"/>
            <a:chExt cx="601056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93032"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9" id="9"/>
          <p:cNvSpPr/>
          <p:nvPr/>
        </p:nvSpPr>
        <p:spPr>
          <a:xfrm flipH="false" flipV="false" rot="0">
            <a:off x="17096832" y="8995922"/>
            <a:ext cx="324936" cy="443095"/>
          </a:xfrm>
          <a:custGeom>
            <a:avLst/>
            <a:gdLst/>
            <a:ahLst/>
            <a:cxnLst/>
            <a:rect r="r" b="b" t="t" l="l"/>
            <a:pathLst>
              <a:path h="443095" w="324936">
                <a:moveTo>
                  <a:pt x="0" y="0"/>
                </a:moveTo>
                <a:lnTo>
                  <a:pt x="324936" y="0"/>
                </a:lnTo>
                <a:lnTo>
                  <a:pt x="324936" y="443096"/>
                </a:lnTo>
                <a:lnTo>
                  <a:pt x="0" y="4430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028700" y="3436011"/>
            <a:ext cx="7154448" cy="3980356"/>
          </a:xfrm>
          <a:custGeom>
            <a:avLst/>
            <a:gdLst/>
            <a:ahLst/>
            <a:cxnLst/>
            <a:rect r="r" b="b" t="t" l="l"/>
            <a:pathLst>
              <a:path h="3980356" w="7154448">
                <a:moveTo>
                  <a:pt x="0" y="0"/>
                </a:moveTo>
                <a:lnTo>
                  <a:pt x="7154448" y="0"/>
                </a:lnTo>
                <a:lnTo>
                  <a:pt x="7154448" y="3980357"/>
                </a:lnTo>
                <a:lnTo>
                  <a:pt x="0" y="3980357"/>
                </a:lnTo>
                <a:lnTo>
                  <a:pt x="0" y="0"/>
                </a:lnTo>
                <a:close/>
              </a:path>
            </a:pathLst>
          </a:custGeom>
          <a:blipFill>
            <a:blip r:embed="rId9"/>
            <a:stretch>
              <a:fillRect l="0" t="0" r="-242" b="0"/>
            </a:stretch>
          </a:blipFill>
        </p:spPr>
      </p:sp>
      <p:sp>
        <p:nvSpPr>
          <p:cNvPr name="TextBox 12" id="12"/>
          <p:cNvSpPr txBox="true"/>
          <p:nvPr/>
        </p:nvSpPr>
        <p:spPr>
          <a:xfrm rot="0">
            <a:off x="1146524" y="1756135"/>
            <a:ext cx="7237302"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Saisonnalité mensuelle  &amp; CA 2023 vs CA 2024</a:t>
            </a:r>
          </a:p>
        </p:txBody>
      </p:sp>
      <p:sp>
        <p:nvSpPr>
          <p:cNvPr name="TextBox 13" id="13"/>
          <p:cNvSpPr txBox="true"/>
          <p:nvPr/>
        </p:nvSpPr>
        <p:spPr>
          <a:xfrm rot="0">
            <a:off x="11972045" y="2329801"/>
            <a:ext cx="5449724" cy="5924550"/>
          </a:xfrm>
          <a:prstGeom prst="rect">
            <a:avLst/>
          </a:prstGeom>
        </p:spPr>
        <p:txBody>
          <a:bodyPr anchor="t" rtlCol="false" tIns="0" lIns="0" bIns="0" rIns="0">
            <a:spAutoFit/>
          </a:bodyPr>
          <a:lstStyle/>
          <a:p>
            <a:pPr algn="l">
              <a:lnSpc>
                <a:spcPts val="2239"/>
              </a:lnSpc>
            </a:pPr>
            <a:r>
              <a:rPr lang="en-US" b="true" sz="1599" spc="-78" u="sng">
                <a:solidFill>
                  <a:srgbClr val="000000"/>
                </a:solidFill>
                <a:latin typeface="Arial Bold"/>
                <a:ea typeface="Arial Bold"/>
                <a:cs typeface="Arial Bold"/>
                <a:sym typeface="Arial Bold"/>
              </a:rPr>
              <a:t>Principaux constats :</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CA 2024 atteint 15,7 K€, contre 7,8 K€ en 2023, soit une croissance de +101 %.</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performances 2024 s</a:t>
            </a:r>
            <a:r>
              <a:rPr lang="en-US" sz="1400" spc="-68">
                <a:solidFill>
                  <a:srgbClr val="000000"/>
                </a:solidFill>
                <a:latin typeface="Arial"/>
                <a:ea typeface="Arial"/>
                <a:cs typeface="Arial"/>
                <a:sym typeface="Arial"/>
              </a:rPr>
              <a:t>ont supérieures à celles de</a:t>
            </a:r>
            <a:r>
              <a:rPr lang="en-US" sz="1400" spc="-68">
                <a:solidFill>
                  <a:srgbClr val="000000"/>
                </a:solidFill>
                <a:latin typeface="Arial"/>
                <a:ea typeface="Arial"/>
                <a:cs typeface="Arial"/>
                <a:sym typeface="Arial"/>
              </a:rPr>
              <a:t> 2023 sur tous l</a:t>
            </a:r>
            <a:r>
              <a:rPr lang="en-US" sz="1400" spc="-68">
                <a:solidFill>
                  <a:srgbClr val="000000"/>
                </a:solidFill>
                <a:latin typeface="Arial"/>
                <a:ea typeface="Arial"/>
                <a:cs typeface="Arial"/>
                <a:sym typeface="Arial"/>
              </a:rPr>
              <a:t>es mois de l'année.</a:t>
            </a:r>
          </a:p>
          <a:p>
            <a:pPr algn="l" marL="302261" indent="-151130" lvl="1">
              <a:lnSpc>
                <a:spcPts val="1960"/>
              </a:lnSpc>
              <a:buFont typeface="Arial"/>
              <a:buChar char="•"/>
            </a:pPr>
            <a:r>
              <a:rPr lang="en-US" sz="1400" spc="-68">
                <a:solidFill>
                  <a:srgbClr val="000000"/>
                </a:solidFill>
                <a:latin typeface="Arial"/>
                <a:ea typeface="Arial"/>
                <a:cs typeface="Arial"/>
                <a:sym typeface="Arial"/>
              </a:rPr>
              <a:t> La croissance s'accélère au second semestre, avec</a:t>
            </a:r>
            <a:r>
              <a:rPr lang="en-US" sz="1400" spc="-68">
                <a:solidFill>
                  <a:srgbClr val="000000"/>
                </a:solidFill>
                <a:latin typeface="Arial"/>
                <a:ea typeface="Arial"/>
                <a:cs typeface="Arial"/>
                <a:sym typeface="Arial"/>
              </a:rPr>
              <a:t> une forte dynamique entre août </a:t>
            </a:r>
            <a:r>
              <a:rPr lang="en-US" sz="1400" spc="-68">
                <a:solidFill>
                  <a:srgbClr val="000000"/>
                </a:solidFill>
                <a:latin typeface="Arial"/>
                <a:ea typeface="Arial"/>
                <a:cs typeface="Arial"/>
                <a:sym typeface="Arial"/>
              </a:rPr>
              <a:t>et décembre.</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Insights clés:</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second semestre 2024 est le principal moteur de croissance, avec un pic de ventes en octobre (+87 % vs octobre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 Malgré quelques ralentissements en février et juillet, le niveau d'activité 2024 reste supérieur à celui de 2023.</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Renforcer les campagnes marketing dès T3</a:t>
            </a:r>
          </a:p>
          <a:p>
            <a:pPr algn="l" marL="302261" indent="-151130" lvl="1">
              <a:lnSpc>
                <a:spcPts val="1960"/>
              </a:lnSpc>
              <a:buFont typeface="Arial"/>
              <a:buChar char="•"/>
            </a:pPr>
            <a:r>
              <a:rPr lang="en-US" sz="1400" spc="-68">
                <a:solidFill>
                  <a:srgbClr val="000000"/>
                </a:solidFill>
                <a:latin typeface="Arial"/>
                <a:ea typeface="Arial"/>
                <a:cs typeface="Arial"/>
                <a:sym typeface="Arial"/>
              </a:rPr>
              <a:t>Anticiper les stocks sur les périodes à forte demande, notamment au Trimestre 4</a:t>
            </a:r>
          </a:p>
          <a:p>
            <a:pPr algn="l" marL="302261" indent="-151130" lvl="1">
              <a:lnSpc>
                <a:spcPts val="1960"/>
              </a:lnSpc>
              <a:buFont typeface="Arial"/>
              <a:buChar char="•"/>
            </a:pPr>
            <a:r>
              <a:rPr lang="en-US" sz="1400" spc="-68">
                <a:solidFill>
                  <a:srgbClr val="000000"/>
                </a:solidFill>
                <a:latin typeface="Arial"/>
                <a:ea typeface="Arial"/>
                <a:cs typeface="Arial"/>
                <a:sym typeface="Arial"/>
              </a:rPr>
              <a:t>Analyser les leviers ayant contribué à la performance d'octobre 2024 (produits, promotions, catégories, marques) afin de les reproduire sur d'autres périodes.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9418" y="2580252"/>
            <a:ext cx="6362959" cy="3825729"/>
          </a:xfrm>
          <a:custGeom>
            <a:avLst/>
            <a:gdLst/>
            <a:ahLst/>
            <a:cxnLst/>
            <a:rect r="r" b="b" t="t" l="l"/>
            <a:pathLst>
              <a:path h="3825729" w="6362959">
                <a:moveTo>
                  <a:pt x="0" y="0"/>
                </a:moveTo>
                <a:lnTo>
                  <a:pt x="6362958" y="0"/>
                </a:lnTo>
                <a:lnTo>
                  <a:pt x="6362958" y="3825728"/>
                </a:lnTo>
                <a:lnTo>
                  <a:pt x="0" y="3825728"/>
                </a:lnTo>
                <a:lnTo>
                  <a:pt x="0" y="0"/>
                </a:lnTo>
                <a:close/>
              </a:path>
            </a:pathLst>
          </a:custGeom>
          <a:blipFill>
            <a:blip r:embed="rId2"/>
            <a:stretch>
              <a:fillRect l="0" t="0" r="0" b="0"/>
            </a:stretch>
          </a:blipFill>
        </p:spPr>
      </p:sp>
      <p:sp>
        <p:nvSpPr>
          <p:cNvPr name="Freeform 3" id="3"/>
          <p:cNvSpPr/>
          <p:nvPr/>
        </p:nvSpPr>
        <p:spPr>
          <a:xfrm flipH="false" flipV="false" rot="0">
            <a:off x="9025013" y="2490114"/>
            <a:ext cx="7062764" cy="3915866"/>
          </a:xfrm>
          <a:custGeom>
            <a:avLst/>
            <a:gdLst/>
            <a:ahLst/>
            <a:cxnLst/>
            <a:rect r="r" b="b" t="t" l="l"/>
            <a:pathLst>
              <a:path h="3915866" w="7062764">
                <a:moveTo>
                  <a:pt x="0" y="0"/>
                </a:moveTo>
                <a:lnTo>
                  <a:pt x="7062764" y="0"/>
                </a:lnTo>
                <a:lnTo>
                  <a:pt x="7062764" y="3915866"/>
                </a:lnTo>
                <a:lnTo>
                  <a:pt x="0" y="3915866"/>
                </a:lnTo>
                <a:lnTo>
                  <a:pt x="0" y="0"/>
                </a:lnTo>
                <a:close/>
              </a:path>
            </a:pathLst>
          </a:custGeom>
          <a:blipFill>
            <a:blip r:embed="rId3"/>
            <a:stretch>
              <a:fillRect l="0" t="0" r="-350" b="0"/>
            </a:stretch>
          </a:blipFill>
        </p:spPr>
      </p:sp>
      <p:grpSp>
        <p:nvGrpSpPr>
          <p:cNvPr name="Group 4" id="4"/>
          <p:cNvGrpSpPr/>
          <p:nvPr/>
        </p:nvGrpSpPr>
        <p:grpSpPr>
          <a:xfrm rot="0">
            <a:off x="6986947" y="2472398"/>
            <a:ext cx="585429" cy="248130"/>
            <a:chOff x="0" y="0"/>
            <a:chExt cx="154187" cy="65351"/>
          </a:xfrm>
        </p:grpSpPr>
        <p:sp>
          <p:nvSpPr>
            <p:cNvPr name="Freeform 5" id="5"/>
            <p:cNvSpPr/>
            <p:nvPr/>
          </p:nvSpPr>
          <p:spPr>
            <a:xfrm flipH="false" flipV="false" rot="0">
              <a:off x="0" y="0"/>
              <a:ext cx="154187" cy="65351"/>
            </a:xfrm>
            <a:custGeom>
              <a:avLst/>
              <a:gdLst/>
              <a:ahLst/>
              <a:cxnLst/>
              <a:rect r="r" b="b" t="t" l="l"/>
              <a:pathLst>
                <a:path h="65351" w="154187">
                  <a:moveTo>
                    <a:pt x="0" y="0"/>
                  </a:moveTo>
                  <a:lnTo>
                    <a:pt x="154187" y="0"/>
                  </a:lnTo>
                  <a:lnTo>
                    <a:pt x="154187" y="65351"/>
                  </a:lnTo>
                  <a:lnTo>
                    <a:pt x="0" y="65351"/>
                  </a:lnTo>
                  <a:close/>
                </a:path>
              </a:pathLst>
            </a:custGeom>
            <a:solidFill>
              <a:srgbClr val="FFFFFF"/>
            </a:solidFill>
          </p:spPr>
        </p:sp>
        <p:sp>
          <p:nvSpPr>
            <p:cNvPr name="TextBox 6" id="6"/>
            <p:cNvSpPr txBox="true"/>
            <p:nvPr/>
          </p:nvSpPr>
          <p:spPr>
            <a:xfrm>
              <a:off x="0" y="28575"/>
              <a:ext cx="154187" cy="36776"/>
            </a:xfrm>
            <a:prstGeom prst="rect">
              <a:avLst/>
            </a:prstGeom>
          </p:spPr>
          <p:txBody>
            <a:bodyPr anchor="ctr" rtlCol="false" tIns="50800" lIns="50800" bIns="50800" rIns="50800"/>
            <a:lstStyle/>
            <a:p>
              <a:pPr algn="ctr">
                <a:lnSpc>
                  <a:spcPts val="1305"/>
                </a:lnSpc>
              </a:pPr>
            </a:p>
          </p:txBody>
        </p:sp>
      </p:grpSp>
      <p:grpSp>
        <p:nvGrpSpPr>
          <p:cNvPr name="Group 7" id="7"/>
          <p:cNvGrpSpPr/>
          <p:nvPr/>
        </p:nvGrpSpPr>
        <p:grpSpPr>
          <a:xfrm rot="0">
            <a:off x="1028700" y="9081243"/>
            <a:ext cx="3099781" cy="361435"/>
            <a:chOff x="0" y="0"/>
            <a:chExt cx="4133041" cy="481914"/>
          </a:xfrm>
        </p:grpSpPr>
        <p:sp>
          <p:nvSpPr>
            <p:cNvPr name="Freeform 8" id="8"/>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62184" y="114790"/>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10" id="10"/>
          <p:cNvGrpSpPr/>
          <p:nvPr/>
        </p:nvGrpSpPr>
        <p:grpSpPr>
          <a:xfrm rot="0">
            <a:off x="1028700" y="1028700"/>
            <a:ext cx="4484785" cy="361435"/>
            <a:chOff x="0" y="0"/>
            <a:chExt cx="5979713" cy="481914"/>
          </a:xfrm>
        </p:grpSpPr>
        <p:sp>
          <p:nvSpPr>
            <p:cNvPr name="Freeform 11" id="11"/>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13" id="13"/>
          <p:cNvSpPr txBox="true"/>
          <p:nvPr/>
        </p:nvSpPr>
        <p:spPr>
          <a:xfrm rot="0">
            <a:off x="1209418" y="1840794"/>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Top marques &amp; Catégories par CA</a:t>
            </a:r>
          </a:p>
        </p:txBody>
      </p:sp>
      <p:sp>
        <p:nvSpPr>
          <p:cNvPr name="TextBox 14" id="14"/>
          <p:cNvSpPr txBox="true"/>
          <p:nvPr/>
        </p:nvSpPr>
        <p:spPr>
          <a:xfrm rot="0">
            <a:off x="1600338" y="6673825"/>
            <a:ext cx="6899773" cy="20478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Principales constats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 CA 3 148 € + marg</a:t>
            </a:r>
            <a:r>
              <a:rPr lang="en-US" sz="1400" spc="-68">
                <a:solidFill>
                  <a:srgbClr val="000000"/>
                </a:solidFill>
                <a:latin typeface="Arial"/>
                <a:ea typeface="Arial"/>
                <a:cs typeface="Arial"/>
                <a:sym typeface="Arial"/>
              </a:rPr>
              <a:t>e 55,2% = c</a:t>
            </a:r>
            <a:r>
              <a:rPr lang="en-US" sz="1400" spc="-68">
                <a:solidFill>
                  <a:srgbClr val="000000"/>
                </a:solidFill>
                <a:latin typeface="Arial"/>
                <a:ea typeface="Arial"/>
                <a:cs typeface="Arial"/>
                <a:sym typeface="Arial"/>
              </a:rPr>
              <a:t>atégorie champion</a:t>
            </a:r>
          </a:p>
          <a:p>
            <a:pPr algn="l" marL="302261" indent="-151130" lvl="1">
              <a:lnSpc>
                <a:spcPts val="1960"/>
              </a:lnSpc>
              <a:buFont typeface="Arial"/>
              <a:buChar char="•"/>
            </a:pPr>
            <a:r>
              <a:rPr lang="en-US" sz="1400" spc="-68">
                <a:solidFill>
                  <a:srgbClr val="000000"/>
                </a:solidFill>
                <a:latin typeface="Arial"/>
                <a:ea typeface="Arial"/>
                <a:cs typeface="Arial"/>
                <a:sym typeface="Arial"/>
              </a:rPr>
              <a:t>Intimates : CA 2 259 € (2e) avec fort volume (72 lignes Complete)</a:t>
            </a:r>
          </a:p>
          <a:p>
            <a:pPr algn="l" marL="302261" indent="-151130" lvl="1">
              <a:lnSpc>
                <a:spcPts val="1960"/>
              </a:lnSpc>
              <a:buFont typeface="Arial"/>
              <a:buChar char="•"/>
            </a:pPr>
            <a:r>
              <a:rPr lang="en-US" sz="1400" spc="-68">
                <a:solidFill>
                  <a:srgbClr val="000000"/>
                </a:solidFill>
                <a:latin typeface="Arial"/>
                <a:ea typeface="Arial"/>
                <a:cs typeface="Arial"/>
                <a:sym typeface="Arial"/>
              </a:rPr>
              <a:t>The North Face : 1 211 € de CA — marque dominante</a:t>
            </a:r>
          </a:p>
          <a:p>
            <a:pPr algn="l" marL="302261" indent="-151130" lvl="1">
              <a:lnSpc>
                <a:spcPts val="1960"/>
              </a:lnSpc>
              <a:buFont typeface="Arial"/>
              <a:buChar char="•"/>
            </a:pPr>
            <a:r>
              <a:rPr lang="en-US" sz="1400" spc="-68">
                <a:solidFill>
                  <a:srgbClr val="000000"/>
                </a:solidFill>
                <a:latin typeface="Arial"/>
                <a:ea typeface="Arial"/>
                <a:cs typeface="Arial"/>
                <a:sym typeface="Arial"/>
              </a:rPr>
              <a:t>Arc'teryx + PAIGE = 35% du CA marques Top 10</a:t>
            </a:r>
          </a:p>
          <a:p>
            <a:pPr algn="l" marL="302261" indent="-151130" lvl="1">
              <a:lnSpc>
                <a:spcPts val="1960"/>
              </a:lnSpc>
              <a:buFont typeface="Arial"/>
              <a:buChar char="•"/>
            </a:pPr>
            <a:r>
              <a:rPr lang="en-US" sz="1400" spc="-68">
                <a:solidFill>
                  <a:srgbClr val="000000"/>
                </a:solidFill>
                <a:latin typeface="Arial"/>
                <a:ea typeface="Arial"/>
                <a:cs typeface="Arial"/>
                <a:sym typeface="Arial"/>
              </a:rPr>
              <a:t>Blazers &amp; Jackets : taux de marge 61,8% mais faible CA — potentiel sous-exploité</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Swim : meilleur taux de marge (59,1%) — à développer campagne été</a:t>
            </a:r>
          </a:p>
        </p:txBody>
      </p:sp>
      <p:sp>
        <p:nvSpPr>
          <p:cNvPr name="TextBox 15" id="15"/>
          <p:cNvSpPr txBox="true"/>
          <p:nvPr/>
        </p:nvSpPr>
        <p:spPr>
          <a:xfrm rot="0">
            <a:off x="9291195" y="6686710"/>
            <a:ext cx="6682139" cy="23526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Insight clé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cumule fort CA ET forte marge : priorité absolue pour les investissements marketing.</a:t>
            </a:r>
          </a:p>
          <a:p>
            <a:pPr algn="l">
              <a:lnSpc>
                <a:spcPts val="1960"/>
              </a:lnSpc>
            </a:pPr>
          </a:p>
          <a:p>
            <a:pPr algn="just">
              <a:lnSpc>
                <a:spcPts val="2239"/>
              </a:lnSpc>
            </a:pPr>
            <a:r>
              <a:rPr lang="en-US" b="true" sz="1599" spc="-78" u="sng">
                <a:solidFill>
                  <a:srgbClr val="000000"/>
                </a:solidFill>
                <a:latin typeface="Arial Bold"/>
                <a:ea typeface="Arial Bold"/>
                <a:cs typeface="Arial Bold"/>
                <a:sym typeface="Arial Bold"/>
              </a:rPr>
              <a:t>Recommandations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Concentrer le budget acquisition sur Outerwear, Swim et Accessories. </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Développer Blazers &amp; Jackets (forte marge, faible CA = visibilité insuffisante)</a:t>
            </a:r>
            <a:r>
              <a:rPr lang="en-US" b="true" sz="1400" spc="-68" u="sng">
                <a:solidFill>
                  <a:srgbClr val="000000"/>
                </a:solidFill>
                <a:latin typeface="Arial Bold"/>
                <a:ea typeface="Arial Bold"/>
                <a:cs typeface="Arial Bold"/>
                <a:sym typeface="Arial Bold"/>
              </a:rPr>
              <a:t>.</a:t>
            </a:r>
          </a:p>
        </p:txBody>
      </p:sp>
      <p:sp>
        <p:nvSpPr>
          <p:cNvPr name="Freeform 16" id="16"/>
          <p:cNvSpPr/>
          <p:nvPr/>
        </p:nvSpPr>
        <p:spPr>
          <a:xfrm flipH="false" flipV="false" rot="0">
            <a:off x="17115420" y="9016755"/>
            <a:ext cx="287760" cy="402265"/>
          </a:xfrm>
          <a:custGeom>
            <a:avLst/>
            <a:gdLst/>
            <a:ahLst/>
            <a:cxnLst/>
            <a:rect r="r" b="b" t="t" l="l"/>
            <a:pathLst>
              <a:path h="402265" w="287760">
                <a:moveTo>
                  <a:pt x="0" y="0"/>
                </a:moveTo>
                <a:lnTo>
                  <a:pt x="287760" y="0"/>
                </a:lnTo>
                <a:lnTo>
                  <a:pt x="287760" y="402265"/>
                </a:lnTo>
                <a:lnTo>
                  <a:pt x="0" y="4022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79640" y="1732524"/>
            <a:ext cx="5941264" cy="3628217"/>
          </a:xfrm>
          <a:custGeom>
            <a:avLst/>
            <a:gdLst/>
            <a:ahLst/>
            <a:cxnLst/>
            <a:rect r="r" b="b" t="t" l="l"/>
            <a:pathLst>
              <a:path h="3628217" w="5941264">
                <a:moveTo>
                  <a:pt x="0" y="0"/>
                </a:moveTo>
                <a:lnTo>
                  <a:pt x="5941263" y="0"/>
                </a:lnTo>
                <a:lnTo>
                  <a:pt x="5941263" y="3628217"/>
                </a:lnTo>
                <a:lnTo>
                  <a:pt x="0" y="3628217"/>
                </a:lnTo>
                <a:lnTo>
                  <a:pt x="0" y="0"/>
                </a:lnTo>
                <a:close/>
              </a:path>
            </a:pathLst>
          </a:custGeom>
          <a:blipFill>
            <a:blip r:embed="rId2"/>
            <a:stretch>
              <a:fillRect l="0" t="-290" r="-3014" b="-29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9" id="9"/>
          <p:cNvSpPr/>
          <p:nvPr/>
        </p:nvSpPr>
        <p:spPr>
          <a:xfrm flipH="false" flipV="false" rot="0">
            <a:off x="1028700" y="4274813"/>
            <a:ext cx="7293078" cy="4339381"/>
          </a:xfrm>
          <a:custGeom>
            <a:avLst/>
            <a:gdLst/>
            <a:ahLst/>
            <a:cxnLst/>
            <a:rect r="r" b="b" t="t" l="l"/>
            <a:pathLst>
              <a:path h="4339381" w="7293078">
                <a:moveTo>
                  <a:pt x="0" y="0"/>
                </a:moveTo>
                <a:lnTo>
                  <a:pt x="7293078" y="0"/>
                </a:lnTo>
                <a:lnTo>
                  <a:pt x="7293078" y="4339382"/>
                </a:lnTo>
                <a:lnTo>
                  <a:pt x="0" y="4339382"/>
                </a:lnTo>
                <a:lnTo>
                  <a:pt x="0" y="0"/>
                </a:lnTo>
                <a:close/>
              </a:path>
            </a:pathLst>
          </a:custGeom>
          <a:blipFill>
            <a:blip r:embed="rId5"/>
            <a:stretch>
              <a:fillRect l="0" t="0" r="0" b="0"/>
            </a:stretch>
          </a:blipFill>
        </p:spPr>
      </p:sp>
      <p:sp>
        <p:nvSpPr>
          <p:cNvPr name="Freeform 10" id="10"/>
          <p:cNvSpPr/>
          <p:nvPr/>
        </p:nvSpPr>
        <p:spPr>
          <a:xfrm flipH="false" flipV="false" rot="0">
            <a:off x="2330541" y="2497572"/>
            <a:ext cx="1881104" cy="1256999"/>
          </a:xfrm>
          <a:custGeom>
            <a:avLst/>
            <a:gdLst/>
            <a:ahLst/>
            <a:cxnLst/>
            <a:rect r="r" b="b" t="t" l="l"/>
            <a:pathLst>
              <a:path h="1256999" w="1881104">
                <a:moveTo>
                  <a:pt x="0" y="0"/>
                </a:moveTo>
                <a:lnTo>
                  <a:pt x="1881103" y="0"/>
                </a:lnTo>
                <a:lnTo>
                  <a:pt x="1881103" y="1256999"/>
                </a:lnTo>
                <a:lnTo>
                  <a:pt x="0" y="1256999"/>
                </a:lnTo>
                <a:lnTo>
                  <a:pt x="0" y="0"/>
                </a:lnTo>
                <a:close/>
              </a:path>
            </a:pathLst>
          </a:custGeom>
          <a:blipFill>
            <a:blip r:embed="rId6"/>
            <a:stretch>
              <a:fillRect l="0" t="0" r="0" b="0"/>
            </a:stretch>
          </a:blipFill>
        </p:spPr>
      </p:sp>
      <p:sp>
        <p:nvSpPr>
          <p:cNvPr name="Freeform 11" id="11"/>
          <p:cNvSpPr/>
          <p:nvPr/>
        </p:nvSpPr>
        <p:spPr>
          <a:xfrm flipH="false" flipV="false" rot="0">
            <a:off x="4211644" y="2530320"/>
            <a:ext cx="1904598" cy="1191502"/>
          </a:xfrm>
          <a:custGeom>
            <a:avLst/>
            <a:gdLst/>
            <a:ahLst/>
            <a:cxnLst/>
            <a:rect r="r" b="b" t="t" l="l"/>
            <a:pathLst>
              <a:path h="1191502" w="1904598">
                <a:moveTo>
                  <a:pt x="0" y="0"/>
                </a:moveTo>
                <a:lnTo>
                  <a:pt x="1904599" y="0"/>
                </a:lnTo>
                <a:lnTo>
                  <a:pt x="1904599" y="1191502"/>
                </a:lnTo>
                <a:lnTo>
                  <a:pt x="0" y="1191502"/>
                </a:lnTo>
                <a:lnTo>
                  <a:pt x="0" y="0"/>
                </a:lnTo>
                <a:close/>
              </a:path>
            </a:pathLst>
          </a:custGeom>
          <a:blipFill>
            <a:blip r:embed="rId7"/>
            <a:stretch>
              <a:fillRect l="0" t="0" r="0" b="0"/>
            </a:stretch>
          </a:blipFill>
        </p:spPr>
      </p:sp>
      <p:sp>
        <p:nvSpPr>
          <p:cNvPr name="TextBox 12" id="12"/>
          <p:cNvSpPr txBox="true"/>
          <p:nvPr/>
        </p:nvSpPr>
        <p:spPr>
          <a:xfrm rot="0">
            <a:off x="1166502" y="1799199"/>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Taux de retour </a:t>
            </a:r>
          </a:p>
        </p:txBody>
      </p:sp>
      <p:sp>
        <p:nvSpPr>
          <p:cNvPr name="TextBox 13" id="13"/>
          <p:cNvSpPr txBox="true"/>
          <p:nvPr/>
        </p:nvSpPr>
        <p:spPr>
          <a:xfrm rot="0">
            <a:off x="8979640" y="5533154"/>
            <a:ext cx="7913048" cy="3410513"/>
          </a:xfrm>
          <a:prstGeom prst="rect">
            <a:avLst/>
          </a:prstGeom>
        </p:spPr>
        <p:txBody>
          <a:bodyPr anchor="t" rtlCol="false" tIns="0" lIns="0" bIns="0" rIns="0">
            <a:spAutoFit/>
          </a:bodyPr>
          <a:lstStyle/>
          <a:p>
            <a:pPr algn="just">
              <a:lnSpc>
                <a:spcPts val="1683"/>
              </a:lnSpc>
              <a:spcBef>
                <a:spcPct val="0"/>
              </a:spcBef>
            </a:pPr>
            <a:r>
              <a:rPr lang="en-US" b="true" sz="1202" spc="-58" u="sng">
                <a:solidFill>
                  <a:srgbClr val="000000"/>
                </a:solidFill>
                <a:latin typeface="Arial Bold"/>
                <a:ea typeface="Arial Bold"/>
                <a:cs typeface="Arial Bold"/>
                <a:sym typeface="Arial Bold"/>
              </a:rPr>
              <a:t>Principaux constats :</a:t>
            </a:r>
          </a:p>
          <a:p>
            <a:pPr algn="just">
              <a:lnSpc>
                <a:spcPts val="1609"/>
              </a:lnSpc>
              <a:spcBef>
                <a:spcPct val="0"/>
              </a:spcBef>
            </a:pPr>
          </a:p>
          <a:p>
            <a:pPr algn="l" marL="227215" indent="-113607" lvl="1">
              <a:lnSpc>
                <a:spcPts val="1473"/>
              </a:lnSpc>
              <a:buFont typeface="Arial"/>
              <a:buChar char="•"/>
            </a:pPr>
            <a:r>
              <a:rPr lang="en-US" sz="1052" spc="-51">
                <a:solidFill>
                  <a:srgbClr val="000000"/>
                </a:solidFill>
                <a:latin typeface="Arial"/>
                <a:ea typeface="Arial"/>
                <a:cs typeface="Arial"/>
                <a:sym typeface="Arial"/>
              </a:rPr>
              <a:t>Clothing Sets : 100% de retours — toutes les lignes sont retournées</a:t>
            </a:r>
          </a:p>
          <a:p>
            <a:pPr algn="l" marL="227215" indent="-113607" lvl="1">
              <a:lnSpc>
                <a:spcPts val="1473"/>
              </a:lnSpc>
              <a:buFont typeface="Arial"/>
              <a:buChar char="•"/>
            </a:pPr>
            <a:r>
              <a:rPr lang="en-US" sz="1052" spc="-51">
                <a:solidFill>
                  <a:srgbClr val="000000"/>
                </a:solidFill>
                <a:latin typeface="Arial"/>
                <a:ea typeface="Arial"/>
                <a:cs typeface="Arial"/>
                <a:sym typeface="Arial"/>
              </a:rPr>
              <a:t>Suits : 60% — taux très élevé révélant des problèmes de coupe</a:t>
            </a:r>
          </a:p>
          <a:p>
            <a:pPr algn="l" marL="227215" indent="-113607" lvl="1">
              <a:lnSpc>
                <a:spcPts val="1473"/>
              </a:lnSpc>
              <a:buFont typeface="Arial"/>
              <a:buChar char="•"/>
            </a:pPr>
            <a:r>
              <a:rPr lang="en-US" sz="1052" spc="-51">
                <a:solidFill>
                  <a:srgbClr val="000000"/>
                </a:solidFill>
                <a:latin typeface="Arial"/>
                <a:ea typeface="Arial"/>
                <a:cs typeface="Arial"/>
                <a:sym typeface="Arial"/>
              </a:rPr>
              <a:t>Blazers &amp; Jackets : 55% — même problématique que Suits</a:t>
            </a:r>
          </a:p>
          <a:p>
            <a:pPr algn="l" marL="227215" indent="-113607" lvl="1">
              <a:lnSpc>
                <a:spcPts val="1473"/>
              </a:lnSpc>
              <a:buFont typeface="Arial"/>
              <a:buChar char="•"/>
            </a:pPr>
            <a:r>
              <a:rPr lang="en-US" sz="1052" spc="-51">
                <a:solidFill>
                  <a:srgbClr val="000000"/>
                </a:solidFill>
                <a:latin typeface="Arial"/>
                <a:ea typeface="Arial"/>
                <a:cs typeface="Arial"/>
                <a:sym typeface="Arial"/>
              </a:rPr>
              <a:t>Tops &amp; Tees : 47,4% — catégorie à surveiller</a:t>
            </a:r>
          </a:p>
          <a:p>
            <a:pPr algn="l" marL="227215" indent="-113607" lvl="1">
              <a:lnSpc>
                <a:spcPts val="1473"/>
              </a:lnSpc>
              <a:buFont typeface="Arial"/>
              <a:buChar char="•"/>
            </a:pPr>
            <a:r>
              <a:rPr lang="en-US" sz="1052" spc="-51">
                <a:solidFill>
                  <a:srgbClr val="000000"/>
                </a:solidFill>
                <a:latin typeface="Arial"/>
                <a:ea typeface="Arial"/>
                <a:cs typeface="Arial"/>
                <a:sym typeface="Arial"/>
              </a:rPr>
              <a:t>Outerwear &amp; Coats : 44% malgré son fort CA (3 148 €)</a:t>
            </a:r>
          </a:p>
          <a:p>
            <a:pPr algn="l" marL="227215" indent="-113607" lvl="1">
              <a:lnSpc>
                <a:spcPts val="1473"/>
              </a:lnSpc>
              <a:buFont typeface="Arial"/>
              <a:buChar char="•"/>
            </a:pPr>
            <a:r>
              <a:rPr lang="en-US" sz="1052" spc="-51">
                <a:solidFill>
                  <a:srgbClr val="000000"/>
                </a:solidFill>
                <a:latin typeface="Arial"/>
                <a:ea typeface="Arial"/>
                <a:cs typeface="Arial"/>
                <a:sym typeface="Arial"/>
              </a:rPr>
              <a:t>Taux global 2024 : 30,42% (vs 37,87% en 2023 : -7,5 pts)</a:t>
            </a:r>
          </a:p>
          <a:p>
            <a:pPr algn="l">
              <a:lnSpc>
                <a:spcPts val="1408"/>
              </a:lnSpc>
            </a:pPr>
          </a:p>
          <a:p>
            <a:pPr algn="just">
              <a:lnSpc>
                <a:spcPts val="1683"/>
              </a:lnSpc>
            </a:pPr>
            <a:r>
              <a:rPr lang="en-US" b="true" sz="1202" spc="-58" u="sng">
                <a:solidFill>
                  <a:srgbClr val="000000"/>
                </a:solidFill>
                <a:latin typeface="Arial Bold"/>
                <a:ea typeface="Arial Bold"/>
                <a:cs typeface="Arial Bold"/>
                <a:sym typeface="Arial Bold"/>
              </a:rPr>
              <a:t>Insights clés:</a:t>
            </a:r>
          </a:p>
          <a:p>
            <a:pPr algn="just">
              <a:lnSpc>
                <a:spcPts val="1408"/>
              </a:lnSpc>
            </a:pPr>
          </a:p>
          <a:p>
            <a:pPr algn="l" marL="227215" indent="-113607" lvl="1">
              <a:lnSpc>
                <a:spcPts val="1473"/>
              </a:lnSpc>
              <a:buFont typeface="Arial"/>
              <a:buChar char="•"/>
            </a:pPr>
            <a:r>
              <a:rPr lang="en-US" sz="1052" spc="-51">
                <a:solidFill>
                  <a:srgbClr val="000000"/>
                </a:solidFill>
                <a:latin typeface="Arial"/>
                <a:ea typeface="Arial"/>
                <a:cs typeface="Arial"/>
                <a:sym typeface="Arial"/>
              </a:rPr>
              <a:t>Les catégories Clothing Sets et Suits doivent être revues en priorité. </a:t>
            </a:r>
          </a:p>
          <a:p>
            <a:pPr algn="l" marL="227215" indent="-113607" lvl="1">
              <a:lnSpc>
                <a:spcPts val="1473"/>
              </a:lnSpc>
              <a:buFont typeface="Arial"/>
              <a:buChar char="•"/>
            </a:pPr>
            <a:r>
              <a:rPr lang="en-US" sz="1052" spc="-51">
                <a:solidFill>
                  <a:srgbClr val="000000"/>
                </a:solidFill>
                <a:latin typeface="Arial"/>
                <a:ea typeface="Arial"/>
                <a:cs typeface="Arial"/>
                <a:sym typeface="Arial"/>
              </a:rPr>
              <a:t>Chaque point de retour en moins = marge directement récupérée.</a:t>
            </a:r>
          </a:p>
          <a:p>
            <a:pPr algn="just">
              <a:lnSpc>
                <a:spcPts val="1408"/>
              </a:lnSpc>
              <a:spcBef>
                <a:spcPct val="0"/>
              </a:spcBef>
            </a:pPr>
          </a:p>
          <a:p>
            <a:pPr algn="just">
              <a:lnSpc>
                <a:spcPts val="1683"/>
              </a:lnSpc>
              <a:spcBef>
                <a:spcPct val="0"/>
              </a:spcBef>
            </a:pPr>
            <a:r>
              <a:rPr lang="en-US" b="true" sz="1202" spc="-58" u="sng">
                <a:solidFill>
                  <a:srgbClr val="000000"/>
                </a:solidFill>
                <a:latin typeface="Arial Bold"/>
                <a:ea typeface="Arial Bold"/>
                <a:cs typeface="Arial Bold"/>
                <a:sym typeface="Arial Bold"/>
              </a:rPr>
              <a:t>Recommandation :</a:t>
            </a:r>
          </a:p>
          <a:p>
            <a:pPr algn="just">
              <a:lnSpc>
                <a:spcPts val="1609"/>
              </a:lnSpc>
              <a:spcBef>
                <a:spcPct val="0"/>
              </a:spcBef>
            </a:pPr>
          </a:p>
          <a:p>
            <a:pPr algn="l" marL="227215" indent="-113607" lvl="1">
              <a:lnSpc>
                <a:spcPts val="1473"/>
              </a:lnSpc>
              <a:buFont typeface="Arial"/>
              <a:buChar char="•"/>
            </a:pPr>
            <a:r>
              <a:rPr lang="en-US" sz="1052" spc="-51">
                <a:solidFill>
                  <a:srgbClr val="000000"/>
                </a:solidFill>
                <a:latin typeface="Arial"/>
                <a:ea typeface="Arial"/>
                <a:cs typeface="Arial"/>
                <a:sym typeface="Arial"/>
              </a:rPr>
              <a:t>Améliorer guides de tailles + photos 360° + descriptions matières. Objectif : -5 pts de taux de retour global en 2025.</a:t>
            </a:r>
          </a:p>
          <a:p>
            <a:pPr algn="just">
              <a:lnSpc>
                <a:spcPts val="1473"/>
              </a:lnSpc>
              <a:spcBef>
                <a:spcPct val="0"/>
              </a:spcBef>
            </a:pPr>
          </a:p>
        </p:txBody>
      </p:sp>
      <p:sp>
        <p:nvSpPr>
          <p:cNvPr name="Freeform 14" id="14"/>
          <p:cNvSpPr/>
          <p:nvPr/>
        </p:nvSpPr>
        <p:spPr>
          <a:xfrm flipH="false" flipV="false" rot="0">
            <a:off x="17108048" y="9057167"/>
            <a:ext cx="302503" cy="402265"/>
          </a:xfrm>
          <a:custGeom>
            <a:avLst/>
            <a:gdLst/>
            <a:ahLst/>
            <a:cxnLst/>
            <a:rect r="r" b="b" t="t" l="l"/>
            <a:pathLst>
              <a:path h="402265" w="302503">
                <a:moveTo>
                  <a:pt x="0" y="0"/>
                </a:moveTo>
                <a:lnTo>
                  <a:pt x="302504" y="0"/>
                </a:lnTo>
                <a:lnTo>
                  <a:pt x="302504" y="402266"/>
                </a:lnTo>
                <a:lnTo>
                  <a:pt x="0" y="4022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78590" y="2294925"/>
            <a:ext cx="4837565" cy="1929379"/>
          </a:xfrm>
          <a:custGeom>
            <a:avLst/>
            <a:gdLst/>
            <a:ahLst/>
            <a:cxnLst/>
            <a:rect r="r" b="b" t="t" l="l"/>
            <a:pathLst>
              <a:path h="1929379" w="4837565">
                <a:moveTo>
                  <a:pt x="0" y="0"/>
                </a:moveTo>
                <a:lnTo>
                  <a:pt x="4837566" y="0"/>
                </a:lnTo>
                <a:lnTo>
                  <a:pt x="4837566" y="1929379"/>
                </a:lnTo>
                <a:lnTo>
                  <a:pt x="0" y="1929379"/>
                </a:lnTo>
                <a:lnTo>
                  <a:pt x="0" y="0"/>
                </a:lnTo>
                <a:close/>
              </a:path>
            </a:pathLst>
          </a:custGeom>
          <a:blipFill>
            <a:blip r:embed="rId2"/>
            <a:stretch>
              <a:fillRect l="0" t="0" r="0" b="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847982"/>
            <a:ext cx="4594145" cy="361435"/>
            <a:chOff x="0" y="0"/>
            <a:chExt cx="6125526"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907998"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9" id="9"/>
          <p:cNvSpPr/>
          <p:nvPr/>
        </p:nvSpPr>
        <p:spPr>
          <a:xfrm flipH="false" flipV="false" rot="0">
            <a:off x="17097423" y="9037170"/>
            <a:ext cx="323755" cy="443095"/>
          </a:xfrm>
          <a:custGeom>
            <a:avLst/>
            <a:gdLst/>
            <a:ahLst/>
            <a:cxnLst/>
            <a:rect r="r" b="b" t="t" l="l"/>
            <a:pathLst>
              <a:path h="443095" w="323755">
                <a:moveTo>
                  <a:pt x="0" y="0"/>
                </a:moveTo>
                <a:lnTo>
                  <a:pt x="323754" y="0"/>
                </a:lnTo>
                <a:lnTo>
                  <a:pt x="323754" y="443095"/>
                </a:lnTo>
                <a:lnTo>
                  <a:pt x="0" y="4430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209418" y="3927590"/>
            <a:ext cx="8276849" cy="4671408"/>
          </a:xfrm>
          <a:custGeom>
            <a:avLst/>
            <a:gdLst/>
            <a:ahLst/>
            <a:cxnLst/>
            <a:rect r="r" b="b" t="t" l="l"/>
            <a:pathLst>
              <a:path h="4671408" w="8276849">
                <a:moveTo>
                  <a:pt x="0" y="0"/>
                </a:moveTo>
                <a:lnTo>
                  <a:pt x="8276848" y="0"/>
                </a:lnTo>
                <a:lnTo>
                  <a:pt x="8276848" y="4671408"/>
                </a:lnTo>
                <a:lnTo>
                  <a:pt x="0" y="4671408"/>
                </a:lnTo>
                <a:lnTo>
                  <a:pt x="0" y="0"/>
                </a:lnTo>
                <a:close/>
              </a:path>
            </a:pathLst>
          </a:custGeom>
          <a:blipFill>
            <a:blip r:embed="rId9"/>
            <a:stretch>
              <a:fillRect l="0" t="0" r="-1236" b="0"/>
            </a:stretch>
          </a:blipFill>
        </p:spPr>
      </p:sp>
      <p:sp>
        <p:nvSpPr>
          <p:cNvPr name="TextBox 12" id="12"/>
          <p:cNvSpPr txBox="true"/>
          <p:nvPr/>
        </p:nvSpPr>
        <p:spPr>
          <a:xfrm rot="0">
            <a:off x="1209418" y="1939452"/>
            <a:ext cx="5710914"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Taux de ré-achat &amp; Fidélisation client</a:t>
            </a:r>
          </a:p>
        </p:txBody>
      </p:sp>
      <p:sp>
        <p:nvSpPr>
          <p:cNvPr name="TextBox 13" id="13"/>
          <p:cNvSpPr txBox="true"/>
          <p:nvPr/>
        </p:nvSpPr>
        <p:spPr>
          <a:xfrm rot="0">
            <a:off x="10666082" y="3040926"/>
            <a:ext cx="5910830" cy="5105400"/>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a:r>
            <a:r>
              <a:rPr lang="en-US" sz="1400" spc="-68">
                <a:solidFill>
                  <a:srgbClr val="000000"/>
                </a:solidFill>
                <a:latin typeface="Arial"/>
                <a:ea typeface="Arial"/>
                <a:cs typeface="Arial"/>
                <a:sym typeface="Arial"/>
              </a:rPr>
              <a:t>at 2023 : 0% (aucun client avec ≥2 commandes Complete en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2024 : 3,39% (6 clients sur 177 ont commandé au moins 2 fois)</a:t>
            </a: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démarre mais reste très faible — marge de progression énorme</a:t>
            </a:r>
          </a:p>
          <a:p>
            <a:pPr algn="l" marL="302261" indent="-151130" lvl="1">
              <a:lnSpc>
                <a:spcPts val="1960"/>
              </a:lnSpc>
              <a:buFont typeface="Arial"/>
              <a:buChar char="•"/>
            </a:pPr>
            <a:r>
              <a:rPr lang="en-US" sz="1400" spc="-68">
                <a:solidFill>
                  <a:srgbClr val="000000"/>
                </a:solidFill>
                <a:latin typeface="Arial"/>
                <a:ea typeface="Arial"/>
                <a:cs typeface="Arial"/>
                <a:sym typeface="Arial"/>
              </a:rPr>
              <a:t>Panier moyen 2024 : 85,41 € — Outerwear tire le panier à ~225 € par article</a:t>
            </a:r>
          </a:p>
          <a:p>
            <a:pPr algn="l" marL="302261" indent="-151130" lvl="1">
              <a:lnSpc>
                <a:spcPts val="1960"/>
              </a:lnSpc>
              <a:buFont typeface="Arial"/>
              <a:buChar char="•"/>
            </a:pPr>
            <a:r>
              <a:rPr lang="en-US" sz="1400" spc="-68">
                <a:solidFill>
                  <a:srgbClr val="000000"/>
                </a:solidFill>
                <a:latin typeface="Arial"/>
                <a:ea typeface="Arial"/>
                <a:cs typeface="Arial"/>
                <a:sym typeface="Arial"/>
              </a:rPr>
              <a:t>Commandes 2023 : 97 | Commandes 2024 : 184 (×1,9) — base clients en forte croissance</a:t>
            </a:r>
          </a:p>
          <a:p>
            <a:pPr algn="l">
              <a:lnSpc>
                <a:spcPts val="1960"/>
              </a:lnSpc>
            </a:pPr>
          </a:p>
          <a:p>
            <a:pPr algn="l">
              <a:lnSpc>
                <a:spcPts val="2239"/>
              </a:lnSpc>
            </a:pPr>
            <a:r>
              <a:rPr lang="en-US" b="true" sz="1599" spc="-78" u="sng">
                <a:solidFill>
                  <a:srgbClr val="000000"/>
                </a:solidFill>
                <a:latin typeface="Arial Bold"/>
                <a:ea typeface="Arial Bold"/>
                <a:cs typeface="Arial Bold"/>
                <a:sym typeface="Arial Bold"/>
              </a:rPr>
              <a:t>Insight clé:</a:t>
            </a:r>
          </a:p>
          <a:p>
            <a:pPr algn="l">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décolle en 2024 (+3,4 pts) mais reste faible. C'est le chantier prioritaire : un client qui revient coûte 5× moins à acquérir qu'un nouveau.</a:t>
            </a:r>
          </a:p>
          <a:p>
            <a:pPr algn="just">
              <a:lnSpc>
                <a:spcPts val="1960"/>
              </a:lnSpc>
              <a:spcBef>
                <a:spcPct val="0"/>
              </a:spcBef>
            </a:pPr>
          </a:p>
          <a:p>
            <a:pPr algn="just">
              <a:lnSpc>
                <a:spcPts val="2239"/>
              </a:lnSpc>
              <a:spcBef>
                <a:spcPct val="0"/>
              </a:spcBef>
            </a:pPr>
            <a:r>
              <a:rPr lang="en-US" b="true" sz="1599" spc="-78" u="sng">
                <a:solidFill>
                  <a:srgbClr val="000000"/>
                </a:solidFill>
                <a:latin typeface="Arial Bold"/>
                <a:ea typeface="Arial Bold"/>
                <a:cs typeface="Arial Bold"/>
                <a:sym typeface="Arial Bold"/>
              </a:rPr>
              <a:t>Recomma</a:t>
            </a:r>
            <a:r>
              <a:rPr lang="en-US" b="true" sz="1599" spc="-78" u="sng">
                <a:solidFill>
                  <a:srgbClr val="000000"/>
                </a:solidFill>
                <a:latin typeface="Arial Bold"/>
                <a:ea typeface="Arial Bold"/>
                <a:cs typeface="Arial Bold"/>
                <a:sym typeface="Arial Bold"/>
              </a:rPr>
              <a:t>ndations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D</a:t>
            </a:r>
            <a:r>
              <a:rPr lang="en-US" sz="1400" spc="-68">
                <a:solidFill>
                  <a:srgbClr val="000000"/>
                </a:solidFill>
                <a:latin typeface="Arial"/>
                <a:ea typeface="Arial"/>
                <a:cs typeface="Arial"/>
                <a:sym typeface="Arial"/>
              </a:rPr>
              <a:t>éployer programme CRM : email J+7 post-achat + offre personnalisée J+30.</a:t>
            </a:r>
          </a:p>
          <a:p>
            <a:pPr algn="l" marL="302261" indent="-151130" lvl="1">
              <a:lnSpc>
                <a:spcPts val="1960"/>
              </a:lnSpc>
              <a:buFont typeface="Arial"/>
              <a:buChar char="•"/>
            </a:pPr>
            <a:r>
              <a:rPr lang="en-US" sz="1400" spc="-68">
                <a:solidFill>
                  <a:srgbClr val="000000"/>
                </a:solidFill>
                <a:latin typeface="Arial"/>
                <a:ea typeface="Arial"/>
                <a:cs typeface="Arial"/>
                <a:sym typeface="Arial"/>
              </a:rPr>
              <a:t>Objectif : 10% de taux ré-achat en 2025.</a:t>
            </a:r>
          </a:p>
          <a:p>
            <a:pPr algn="just">
              <a:lnSpc>
                <a:spcPts val="196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2586255"/>
            <a:ext cx="4683288" cy="6002034"/>
          </a:xfrm>
          <a:custGeom>
            <a:avLst/>
            <a:gdLst/>
            <a:ahLst/>
            <a:cxnLst/>
            <a:rect r="r" b="b" t="t" l="l"/>
            <a:pathLst>
              <a:path h="6002034" w="4683288">
                <a:moveTo>
                  <a:pt x="0" y="0"/>
                </a:moveTo>
                <a:lnTo>
                  <a:pt x="4683288" y="0"/>
                </a:lnTo>
                <a:lnTo>
                  <a:pt x="4683288" y="6002034"/>
                </a:lnTo>
                <a:lnTo>
                  <a:pt x="0" y="6002034"/>
                </a:lnTo>
                <a:lnTo>
                  <a:pt x="0" y="0"/>
                </a:lnTo>
                <a:close/>
              </a:path>
            </a:pathLst>
          </a:custGeom>
          <a:blipFill>
            <a:blip r:embed="rId6"/>
            <a:stretch>
              <a:fillRect l="0" t="0" r="-22948" b="0"/>
            </a:stretch>
          </a:blipFill>
        </p:spPr>
      </p:sp>
      <p:sp>
        <p:nvSpPr>
          <p:cNvPr name="Freeform 10" id="10"/>
          <p:cNvSpPr/>
          <p:nvPr/>
        </p:nvSpPr>
        <p:spPr>
          <a:xfrm flipH="false" flipV="false" rot="0">
            <a:off x="5513485" y="3545284"/>
            <a:ext cx="5806714" cy="4283884"/>
          </a:xfrm>
          <a:custGeom>
            <a:avLst/>
            <a:gdLst/>
            <a:ahLst/>
            <a:cxnLst/>
            <a:rect r="r" b="b" t="t" l="l"/>
            <a:pathLst>
              <a:path h="4283884" w="5806714">
                <a:moveTo>
                  <a:pt x="0" y="0"/>
                </a:moveTo>
                <a:lnTo>
                  <a:pt x="5806714" y="0"/>
                </a:lnTo>
                <a:lnTo>
                  <a:pt x="5806714" y="4283884"/>
                </a:lnTo>
                <a:lnTo>
                  <a:pt x="0" y="4283884"/>
                </a:lnTo>
                <a:lnTo>
                  <a:pt x="0" y="0"/>
                </a:lnTo>
                <a:close/>
              </a:path>
            </a:pathLst>
          </a:custGeom>
          <a:blipFill>
            <a:blip r:embed="rId7"/>
            <a:stretch>
              <a:fillRect l="0" t="0" r="-31754" b="0"/>
            </a:stretch>
          </a:blipFill>
        </p:spPr>
      </p:sp>
      <p:sp>
        <p:nvSpPr>
          <p:cNvPr name="TextBox 11" id="11"/>
          <p:cNvSpPr txBox="true"/>
          <p:nvPr/>
        </p:nvSpPr>
        <p:spPr>
          <a:xfrm rot="0">
            <a:off x="1028700" y="1781901"/>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Répartition géographique du CA</a:t>
            </a:r>
          </a:p>
        </p:txBody>
      </p:sp>
      <p:sp>
        <p:nvSpPr>
          <p:cNvPr name="TextBox 12" id="12"/>
          <p:cNvSpPr txBox="true"/>
          <p:nvPr/>
        </p:nvSpPr>
        <p:spPr>
          <a:xfrm rot="0">
            <a:off x="11529077" y="3277401"/>
            <a:ext cx="5910830" cy="4772025"/>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Paris : 950 € de CA — ville numéro 1</a:t>
            </a:r>
          </a:p>
          <a:p>
            <a:pPr algn="l" marL="302261" indent="-151130" lvl="1">
              <a:lnSpc>
                <a:spcPts val="1960"/>
              </a:lnSpc>
              <a:buFont typeface="Arial"/>
              <a:buChar char="•"/>
            </a:pPr>
            <a:r>
              <a:rPr lang="en-US" sz="1400" spc="-68">
                <a:solidFill>
                  <a:srgbClr val="000000"/>
                </a:solidFill>
                <a:latin typeface="Arial"/>
                <a:ea typeface="Arial"/>
                <a:cs typeface="Arial"/>
                <a:sym typeface="Arial"/>
              </a:rPr>
              <a:t>Locon (903 €) et Vandœuvre-lès-Nancy (823 €) quasi à égalité avec Paris</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villes moyennes montrent un CA par personne supérieur aux grandes villes</a:t>
            </a:r>
          </a:p>
          <a:p>
            <a:pPr algn="l" marL="302261" indent="-151130" lvl="1">
              <a:lnSpc>
                <a:spcPts val="1960"/>
              </a:lnSpc>
              <a:buFont typeface="Arial"/>
              <a:buChar char="•"/>
            </a:pPr>
            <a:r>
              <a:rPr lang="en-US" sz="1400" spc="-68">
                <a:solidFill>
                  <a:srgbClr val="000000"/>
                </a:solidFill>
                <a:latin typeface="Arial"/>
                <a:ea typeface="Arial"/>
                <a:cs typeface="Arial"/>
                <a:sym typeface="Arial"/>
              </a:rPr>
              <a:t>Île-de-France et Grand Est concentrent le plus fort volume</a:t>
            </a:r>
          </a:p>
          <a:p>
            <a:pPr algn="l" marL="302261" indent="-151130" lvl="1">
              <a:lnSpc>
                <a:spcPts val="1960"/>
              </a:lnSpc>
              <a:buFont typeface="Arial"/>
              <a:buChar char="•"/>
            </a:pPr>
            <a:r>
              <a:rPr lang="en-US" sz="1400" spc="-68">
                <a:solidFill>
                  <a:srgbClr val="000000"/>
                </a:solidFill>
                <a:latin typeface="Arial"/>
                <a:ea typeface="Arial"/>
                <a:cs typeface="Arial"/>
                <a:sym typeface="Arial"/>
              </a:rPr>
              <a:t>Forte dispersion : l'activité est présente sur tout le territoire</a:t>
            </a:r>
          </a:p>
          <a:p>
            <a:pPr algn="l" marL="302261" indent="-151130" lvl="1">
              <a:lnSpc>
                <a:spcPts val="1960"/>
              </a:lnSpc>
              <a:buFont typeface="Arial"/>
              <a:buChar char="•"/>
            </a:pPr>
            <a:r>
              <a:rPr lang="en-US" sz="1400" spc="-68">
                <a:solidFill>
                  <a:srgbClr val="000000"/>
                </a:solidFill>
                <a:latin typeface="Arial"/>
                <a:ea typeface="Arial"/>
                <a:cs typeface="Arial"/>
                <a:sym typeface="Arial"/>
              </a:rPr>
              <a:t>Potentiel identifié dans les villes entre 500 € et 900 € de CA</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Insights clés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Contra-intuitif : Paris n'est pas dominante. Les villes moyennes représentent un fort potentiel non capturé.</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La</a:t>
            </a:r>
            <a:r>
              <a:rPr lang="en-US" sz="1400" spc="-68">
                <a:solidFill>
                  <a:srgbClr val="000000"/>
                </a:solidFill>
                <a:latin typeface="Arial"/>
                <a:ea typeface="Arial"/>
                <a:cs typeface="Arial"/>
                <a:sym typeface="Arial"/>
              </a:rPr>
              <a:t>ncer des campagnes géo-ciblées sur les villes à fort potentiel (500-900€ CA). Objectif : activer 10 nouvelles villes en 2025 pour +15% CA.</a:t>
            </a:r>
          </a:p>
          <a:p>
            <a:pPr algn="l">
              <a:lnSpc>
                <a:spcPts val="1960"/>
              </a:lnSpc>
              <a:spcBef>
                <a:spcPct val="0"/>
              </a:spcBef>
            </a:pPr>
          </a:p>
        </p:txBody>
      </p:sp>
      <p:sp>
        <p:nvSpPr>
          <p:cNvPr name="Freeform 13" id="13"/>
          <p:cNvSpPr/>
          <p:nvPr/>
        </p:nvSpPr>
        <p:spPr>
          <a:xfrm flipH="false" flipV="false" rot="0">
            <a:off x="17271516" y="9039385"/>
            <a:ext cx="336781" cy="440045"/>
          </a:xfrm>
          <a:custGeom>
            <a:avLst/>
            <a:gdLst/>
            <a:ahLst/>
            <a:cxnLst/>
            <a:rect r="r" b="b" t="t" l="l"/>
            <a:pathLst>
              <a:path h="440045" w="336781">
                <a:moveTo>
                  <a:pt x="0" y="0"/>
                </a:moveTo>
                <a:lnTo>
                  <a:pt x="336781" y="0"/>
                </a:lnTo>
                <a:lnTo>
                  <a:pt x="336781" y="440045"/>
                </a:lnTo>
                <a:lnTo>
                  <a:pt x="0" y="4400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sp>
        <p:nvSpPr>
          <p:cNvPr name="TextBox 5" id="5"/>
          <p:cNvSpPr txBox="true"/>
          <p:nvPr/>
        </p:nvSpPr>
        <p:spPr>
          <a:xfrm rot="0">
            <a:off x="5716053" y="4821555"/>
            <a:ext cx="6855894" cy="81534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R</a:t>
            </a:r>
            <a:r>
              <a:rPr lang="en-US" b="true" sz="6500" spc="-318">
                <a:solidFill>
                  <a:srgbClr val="FFFFFF"/>
                </a:solidFill>
                <a:latin typeface="Arial Bold"/>
                <a:ea typeface="Arial Bold"/>
                <a:cs typeface="Arial Bold"/>
                <a:sym typeface="Arial Bold"/>
              </a:rPr>
              <a:t>ecommandations</a:t>
            </a:r>
          </a:p>
        </p:txBody>
      </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9" id="9"/>
          <p:cNvSpPr txBox="true"/>
          <p:nvPr/>
        </p:nvSpPr>
        <p:spPr>
          <a:xfrm rot="0">
            <a:off x="2315618" y="243115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17995"/>
            <a:ext cx="3067438" cy="361435"/>
            <a:chOff x="0" y="0"/>
            <a:chExt cx="4089917"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9060"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8" id="8"/>
          <p:cNvSpPr txBox="true"/>
          <p:nvPr/>
        </p:nvSpPr>
        <p:spPr>
          <a:xfrm rot="0">
            <a:off x="1209418" y="1600603"/>
            <a:ext cx="453485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Recommandations business</a:t>
            </a:r>
          </a:p>
        </p:txBody>
      </p:sp>
      <p:sp>
        <p:nvSpPr>
          <p:cNvPr name="Freeform 9" id="9"/>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217613" y="2184676"/>
            <a:ext cx="9852773" cy="1525869"/>
            <a:chOff x="0" y="0"/>
            <a:chExt cx="13137031" cy="2034492"/>
          </a:xfrm>
        </p:grpSpPr>
        <p:grpSp>
          <p:nvGrpSpPr>
            <p:cNvPr name="Group 11" id="11"/>
            <p:cNvGrpSpPr/>
            <p:nvPr/>
          </p:nvGrpSpPr>
          <p:grpSpPr>
            <a:xfrm rot="0">
              <a:off x="1622325" y="0"/>
              <a:ext cx="11097783" cy="2034492"/>
              <a:chOff x="0" y="0"/>
              <a:chExt cx="2254056" cy="413223"/>
            </a:xfrm>
          </p:grpSpPr>
          <p:sp>
            <p:nvSpPr>
              <p:cNvPr name="Freeform 12" id="12"/>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13" id="13"/>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grpSp>
          <p:nvGrpSpPr>
            <p:cNvPr name="Group 14" id="14"/>
            <p:cNvGrpSpPr/>
            <p:nvPr/>
          </p:nvGrpSpPr>
          <p:grpSpPr>
            <a:xfrm rot="0">
              <a:off x="0" y="0"/>
              <a:ext cx="1441406" cy="2034492"/>
              <a:chOff x="0" y="0"/>
              <a:chExt cx="292762" cy="413223"/>
            </a:xfrm>
          </p:grpSpPr>
          <p:sp>
            <p:nvSpPr>
              <p:cNvPr name="Freeform 15" id="15"/>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16" id="16"/>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17" id="17"/>
            <p:cNvSpPr/>
            <p:nvPr/>
          </p:nvSpPr>
          <p:spPr>
            <a:xfrm flipH="false" flipV="false" rot="0">
              <a:off x="776037" y="731939"/>
              <a:ext cx="233023" cy="570614"/>
            </a:xfrm>
            <a:custGeom>
              <a:avLst/>
              <a:gdLst/>
              <a:ahLst/>
              <a:cxnLst/>
              <a:rect r="r" b="b" t="t" l="l"/>
              <a:pathLst>
                <a:path h="570614" w="233023">
                  <a:moveTo>
                    <a:pt x="0" y="0"/>
                  </a:moveTo>
                  <a:lnTo>
                    <a:pt x="233023" y="0"/>
                  </a:lnTo>
                  <a:lnTo>
                    <a:pt x="233023" y="570614"/>
                  </a:lnTo>
                  <a:lnTo>
                    <a:pt x="0" y="5706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825875" y="159756"/>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Amplifier Outerwear &amp; Coats</a:t>
              </a:r>
            </a:p>
          </p:txBody>
        </p:sp>
        <p:sp>
          <p:nvSpPr>
            <p:cNvPr name="TextBox 20" id="20"/>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CA 3 148 € · Marge 55%</a:t>
              </a:r>
            </a:p>
          </p:txBody>
        </p:sp>
        <p:sp>
          <p:nvSpPr>
            <p:cNvPr name="TextBox 21" id="21"/>
            <p:cNvSpPr txBox="true"/>
            <p:nvPr/>
          </p:nvSpPr>
          <p:spPr>
            <a:xfrm rot="0">
              <a:off x="1825875" y="133112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Augmenter le budget acquisition S2. Partenariat The North Face + Arc'teryx en avant-plan. </a:t>
              </a:r>
            </a:p>
            <a:p>
              <a:pPr algn="l">
                <a:lnSpc>
                  <a:spcPts val="1438"/>
                </a:lnSpc>
              </a:pPr>
              <a:r>
                <a:rPr lang="en-US" sz="1653" spc="-81" b="true">
                  <a:solidFill>
                    <a:srgbClr val="000000"/>
                  </a:solidFill>
                  <a:latin typeface="Arial Bold"/>
                  <a:ea typeface="Arial Bold"/>
                  <a:cs typeface="Arial Bold"/>
                  <a:sym typeface="Arial Bold"/>
                </a:rPr>
                <a:t>Objectif : +15% CA Outerwear 2025.</a:t>
              </a:r>
            </a:p>
          </p:txBody>
        </p:sp>
      </p:grpSp>
      <p:grpSp>
        <p:nvGrpSpPr>
          <p:cNvPr name="Group 22" id="22"/>
          <p:cNvGrpSpPr/>
          <p:nvPr/>
        </p:nvGrpSpPr>
        <p:grpSpPr>
          <a:xfrm rot="0">
            <a:off x="4217613" y="3939145"/>
            <a:ext cx="9852773" cy="1525869"/>
            <a:chOff x="0" y="0"/>
            <a:chExt cx="13137031" cy="2034492"/>
          </a:xfrm>
        </p:grpSpPr>
        <p:grpSp>
          <p:nvGrpSpPr>
            <p:cNvPr name="Group 23" id="23"/>
            <p:cNvGrpSpPr/>
            <p:nvPr/>
          </p:nvGrpSpPr>
          <p:grpSpPr>
            <a:xfrm rot="0">
              <a:off x="1622325" y="0"/>
              <a:ext cx="11097783" cy="2034492"/>
              <a:chOff x="0" y="0"/>
              <a:chExt cx="2254056" cy="413223"/>
            </a:xfrm>
          </p:grpSpPr>
          <p:sp>
            <p:nvSpPr>
              <p:cNvPr name="Freeform 24" id="24"/>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25" id="25"/>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26" id="26"/>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Exploiter le pic d'octobre</a:t>
              </a:r>
            </a:p>
          </p:txBody>
        </p:sp>
        <p:sp>
          <p:nvSpPr>
            <p:cNvPr name="TextBox 27" id="27"/>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Oct 2024 = 2 389 € (+87%)</a:t>
              </a:r>
            </a:p>
          </p:txBody>
        </p:sp>
        <p:sp>
          <p:nvSpPr>
            <p:cNvPr name="TextBox 28" id="28"/>
            <p:cNvSpPr txBox="true"/>
            <p:nvPr/>
          </p:nvSpPr>
          <p:spPr>
            <a:xfrm rot="0">
              <a:off x="1825875" y="133321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Déclencher les campagnes fin août. Anticiper les stocks T4. </a:t>
              </a:r>
            </a:p>
            <a:p>
              <a:pPr algn="l">
                <a:lnSpc>
                  <a:spcPts val="1438"/>
                </a:lnSpc>
              </a:pPr>
              <a:r>
                <a:rPr lang="en-US" sz="1653" spc="-81" b="true">
                  <a:solidFill>
                    <a:srgbClr val="000000"/>
                  </a:solidFill>
                  <a:latin typeface="Arial Bold"/>
                  <a:ea typeface="Arial Bold"/>
                  <a:cs typeface="Arial Bold"/>
                  <a:sym typeface="Arial Bold"/>
                </a:rPr>
                <a:t>Objectif : étendre le pic sur 3 semaines supplémentaires.</a:t>
              </a:r>
            </a:p>
          </p:txBody>
        </p:sp>
        <p:grpSp>
          <p:nvGrpSpPr>
            <p:cNvPr name="Group 29" id="29"/>
            <p:cNvGrpSpPr/>
            <p:nvPr/>
          </p:nvGrpSpPr>
          <p:grpSpPr>
            <a:xfrm rot="0">
              <a:off x="0" y="0"/>
              <a:ext cx="1441406" cy="2034492"/>
              <a:chOff x="0" y="0"/>
              <a:chExt cx="292762" cy="413223"/>
            </a:xfrm>
          </p:grpSpPr>
          <p:sp>
            <p:nvSpPr>
              <p:cNvPr name="Freeform 30" id="30"/>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31" id="31"/>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32" id="32"/>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0">
              <a:off x="720703" y="731939"/>
              <a:ext cx="414447" cy="561082"/>
            </a:xfrm>
            <a:custGeom>
              <a:avLst/>
              <a:gdLst/>
              <a:ahLst/>
              <a:cxnLst/>
              <a:rect r="r" b="b" t="t" l="l"/>
              <a:pathLst>
                <a:path h="561082" w="414447">
                  <a:moveTo>
                    <a:pt x="0" y="0"/>
                  </a:moveTo>
                  <a:lnTo>
                    <a:pt x="414447" y="0"/>
                  </a:lnTo>
                  <a:lnTo>
                    <a:pt x="414447" y="561082"/>
                  </a:lnTo>
                  <a:lnTo>
                    <a:pt x="0" y="561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34" id="34"/>
          <p:cNvGrpSpPr/>
          <p:nvPr/>
        </p:nvGrpSpPr>
        <p:grpSpPr>
          <a:xfrm rot="0">
            <a:off x="4217613" y="5693614"/>
            <a:ext cx="9540081" cy="1525869"/>
            <a:chOff x="0" y="0"/>
            <a:chExt cx="12720108" cy="2034492"/>
          </a:xfrm>
        </p:grpSpPr>
        <p:grpSp>
          <p:nvGrpSpPr>
            <p:cNvPr name="Group 35" id="35"/>
            <p:cNvGrpSpPr/>
            <p:nvPr/>
          </p:nvGrpSpPr>
          <p:grpSpPr>
            <a:xfrm rot="0">
              <a:off x="1622325" y="0"/>
              <a:ext cx="11097783" cy="2034492"/>
              <a:chOff x="0" y="0"/>
              <a:chExt cx="2254056" cy="413223"/>
            </a:xfrm>
          </p:grpSpPr>
          <p:sp>
            <p:nvSpPr>
              <p:cNvPr name="Freeform 36" id="36"/>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37" id="37"/>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38" id="38"/>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Réduire les retours </a:t>
              </a:r>
            </a:p>
          </p:txBody>
        </p:sp>
        <p:sp>
          <p:nvSpPr>
            <p:cNvPr name="TextBox 39" id="39"/>
            <p:cNvSpPr txBox="true"/>
            <p:nvPr/>
          </p:nvSpPr>
          <p:spPr>
            <a:xfrm rot="0">
              <a:off x="1825875" y="775465"/>
              <a:ext cx="4742641"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Clothing Sets 100% · Blazers 55%</a:t>
              </a:r>
            </a:p>
          </p:txBody>
        </p:sp>
        <p:sp>
          <p:nvSpPr>
            <p:cNvPr name="TextBox 40" id="40"/>
            <p:cNvSpPr txBox="true"/>
            <p:nvPr/>
          </p:nvSpPr>
          <p:spPr>
            <a:xfrm rot="0">
              <a:off x="1825875" y="1331128"/>
              <a:ext cx="6847778"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Guide des tailles + photos 360° + descriptions matières. </a:t>
              </a:r>
            </a:p>
            <a:p>
              <a:pPr algn="l">
                <a:lnSpc>
                  <a:spcPts val="1438"/>
                </a:lnSpc>
              </a:pPr>
              <a:r>
                <a:rPr lang="en-US" sz="1653" spc="-81" b="true">
                  <a:solidFill>
                    <a:srgbClr val="000000"/>
                  </a:solidFill>
                  <a:latin typeface="Arial Bold"/>
                  <a:ea typeface="Arial Bold"/>
                  <a:cs typeface="Arial Bold"/>
                  <a:sym typeface="Arial Bold"/>
                </a:rPr>
                <a:t>Objectif : -5 pts de taux retour global en 2025.</a:t>
              </a:r>
            </a:p>
          </p:txBody>
        </p:sp>
        <p:grpSp>
          <p:nvGrpSpPr>
            <p:cNvPr name="Group 41" id="41"/>
            <p:cNvGrpSpPr/>
            <p:nvPr/>
          </p:nvGrpSpPr>
          <p:grpSpPr>
            <a:xfrm rot="0">
              <a:off x="0" y="0"/>
              <a:ext cx="1441406" cy="2034492"/>
              <a:chOff x="0" y="0"/>
              <a:chExt cx="292762" cy="413223"/>
            </a:xfrm>
          </p:grpSpPr>
          <p:sp>
            <p:nvSpPr>
              <p:cNvPr name="Freeform 42" id="42"/>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43" id="43"/>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44" id="44"/>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5" id="45"/>
            <p:cNvSpPr/>
            <p:nvPr/>
          </p:nvSpPr>
          <p:spPr>
            <a:xfrm flipH="false" flipV="false" rot="0">
              <a:off x="720703" y="71631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46" id="46"/>
          <p:cNvGrpSpPr/>
          <p:nvPr/>
        </p:nvGrpSpPr>
        <p:grpSpPr>
          <a:xfrm rot="0">
            <a:off x="4217613" y="7448083"/>
            <a:ext cx="9540081" cy="1525869"/>
            <a:chOff x="0" y="0"/>
            <a:chExt cx="12720108" cy="2034492"/>
          </a:xfrm>
        </p:grpSpPr>
        <p:grpSp>
          <p:nvGrpSpPr>
            <p:cNvPr name="Group 47" id="47"/>
            <p:cNvGrpSpPr/>
            <p:nvPr/>
          </p:nvGrpSpPr>
          <p:grpSpPr>
            <a:xfrm rot="0">
              <a:off x="1622325" y="0"/>
              <a:ext cx="11097783" cy="2034492"/>
              <a:chOff x="0" y="0"/>
              <a:chExt cx="2254056" cy="413223"/>
            </a:xfrm>
          </p:grpSpPr>
          <p:sp>
            <p:nvSpPr>
              <p:cNvPr name="Freeform 48" id="48"/>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49" id="49"/>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50" id="50"/>
            <p:cNvSpPr txBox="true"/>
            <p:nvPr/>
          </p:nvSpPr>
          <p:spPr>
            <a:xfrm rot="0">
              <a:off x="1825875" y="204107"/>
              <a:ext cx="3763676"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Programme CRM fidélisation</a:t>
              </a:r>
            </a:p>
          </p:txBody>
        </p:sp>
        <p:sp>
          <p:nvSpPr>
            <p:cNvPr name="TextBox 51" id="51"/>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Réachat 3,39% (0% en 2023)</a:t>
              </a:r>
            </a:p>
          </p:txBody>
        </p:sp>
        <p:sp>
          <p:nvSpPr>
            <p:cNvPr name="TextBox 52" id="52"/>
            <p:cNvSpPr txBox="true"/>
            <p:nvPr/>
          </p:nvSpPr>
          <p:spPr>
            <a:xfrm rot="0">
              <a:off x="1825875" y="1333218"/>
              <a:ext cx="6114663"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Email automatique J+7 + offre personnalisée J+30. </a:t>
              </a:r>
            </a:p>
            <a:p>
              <a:pPr algn="l">
                <a:lnSpc>
                  <a:spcPts val="1438"/>
                </a:lnSpc>
              </a:pPr>
              <a:r>
                <a:rPr lang="en-US" sz="1653" spc="-81" b="true">
                  <a:solidFill>
                    <a:srgbClr val="000000"/>
                  </a:solidFill>
                  <a:latin typeface="Arial Bold"/>
                  <a:ea typeface="Arial Bold"/>
                  <a:cs typeface="Arial Bold"/>
                  <a:sym typeface="Arial Bold"/>
                </a:rPr>
                <a:t>Objectif : taux ré-achat 10% en 2025.</a:t>
              </a:r>
            </a:p>
          </p:txBody>
        </p:sp>
        <p:grpSp>
          <p:nvGrpSpPr>
            <p:cNvPr name="Group 53" id="53"/>
            <p:cNvGrpSpPr/>
            <p:nvPr/>
          </p:nvGrpSpPr>
          <p:grpSpPr>
            <a:xfrm rot="0">
              <a:off x="0" y="0"/>
              <a:ext cx="1441406" cy="2034492"/>
              <a:chOff x="0" y="0"/>
              <a:chExt cx="292762" cy="413223"/>
            </a:xfrm>
          </p:grpSpPr>
          <p:sp>
            <p:nvSpPr>
              <p:cNvPr name="Freeform 54" id="54"/>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55" id="55"/>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56" id="56"/>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7" id="57"/>
            <p:cNvSpPr/>
            <p:nvPr/>
          </p:nvSpPr>
          <p:spPr>
            <a:xfrm flipH="false" flipV="false" rot="0">
              <a:off x="720703" y="731939"/>
              <a:ext cx="502312" cy="590794"/>
            </a:xfrm>
            <a:custGeom>
              <a:avLst/>
              <a:gdLst/>
              <a:ahLst/>
              <a:cxnLst/>
              <a:rect r="r" b="b" t="t" l="l"/>
              <a:pathLst>
                <a:path h="590794" w="502312">
                  <a:moveTo>
                    <a:pt x="0" y="0"/>
                  </a:moveTo>
                  <a:lnTo>
                    <a:pt x="502312" y="0"/>
                  </a:lnTo>
                  <a:lnTo>
                    <a:pt x="502312" y="590794"/>
                  </a:lnTo>
                  <a:lnTo>
                    <a:pt x="0" y="5907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58" id="58"/>
          <p:cNvSpPr/>
          <p:nvPr/>
        </p:nvSpPr>
        <p:spPr>
          <a:xfrm flipH="false" flipV="false" rot="0">
            <a:off x="17259300"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9" id="59"/>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566219" y="1977617"/>
            <a:ext cx="946181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Conclusion</a:t>
            </a:r>
          </a:p>
        </p:txBody>
      </p:sp>
      <p:grpSp>
        <p:nvGrpSpPr>
          <p:cNvPr name="Group 5" id="5"/>
          <p:cNvGrpSpPr/>
          <p:nvPr/>
        </p:nvGrpSpPr>
        <p:grpSpPr>
          <a:xfrm rot="0">
            <a:off x="1028700" y="1028700"/>
            <a:ext cx="4329431" cy="361435"/>
            <a:chOff x="0" y="0"/>
            <a:chExt cx="5772575"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62184" y="115017"/>
              <a:ext cx="5010390" cy="279147"/>
            </a:xfrm>
            <a:prstGeom prst="rect">
              <a:avLst/>
            </a:prstGeom>
          </p:spPr>
          <p:txBody>
            <a:bodyPr anchor="t" rtlCol="false" tIns="0" lIns="0" bIns="0" rIns="0">
              <a:spAutoFit/>
            </a:bodyPr>
            <a:lstStyle/>
            <a:p>
              <a:pPr algn="l">
                <a:lnSpc>
                  <a:spcPts val="1479"/>
                </a:lnSpc>
              </a:pPr>
              <a:r>
                <a:rPr lang="en-US" sz="1700" spc="-83" b="true">
                  <a:solidFill>
                    <a:srgbClr val="000000"/>
                  </a:solidFill>
                  <a:latin typeface="TT Interphases Bold"/>
                  <a:ea typeface="TT Interphases Bold"/>
                  <a:cs typeface="TT Interphases Bold"/>
                  <a:sym typeface="TT Interphases Bold"/>
                </a:rPr>
                <a:t>TheLook - Women France 2023 vs 2024 </a:t>
              </a:r>
            </a:p>
          </p:txBody>
        </p:sp>
      </p:grpSp>
      <p:grpSp>
        <p:nvGrpSpPr>
          <p:cNvPr name="Group 8" id="8"/>
          <p:cNvGrpSpPr/>
          <p:nvPr/>
        </p:nvGrpSpPr>
        <p:grpSpPr>
          <a:xfrm rot="0">
            <a:off x="1028700" y="9037170"/>
            <a:ext cx="3099781" cy="361435"/>
            <a:chOff x="0" y="0"/>
            <a:chExt cx="4133041" cy="481914"/>
          </a:xfrm>
        </p:grpSpPr>
        <p:sp>
          <p:nvSpPr>
            <p:cNvPr name="Freeform 9" id="9"/>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
        <p:nvSpPr>
          <p:cNvPr name="TextBox 11" id="11"/>
          <p:cNvSpPr txBox="true"/>
          <p:nvPr/>
        </p:nvSpPr>
        <p:spPr>
          <a:xfrm rot="0">
            <a:off x="1600338" y="3564950"/>
            <a:ext cx="7527206" cy="3348990"/>
          </a:xfrm>
          <a:prstGeom prst="rect">
            <a:avLst/>
          </a:prstGeom>
        </p:spPr>
        <p:txBody>
          <a:bodyPr anchor="t" rtlCol="false" tIns="0" lIns="0" bIns="0" rIns="0">
            <a:spAutoFit/>
          </a:bodyPr>
          <a:lstStyle/>
          <a:p>
            <a:pPr algn="just">
              <a:lnSpc>
                <a:spcPts val="3360"/>
              </a:lnSpc>
              <a:spcBef>
                <a:spcPct val="0"/>
              </a:spcBef>
            </a:pPr>
            <a:r>
              <a:rPr lang="en-US" b="true" sz="2400" spc="-117">
                <a:solidFill>
                  <a:srgbClr val="000000"/>
                </a:solidFill>
                <a:latin typeface="Arial Bold"/>
                <a:ea typeface="Arial Bold"/>
                <a:cs typeface="Arial Bold"/>
                <a:sym typeface="Arial Bold"/>
              </a:rPr>
              <a:t>✅ CA</a:t>
            </a:r>
            <a:r>
              <a:rPr lang="en-US" b="true" sz="2400" spc="-117">
                <a:solidFill>
                  <a:srgbClr val="000000"/>
                </a:solidFill>
                <a:latin typeface="Arial Bold"/>
                <a:ea typeface="Arial Bold"/>
                <a:cs typeface="Arial Bold"/>
                <a:sym typeface="Arial Bold"/>
              </a:rPr>
              <a:t> 2024 : 15 716 € — +101% vs 2023</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Taux de retour en baisse : 37,87% → 30,42% (-7,5 pts)</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Ré-achat qui démarre : 0% → 3,39% en 2024</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4 recommandations actionnables identifiées pour 2025</a:t>
            </a:r>
          </a:p>
          <a:p>
            <a:pPr algn="just">
              <a:lnSpc>
                <a:spcPts val="3360"/>
              </a:lnSpc>
              <a:spcBef>
                <a:spcPct val="0"/>
              </a:spcBef>
            </a:pPr>
          </a:p>
        </p:txBody>
      </p:sp>
      <p:sp>
        <p:nvSpPr>
          <p:cNvPr name="TextBox 12" id="12"/>
          <p:cNvSpPr txBox="true"/>
          <p:nvPr/>
        </p:nvSpPr>
        <p:spPr>
          <a:xfrm rot="0">
            <a:off x="11264112" y="4429760"/>
            <a:ext cx="5558507" cy="1332230"/>
          </a:xfrm>
          <a:prstGeom prst="rect">
            <a:avLst/>
          </a:prstGeom>
        </p:spPr>
        <p:txBody>
          <a:bodyPr anchor="t" rtlCol="false" tIns="0" lIns="0" bIns="0" rIns="0">
            <a:spAutoFit/>
          </a:bodyPr>
          <a:lstStyle/>
          <a:p>
            <a:pPr algn="ctr">
              <a:lnSpc>
                <a:spcPts val="5319"/>
              </a:lnSpc>
              <a:spcBef>
                <a:spcPct val="0"/>
              </a:spcBef>
            </a:pPr>
            <a:r>
              <a:rPr lang="en-US" b="true" sz="3799" spc="-186">
                <a:solidFill>
                  <a:srgbClr val="000000"/>
                </a:solidFill>
                <a:latin typeface="Arial Bold"/>
                <a:ea typeface="Arial Bold"/>
                <a:cs typeface="Arial Bold"/>
                <a:sym typeface="Arial Bold"/>
              </a:rPr>
              <a:t>Merci pour votre attention  </a:t>
            </a:r>
          </a:p>
          <a:p>
            <a:pPr algn="ctr">
              <a:lnSpc>
                <a:spcPts val="5319"/>
              </a:lnSpc>
              <a:spcBef>
                <a:spcPct val="0"/>
              </a:spcBef>
            </a:pPr>
            <a:r>
              <a:rPr lang="en-US" b="true" sz="3799" spc="-186">
                <a:solidFill>
                  <a:srgbClr val="000000"/>
                </a:solidFill>
                <a:latin typeface="Arial Bold"/>
                <a:ea typeface="Arial Bold"/>
                <a:cs typeface="Arial Bold"/>
                <a:sym typeface="Arial Bold"/>
              </a:rPr>
              <a:t>Questions ?</a:t>
            </a:r>
          </a:p>
        </p:txBody>
      </p:sp>
      <p:sp>
        <p:nvSpPr>
          <p:cNvPr name="Freeform 13" id="13"/>
          <p:cNvSpPr/>
          <p:nvPr/>
        </p:nvSpPr>
        <p:spPr>
          <a:xfrm flipH="false" flipV="false" rot="0">
            <a:off x="17259300" y="9036335"/>
            <a:ext cx="327295" cy="443095"/>
          </a:xfrm>
          <a:custGeom>
            <a:avLst/>
            <a:gdLst/>
            <a:ahLst/>
            <a:cxnLst/>
            <a:rect r="r" b="b" t="t" l="l"/>
            <a:pathLst>
              <a:path h="443095" w="327295">
                <a:moveTo>
                  <a:pt x="0" y="0"/>
                </a:moveTo>
                <a:lnTo>
                  <a:pt x="327295" y="0"/>
                </a:lnTo>
                <a:lnTo>
                  <a:pt x="327295" y="443095"/>
                </a:lnTo>
                <a:lnTo>
                  <a:pt x="0" y="4430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51313"/>
            <a:ext cx="8332616" cy="1784425"/>
          </a:xfrm>
          <a:prstGeom prst="rect">
            <a:avLst/>
          </a:prstGeom>
        </p:spPr>
        <p:txBody>
          <a:bodyPr anchor="t" rtlCol="false" tIns="0" lIns="0" bIns="0" rIns="0">
            <a:spAutoFit/>
          </a:bodyPr>
          <a:lstStyle/>
          <a:p>
            <a:pPr algn="l">
              <a:lnSpc>
                <a:spcPts val="12524"/>
              </a:lnSpc>
            </a:pPr>
            <a:r>
              <a:rPr lang="en-US" sz="14395" spc="-705">
                <a:solidFill>
                  <a:srgbClr val="000000"/>
                </a:solidFill>
                <a:latin typeface="Arial"/>
                <a:ea typeface="Arial"/>
                <a:cs typeface="Arial"/>
                <a:sym typeface="Arial"/>
              </a:rPr>
              <a:t>Merci</a:t>
            </a:r>
          </a:p>
        </p:txBody>
      </p:sp>
      <p:grpSp>
        <p:nvGrpSpPr>
          <p:cNvPr name="Group 3" id="3"/>
          <p:cNvGrpSpPr/>
          <p:nvPr/>
        </p:nvGrpSpPr>
        <p:grpSpPr>
          <a:xfrm rot="0">
            <a:off x="1028700" y="1028700"/>
            <a:ext cx="4166308" cy="361435"/>
            <a:chOff x="0" y="0"/>
            <a:chExt cx="5555078"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4796" y="21304"/>
              <a:ext cx="4790281" cy="382156"/>
            </a:xfrm>
            <a:prstGeom prst="rect">
              <a:avLst/>
            </a:prstGeom>
          </p:spPr>
          <p:txBody>
            <a:bodyPr anchor="t" rtlCol="false" tIns="0" lIns="0" bIns="0" rIns="0">
              <a:spAutoFit/>
            </a:bodyPr>
            <a:lstStyle/>
            <a:p>
              <a:pPr algn="ctr">
                <a:lnSpc>
                  <a:spcPts val="2314"/>
                </a:lnSpc>
                <a:spcBef>
                  <a:spcPct val="0"/>
                </a:spcBef>
              </a:pPr>
              <a:r>
                <a:rPr lang="en-US" b="true" sz="1653" spc="-81">
                  <a:solidFill>
                    <a:srgbClr val="000000"/>
                  </a:solidFill>
                  <a:latin typeface="Arial Bold"/>
                  <a:ea typeface="Arial Bold"/>
                  <a:cs typeface="Arial Bold"/>
                  <a:sym typeface="Arial Bold"/>
                </a:rPr>
                <a:t>TheLook - Women France 2023 vs 2024 </a:t>
              </a:r>
            </a:p>
          </p:txBody>
        </p:sp>
      </p:grpSp>
      <p:grpSp>
        <p:nvGrpSpPr>
          <p:cNvPr name="Group 6" id="6"/>
          <p:cNvGrpSpPr/>
          <p:nvPr/>
        </p:nvGrpSpPr>
        <p:grpSpPr>
          <a:xfrm rot="0">
            <a:off x="1028700" y="9037170"/>
            <a:ext cx="3099781" cy="361435"/>
            <a:chOff x="0" y="0"/>
            <a:chExt cx="413304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
        <p:nvSpPr>
          <p:cNvPr name="Freeform 9" id="9"/>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DAHKtNJnomc</dc:identifier>
  <dcterms:modified xsi:type="dcterms:W3CDTF">2011-08-01T06:04:30Z</dcterms:modified>
  <cp:revision>1</cp:revision>
  <dc:title>www.reallygreatsite.com</dc:title>
</cp:coreProperties>
</file>