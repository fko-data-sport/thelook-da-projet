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Arial" charset="1" panose="020B0604020202020204"/>
      <p:regular r:id="rId26"/>
    </p:embeddedFont>
    <p:embeddedFont>
      <p:font typeface="Arial Bold" charset="1" panose="020B0704020202020204"/>
      <p:regular r:id="rId27"/>
    </p:embeddedFont>
    <p:embeddedFont>
      <p:font typeface="TT Interphases Bold" charset="1" panose="02000803060000020004"/>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2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svg" Type="http://schemas.openxmlformats.org/officeDocument/2006/relationships/image"/><Relationship Id="rId4" Target="../media/image27.pn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8.png" Type="http://schemas.openxmlformats.org/officeDocument/2006/relationships/image"/><Relationship Id="rId5" Target="../media/image29.svg" Type="http://schemas.openxmlformats.org/officeDocument/2006/relationships/image"/><Relationship Id="rId6" Target="../media/image3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7.png" Type="http://schemas.openxmlformats.org/officeDocument/2006/relationships/image"/><Relationship Id="rId6" Target="../media/image32.png" Type="http://schemas.openxmlformats.org/officeDocument/2006/relationships/image"/><Relationship Id="rId7" Target="../media/image33.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4.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5.png" Type="http://schemas.openxmlformats.org/officeDocument/2006/relationships/image"/><Relationship Id="rId6" Target="../media/image3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7.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8.png" Type="http://schemas.openxmlformats.org/officeDocument/2006/relationships/image"/><Relationship Id="rId6" Target="../media/image39.png" Type="http://schemas.openxmlformats.org/officeDocument/2006/relationships/image"/><Relationship Id="rId7" Target="../media/image40.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1.png" Type="http://schemas.openxmlformats.org/officeDocument/2006/relationships/image"/><Relationship Id="rId3" Target="../media/image42.pn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3.png" Type="http://schemas.openxmlformats.org/officeDocument/2006/relationships/image"/><Relationship Id="rId7" Target="../media/image44.svg" Type="http://schemas.openxmlformats.org/officeDocument/2006/relationships/image"/><Relationship Id="rId8" Target="../media/image2.png" Type="http://schemas.openxmlformats.org/officeDocument/2006/relationships/image"/><Relationship Id="rId9" Target="../media/image3.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5.png" Type="http://schemas.openxmlformats.org/officeDocument/2006/relationships/image"/><Relationship Id="rId3" Target="../media/image46.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svg" Type="http://schemas.openxmlformats.org/officeDocument/2006/relationships/image"/><Relationship Id="rId8" Target="../media/image47.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png" Type="http://schemas.openxmlformats.org/officeDocument/2006/relationships/image"/><Relationship Id="rId11" Target="../media/image9.svg" Type="http://schemas.openxmlformats.org/officeDocument/2006/relationships/image"/><Relationship Id="rId12" Target="../media/image10.png" Type="http://schemas.openxmlformats.org/officeDocument/2006/relationships/image"/><Relationship Id="rId13" Target="../media/image11.svg" Type="http://schemas.openxmlformats.org/officeDocument/2006/relationships/image"/><Relationship Id="rId14" Target="../media/image12.png" Type="http://schemas.openxmlformats.org/officeDocument/2006/relationships/image"/><Relationship Id="rId15" Target="../media/image13.svg" Type="http://schemas.openxmlformats.org/officeDocument/2006/relationships/image"/><Relationship Id="rId16" Target="../media/image14.png" Type="http://schemas.openxmlformats.org/officeDocument/2006/relationships/image"/><Relationship Id="rId17" Target="../media/image15.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 Id="rId8" Target="../media/image6.png" Type="http://schemas.openxmlformats.org/officeDocument/2006/relationships/image"/><Relationship Id="rId9" Target="../media/image7.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8.png" Type="http://schemas.openxmlformats.org/officeDocument/2006/relationships/image"/><Relationship Id="rId3" Target="../media/image49.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 Id="rId8" Target="../media/image2.png" Type="http://schemas.openxmlformats.org/officeDocument/2006/relationships/image"/><Relationship Id="rId9" Target="../media/image3.sv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de la soutenance</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560879" y="1035745"/>
            <a:ext cx="3744441"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726305"/>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fictif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ous endossons le rôle de Data Analyst au sein de « TheLook Europe ».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7520174" y="1391665"/>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7147704" y="1509800"/>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3735503"/>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7185753" y="1511120"/>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00004" y="1943479"/>
            <a:ext cx="9930371" cy="6400042"/>
          </a:xfrm>
          <a:custGeom>
            <a:avLst/>
            <a:gdLst/>
            <a:ahLst/>
            <a:cxnLst/>
            <a:rect r="r" b="b" t="t" l="l"/>
            <a:pathLst>
              <a:path h="6400042" w="9930371">
                <a:moveTo>
                  <a:pt x="0" y="0"/>
                </a:moveTo>
                <a:lnTo>
                  <a:pt x="9930371" y="0"/>
                </a:lnTo>
                <a:lnTo>
                  <a:pt x="9930371" y="6400042"/>
                </a:lnTo>
                <a:lnTo>
                  <a:pt x="0" y="6400042"/>
                </a:lnTo>
                <a:lnTo>
                  <a:pt x="0" y="0"/>
                </a:lnTo>
                <a:close/>
              </a:path>
            </a:pathLst>
          </a:custGeom>
          <a:blipFill>
            <a:blip r:embed="rId4"/>
            <a:stretch>
              <a:fillRect l="-349" t="-14471" r="0" b="-6003"/>
            </a:stretch>
          </a:blipFill>
        </p:spPr>
      </p:sp>
      <p:grpSp>
        <p:nvGrpSpPr>
          <p:cNvPr name="Group 4" id="4"/>
          <p:cNvGrpSpPr/>
          <p:nvPr/>
        </p:nvGrpSpPr>
        <p:grpSpPr>
          <a:xfrm rot="0">
            <a:off x="1028700" y="9038277"/>
            <a:ext cx="3099781" cy="361435"/>
            <a:chOff x="0" y="0"/>
            <a:chExt cx="4133041" cy="481914"/>
          </a:xfrm>
        </p:grpSpPr>
        <p:sp>
          <p:nvSpPr>
            <p:cNvPr name="Freeform 5" id="5"/>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7" id="7"/>
          <p:cNvGrpSpPr/>
          <p:nvPr/>
        </p:nvGrpSpPr>
        <p:grpSpPr>
          <a:xfrm rot="0">
            <a:off x="1028700" y="847982"/>
            <a:ext cx="4507921" cy="361435"/>
            <a:chOff x="0" y="0"/>
            <a:chExt cx="601056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9" id="9"/>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grpSp>
        <p:nvGrpSpPr>
          <p:cNvPr name="Group 10" id="10"/>
          <p:cNvGrpSpPr/>
          <p:nvPr/>
        </p:nvGrpSpPr>
        <p:grpSpPr>
          <a:xfrm rot="0">
            <a:off x="11425411" y="2334067"/>
            <a:ext cx="5542111" cy="915672"/>
            <a:chOff x="0" y="0"/>
            <a:chExt cx="1459651" cy="241165"/>
          </a:xfrm>
        </p:grpSpPr>
        <p:sp>
          <p:nvSpPr>
            <p:cNvPr name="Freeform 11" id="11"/>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3779E3"/>
            </a:solidFill>
          </p:spPr>
        </p:sp>
        <p:sp>
          <p:nvSpPr>
            <p:cNvPr name="TextBox 12" id="12"/>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13" id="13"/>
          <p:cNvSpPr txBox="true"/>
          <p:nvPr/>
        </p:nvSpPr>
        <p:spPr>
          <a:xfrm rot="0">
            <a:off x="6773370" y="1276093"/>
            <a:ext cx="4741260"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du CA</a:t>
            </a:r>
          </a:p>
        </p:txBody>
      </p:sp>
      <p:sp>
        <p:nvSpPr>
          <p:cNvPr name="TextBox 14" id="14"/>
          <p:cNvSpPr txBox="true"/>
          <p:nvPr/>
        </p:nvSpPr>
        <p:spPr>
          <a:xfrm rot="0">
            <a:off x="11714538" y="2638233"/>
            <a:ext cx="4869104"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Le CA 2024 est supérieur au CA 2023 sur l'ensemble de l'année.</a:t>
            </a:r>
          </a:p>
        </p:txBody>
      </p:sp>
      <p:grpSp>
        <p:nvGrpSpPr>
          <p:cNvPr name="Group 15" id="15"/>
          <p:cNvGrpSpPr/>
          <p:nvPr/>
        </p:nvGrpSpPr>
        <p:grpSpPr>
          <a:xfrm rot="0">
            <a:off x="11425411" y="4870895"/>
            <a:ext cx="5542111" cy="915672"/>
            <a:chOff x="0" y="0"/>
            <a:chExt cx="1459651" cy="241165"/>
          </a:xfrm>
        </p:grpSpPr>
        <p:sp>
          <p:nvSpPr>
            <p:cNvPr name="Freeform 16" id="16"/>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7ED957"/>
            </a:solidFill>
          </p:spPr>
        </p:sp>
        <p:sp>
          <p:nvSpPr>
            <p:cNvPr name="TextBox 17" id="17"/>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18" id="18"/>
          <p:cNvSpPr txBox="true"/>
          <p:nvPr/>
        </p:nvSpPr>
        <p:spPr>
          <a:xfrm rot="0">
            <a:off x="12371378" y="5175061"/>
            <a:ext cx="3555423"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Pic octobre 2024 = 2 417 € (+121% vs oct 2023</a:t>
            </a:r>
          </a:p>
        </p:txBody>
      </p:sp>
      <p:grpSp>
        <p:nvGrpSpPr>
          <p:cNvPr name="Group 19" id="19"/>
          <p:cNvGrpSpPr/>
          <p:nvPr/>
        </p:nvGrpSpPr>
        <p:grpSpPr>
          <a:xfrm rot="0">
            <a:off x="11425411" y="7427849"/>
            <a:ext cx="5542111" cy="915672"/>
            <a:chOff x="0" y="0"/>
            <a:chExt cx="1459651" cy="241165"/>
          </a:xfrm>
        </p:grpSpPr>
        <p:sp>
          <p:nvSpPr>
            <p:cNvPr name="Freeform 20" id="20"/>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FF914D"/>
            </a:solidFill>
          </p:spPr>
        </p:sp>
        <p:sp>
          <p:nvSpPr>
            <p:cNvPr name="TextBox 21" id="21"/>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22" id="22"/>
          <p:cNvSpPr txBox="true"/>
          <p:nvPr/>
        </p:nvSpPr>
        <p:spPr>
          <a:xfrm rot="0">
            <a:off x="12371378" y="7732015"/>
            <a:ext cx="3555423"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S2 2024 = moteur principal de la croissance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7096832" y="8955510"/>
            <a:ext cx="324936" cy="443095"/>
          </a:xfrm>
          <a:custGeom>
            <a:avLst/>
            <a:gdLst/>
            <a:ahLst/>
            <a:cxnLst/>
            <a:rect r="r" b="b" t="t" l="l"/>
            <a:pathLst>
              <a:path h="443095" w="324936">
                <a:moveTo>
                  <a:pt x="0" y="0"/>
                </a:moveTo>
                <a:lnTo>
                  <a:pt x="324936" y="0"/>
                </a:lnTo>
                <a:lnTo>
                  <a:pt x="32493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6"/>
            <a:stretch>
              <a:fillRect l="0" t="0" r="0" b="0"/>
            </a:stretch>
          </a:blipFill>
        </p:spPr>
      </p:sp>
      <p:sp>
        <p:nvSpPr>
          <p:cNvPr name="TextBox 6" id="6"/>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7" id="7"/>
          <p:cNvSpPr txBox="true"/>
          <p:nvPr/>
        </p:nvSpPr>
        <p:spPr>
          <a:xfrm rot="0">
            <a:off x="1028700" y="1854081"/>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8" id="8"/>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63905" y="2377426"/>
            <a:ext cx="4159085" cy="6027448"/>
          </a:xfrm>
          <a:custGeom>
            <a:avLst/>
            <a:gdLst/>
            <a:ahLst/>
            <a:cxnLst/>
            <a:rect r="r" b="b" t="t" l="l"/>
            <a:pathLst>
              <a:path h="6027448" w="4159085">
                <a:moveTo>
                  <a:pt x="0" y="0"/>
                </a:moveTo>
                <a:lnTo>
                  <a:pt x="4159084" y="0"/>
                </a:lnTo>
                <a:lnTo>
                  <a:pt x="4159084" y="6027448"/>
                </a:lnTo>
                <a:lnTo>
                  <a:pt x="0" y="6027448"/>
                </a:lnTo>
                <a:lnTo>
                  <a:pt x="0" y="0"/>
                </a:lnTo>
                <a:close/>
              </a:path>
            </a:pathLst>
          </a:custGeom>
          <a:blipFill>
            <a:blip r:embed="rId2"/>
            <a:stretch>
              <a:fillRect l="0"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7581043" y="1506795"/>
            <a:ext cx="3125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CA 2023 vs CA 2024</a:t>
            </a:r>
          </a:p>
        </p:txBody>
      </p:sp>
      <p:sp>
        <p:nvSpPr>
          <p:cNvPr name="TextBox 10" id="10"/>
          <p:cNvSpPr txBox="true"/>
          <p:nvPr/>
        </p:nvSpPr>
        <p:spPr>
          <a:xfrm rot="0">
            <a:off x="13023876" y="2654935"/>
            <a:ext cx="4235424" cy="2736215"/>
          </a:xfrm>
          <a:prstGeom prst="rect">
            <a:avLst/>
          </a:prstGeom>
        </p:spPr>
        <p:txBody>
          <a:bodyPr anchor="t" rtlCol="false" tIns="0" lIns="0" bIns="0" rIns="0">
            <a:spAutoFit/>
          </a:bodyPr>
          <a:lstStyle/>
          <a:p>
            <a:pPr algn="l">
              <a:lnSpc>
                <a:spcPts val="1960"/>
              </a:lnSpc>
            </a:pPr>
            <a:r>
              <a:rPr lang="en-US" b="true" sz="1400" spc="-6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est supérieur au CA 2023 sur l'ensemble de l'année.</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Les pics de ventes s</a:t>
            </a:r>
            <a:r>
              <a:rPr lang="en-US" sz="1400" spc="-68">
                <a:solidFill>
                  <a:srgbClr val="000000"/>
                </a:solidFill>
                <a:latin typeface="Arial"/>
                <a:ea typeface="Arial"/>
                <a:cs typeface="Arial"/>
                <a:sym typeface="Arial"/>
              </a:rPr>
              <a:t>ont observés en : </a:t>
            </a:r>
          </a:p>
          <a:p>
            <a:pPr algn="l">
              <a:lnSpc>
                <a:spcPts val="1960"/>
              </a:lnSpc>
              <a:spcBef>
                <a:spcPct val="0"/>
              </a:spcBef>
            </a:pPr>
            <a:r>
              <a:rPr lang="en-US" sz="1400" spc="-68">
                <a:solidFill>
                  <a:srgbClr val="000000"/>
                </a:solidFill>
                <a:latin typeface="Arial"/>
                <a:ea typeface="Arial"/>
                <a:cs typeface="Arial"/>
                <a:sym typeface="Arial"/>
              </a:rPr>
              <a:t>            - J</a:t>
            </a:r>
            <a:r>
              <a:rPr lang="en-US" sz="1400" spc="-68">
                <a:solidFill>
                  <a:srgbClr val="000000"/>
                </a:solidFill>
                <a:latin typeface="Arial"/>
                <a:ea typeface="Arial"/>
                <a:cs typeface="Arial"/>
                <a:sym typeface="Arial"/>
              </a:rPr>
              <a:t>uin 2024 : 1 822 €</a:t>
            </a:r>
          </a:p>
          <a:p>
            <a:pPr algn="l">
              <a:lnSpc>
                <a:spcPts val="1960"/>
              </a:lnSpc>
              <a:spcBef>
                <a:spcPct val="0"/>
              </a:spcBef>
            </a:pPr>
            <a:r>
              <a:rPr lang="en-US" sz="1400" spc="-68">
                <a:solidFill>
                  <a:srgbClr val="000000"/>
                </a:solidFill>
                <a:latin typeface="Arial"/>
                <a:ea typeface="Arial"/>
                <a:cs typeface="Arial"/>
                <a:sym typeface="Arial"/>
              </a:rPr>
              <a:t>            - Octobre 2024 : 2 389 €</a:t>
            </a:r>
          </a:p>
          <a:p>
            <a:pPr algn="l">
              <a:lnSpc>
                <a:spcPts val="1960"/>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Les mois les plus faibles sont :</a:t>
            </a:r>
          </a:p>
          <a:p>
            <a:pPr algn="l">
              <a:lnSpc>
                <a:spcPts val="1960"/>
              </a:lnSpc>
            </a:pPr>
            <a:r>
              <a:rPr lang="en-US" sz="1400" spc="-68">
                <a:solidFill>
                  <a:srgbClr val="000000"/>
                </a:solidFill>
                <a:latin typeface="Arial"/>
                <a:ea typeface="Arial"/>
                <a:cs typeface="Arial"/>
                <a:sym typeface="Arial"/>
              </a:rPr>
              <a:t>             - Février 2024 : 771 €</a:t>
            </a:r>
          </a:p>
          <a:p>
            <a:pPr algn="l">
              <a:lnSpc>
                <a:spcPts val="1960"/>
              </a:lnSpc>
            </a:pPr>
            <a:r>
              <a:rPr lang="en-US" sz="1400" spc="-68">
                <a:solidFill>
                  <a:srgbClr val="000000"/>
                </a:solidFill>
                <a:latin typeface="Arial"/>
                <a:ea typeface="Arial"/>
                <a:cs typeface="Arial"/>
                <a:sym typeface="Arial"/>
              </a:rPr>
              <a:t>             - </a:t>
            </a:r>
            <a:r>
              <a:rPr lang="en-US" sz="1400" spc="-68">
                <a:solidFill>
                  <a:srgbClr val="000000"/>
                </a:solidFill>
                <a:latin typeface="Arial"/>
                <a:ea typeface="Arial"/>
                <a:cs typeface="Arial"/>
                <a:sym typeface="Arial"/>
              </a:rPr>
              <a:t>Juillet 2024 : 723 €</a:t>
            </a:r>
          </a:p>
        </p:txBody>
      </p:sp>
      <p:sp>
        <p:nvSpPr>
          <p:cNvPr name="TextBox 11" id="11"/>
          <p:cNvSpPr txBox="true"/>
          <p:nvPr/>
        </p:nvSpPr>
        <p:spPr>
          <a:xfrm rot="0">
            <a:off x="13023876" y="5547460"/>
            <a:ext cx="3841006" cy="2295525"/>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Insight clé :</a:t>
            </a: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a:t>
            </a:r>
            <a:r>
              <a:rPr lang="en-US" sz="1400" spc="-68">
                <a:solidFill>
                  <a:srgbClr val="000000"/>
                </a:solidFill>
                <a:latin typeface="Arial"/>
                <a:ea typeface="Arial"/>
                <a:cs typeface="Arial"/>
                <a:sym typeface="Arial"/>
              </a:rPr>
              <a:t>n octobre (+87 % vs octobre 2023).</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Recommandation :</a:t>
            </a: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et anticiper les stocks sur les périodes à forte demande, notamment au Timestre 4.</a:t>
            </a:r>
          </a:p>
        </p:txBody>
      </p:sp>
      <p:sp>
        <p:nvSpPr>
          <p:cNvPr name="Freeform 12" id="12"/>
          <p:cNvSpPr/>
          <p:nvPr/>
        </p:nvSpPr>
        <p:spPr>
          <a:xfrm flipH="false" flipV="false" rot="0">
            <a:off x="700280" y="3088924"/>
            <a:ext cx="7144316" cy="4604452"/>
          </a:xfrm>
          <a:custGeom>
            <a:avLst/>
            <a:gdLst/>
            <a:ahLst/>
            <a:cxnLst/>
            <a:rect r="r" b="b" t="t" l="l"/>
            <a:pathLst>
              <a:path h="4604452" w="7144316">
                <a:moveTo>
                  <a:pt x="0" y="0"/>
                </a:moveTo>
                <a:lnTo>
                  <a:pt x="7144316" y="0"/>
                </a:lnTo>
                <a:lnTo>
                  <a:pt x="7144316" y="4604452"/>
                </a:lnTo>
                <a:lnTo>
                  <a:pt x="0" y="4604452"/>
                </a:lnTo>
                <a:lnTo>
                  <a:pt x="0" y="0"/>
                </a:lnTo>
                <a:close/>
              </a:path>
            </a:pathLst>
          </a:custGeom>
          <a:blipFill>
            <a:blip r:embed="rId5"/>
            <a:stretch>
              <a:fillRect l="-349" t="-14471" r="0" b="-6003"/>
            </a:stretch>
          </a:blipFill>
        </p:spPr>
      </p:sp>
      <p:sp>
        <p:nvSpPr>
          <p:cNvPr name="Freeform 13" id="13"/>
          <p:cNvSpPr/>
          <p:nvPr/>
        </p:nvSpPr>
        <p:spPr>
          <a:xfrm flipH="false" flipV="false" rot="0">
            <a:off x="17115420" y="9037170"/>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58073" y="2780700"/>
            <a:ext cx="8265372" cy="5047506"/>
          </a:xfrm>
          <a:custGeom>
            <a:avLst/>
            <a:gdLst/>
            <a:ahLst/>
            <a:cxnLst/>
            <a:rect r="r" b="b" t="t" l="l"/>
            <a:pathLst>
              <a:path h="5047506" w="8265372">
                <a:moveTo>
                  <a:pt x="0" y="0"/>
                </a:moveTo>
                <a:lnTo>
                  <a:pt x="8265373" y="0"/>
                </a:lnTo>
                <a:lnTo>
                  <a:pt x="8265373" y="5047507"/>
                </a:lnTo>
                <a:lnTo>
                  <a:pt x="0" y="504750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0" id="10"/>
          <p:cNvGrpSpPr/>
          <p:nvPr/>
        </p:nvGrpSpPr>
        <p:grpSpPr>
          <a:xfrm rot="0">
            <a:off x="7841310" y="2555641"/>
            <a:ext cx="1582136" cy="450119"/>
            <a:chOff x="0" y="0"/>
            <a:chExt cx="416694" cy="118550"/>
          </a:xfrm>
        </p:grpSpPr>
        <p:sp>
          <p:nvSpPr>
            <p:cNvPr name="Freeform 11" id="11"/>
            <p:cNvSpPr/>
            <p:nvPr/>
          </p:nvSpPr>
          <p:spPr>
            <a:xfrm flipH="false" flipV="false" rot="0">
              <a:off x="0" y="0"/>
              <a:ext cx="416694" cy="118550"/>
            </a:xfrm>
            <a:custGeom>
              <a:avLst/>
              <a:gdLst/>
              <a:ahLst/>
              <a:cxnLst/>
              <a:rect r="r" b="b" t="t" l="l"/>
              <a:pathLst>
                <a:path h="118550" w="416694">
                  <a:moveTo>
                    <a:pt x="0" y="0"/>
                  </a:moveTo>
                  <a:lnTo>
                    <a:pt x="416694" y="0"/>
                  </a:lnTo>
                  <a:lnTo>
                    <a:pt x="416694" y="118550"/>
                  </a:lnTo>
                  <a:lnTo>
                    <a:pt x="0" y="118550"/>
                  </a:lnTo>
                  <a:close/>
                </a:path>
              </a:pathLst>
            </a:custGeom>
            <a:solidFill>
              <a:srgbClr val="FFFFFF"/>
            </a:solidFill>
          </p:spPr>
        </p:sp>
        <p:sp>
          <p:nvSpPr>
            <p:cNvPr name="TextBox 12" id="12"/>
            <p:cNvSpPr txBox="true"/>
            <p:nvPr/>
          </p:nvSpPr>
          <p:spPr>
            <a:xfrm>
              <a:off x="0" y="28575"/>
              <a:ext cx="416694" cy="89975"/>
            </a:xfrm>
            <a:prstGeom prst="rect">
              <a:avLst/>
            </a:prstGeom>
          </p:spPr>
          <p:txBody>
            <a:bodyPr anchor="ctr" rtlCol="false" tIns="50800" lIns="50800" bIns="50800" rIns="50800"/>
            <a:lstStyle/>
            <a:p>
              <a:pPr algn="ctr">
                <a:lnSpc>
                  <a:spcPts val="1305"/>
                </a:lnSpc>
              </a:pPr>
            </a:p>
          </p:txBody>
        </p:sp>
      </p:grpSp>
      <p:sp>
        <p:nvSpPr>
          <p:cNvPr name="TextBox 13" id="13"/>
          <p:cNvSpPr txBox="true"/>
          <p:nvPr/>
        </p:nvSpPr>
        <p:spPr>
          <a:xfrm rot="0">
            <a:off x="1028700" y="1939452"/>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4" id="14"/>
          <p:cNvSpPr txBox="true"/>
          <p:nvPr/>
        </p:nvSpPr>
        <p:spPr>
          <a:xfrm rot="0">
            <a:off x="10092969" y="2508016"/>
            <a:ext cx="5910830" cy="485775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Clothing Sets : 100% de retours — toutes les lignes sont retournées</a:t>
            </a:r>
          </a:p>
          <a:p>
            <a:pPr algn="l" marL="302261" indent="-151130" lvl="1">
              <a:lnSpc>
                <a:spcPts val="1960"/>
              </a:lnSpc>
              <a:buFont typeface="Arial"/>
              <a:buChar char="•"/>
            </a:pPr>
            <a:r>
              <a:rPr lang="en-US" sz="1400" spc="-68">
                <a:solidFill>
                  <a:srgbClr val="000000"/>
                </a:solidFill>
                <a:latin typeface="Arial"/>
                <a:ea typeface="Arial"/>
                <a:cs typeface="Arial"/>
                <a:sym typeface="Arial"/>
              </a:rPr>
              <a:t>Suits : 60% — taux très élevé révélant des problèmes de coupe</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55% — même problématique que Suits</a:t>
            </a:r>
          </a:p>
          <a:p>
            <a:pPr algn="l" marL="302261" indent="-151130" lvl="1">
              <a:lnSpc>
                <a:spcPts val="1960"/>
              </a:lnSpc>
              <a:buFont typeface="Arial"/>
              <a:buChar char="•"/>
            </a:pPr>
            <a:r>
              <a:rPr lang="en-US" sz="1400" spc="-68">
                <a:solidFill>
                  <a:srgbClr val="000000"/>
                </a:solidFill>
                <a:latin typeface="Arial"/>
                <a:ea typeface="Arial"/>
                <a:cs typeface="Arial"/>
                <a:sym typeface="Arial"/>
              </a:rPr>
              <a:t>Tops &amp; Tees : 47,4% — catégorie à surveiller</a:t>
            </a: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44% malgré son fort CA (3 148 €)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global 2024 : 30,42% (vs 37,87% en 2023 : -7,5 pts)</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Insights clés:</a:t>
            </a:r>
          </a:p>
          <a:p>
            <a:pPr algn="just">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Les catégories Clothing Sets et Suits doivent être revues en priorité. </a:t>
            </a:r>
          </a:p>
          <a:p>
            <a:pPr algn="l" marL="302261" indent="-151130" lvl="1">
              <a:lnSpc>
                <a:spcPts val="1960"/>
              </a:lnSpc>
              <a:buFont typeface="Arial"/>
              <a:buChar char="•"/>
            </a:pPr>
            <a:r>
              <a:rPr lang="en-US" sz="1400" spc="-68">
                <a:solidFill>
                  <a:srgbClr val="000000"/>
                </a:solidFill>
                <a:latin typeface="Arial"/>
                <a:ea typeface="Arial"/>
                <a:cs typeface="Arial"/>
                <a:sym typeface="Arial"/>
              </a:rPr>
              <a:t>Chaque point de retour en moins = marge directement récupérée.</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960"/>
              </a:lnSpc>
              <a:spcBef>
                <a:spcPct val="0"/>
              </a:spcBef>
            </a:pP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698" y="2470116"/>
            <a:ext cx="4837565" cy="1929379"/>
          </a:xfrm>
          <a:custGeom>
            <a:avLst/>
            <a:gdLst/>
            <a:ahLst/>
            <a:cxnLst/>
            <a:rect r="r" b="b" t="t" l="l"/>
            <a:pathLst>
              <a:path h="1929379" w="4837565">
                <a:moveTo>
                  <a:pt x="0" y="0"/>
                </a:moveTo>
                <a:lnTo>
                  <a:pt x="4837566" y="0"/>
                </a:lnTo>
                <a:lnTo>
                  <a:pt x="4837566" y="1929380"/>
                </a:lnTo>
                <a:lnTo>
                  <a:pt x="0" y="1929380"/>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Fidélisation client &amp; Taux de ré-achat </a:t>
            </a:r>
          </a:p>
        </p:txBody>
      </p:sp>
      <p:sp>
        <p:nvSpPr>
          <p:cNvPr name="TextBox 10" id="10"/>
          <p:cNvSpPr txBox="true"/>
          <p:nvPr/>
        </p:nvSpPr>
        <p:spPr>
          <a:xfrm rot="0">
            <a:off x="10178499" y="2750912"/>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
        <p:nvSpPr>
          <p:cNvPr name="Freeform 11" id="11"/>
          <p:cNvSpPr/>
          <p:nvPr/>
        </p:nvSpPr>
        <p:spPr>
          <a:xfrm flipH="false" flipV="false" rot="0">
            <a:off x="1209418" y="4129668"/>
            <a:ext cx="7264245" cy="4349466"/>
          </a:xfrm>
          <a:custGeom>
            <a:avLst/>
            <a:gdLst/>
            <a:ahLst/>
            <a:cxnLst/>
            <a:rect r="r" b="b" t="t" l="l"/>
            <a:pathLst>
              <a:path h="4349466" w="7264245">
                <a:moveTo>
                  <a:pt x="0" y="0"/>
                </a:moveTo>
                <a:lnTo>
                  <a:pt x="7264244" y="0"/>
                </a:lnTo>
                <a:lnTo>
                  <a:pt x="7264244" y="4349466"/>
                </a:lnTo>
                <a:lnTo>
                  <a:pt x="0" y="4349466"/>
                </a:lnTo>
                <a:lnTo>
                  <a:pt x="0" y="0"/>
                </a:lnTo>
                <a:close/>
              </a:path>
            </a:pathLst>
          </a:custGeom>
          <a:blipFill>
            <a:blip r:embed="rId5"/>
            <a:stretch>
              <a:fillRect l="0" t="0" r="0" b="0"/>
            </a:stretch>
          </a:blipFill>
        </p:spPr>
      </p:sp>
      <p:sp>
        <p:nvSpPr>
          <p:cNvPr name="Freeform 12" id="12"/>
          <p:cNvSpPr/>
          <p:nvPr/>
        </p:nvSpPr>
        <p:spPr>
          <a:xfrm flipH="false" flipV="false" rot="0">
            <a:off x="17097423" y="899634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3" id="13"/>
          <p:cNvSpPr txBox="true"/>
          <p:nvPr/>
        </p:nvSpPr>
        <p:spPr>
          <a:xfrm rot="0">
            <a:off x="3078876" y="2636612"/>
            <a:ext cx="386507" cy="276225"/>
          </a:xfrm>
          <a:prstGeom prst="rect">
            <a:avLst/>
          </a:prstGeom>
        </p:spPr>
        <p:txBody>
          <a:bodyPr anchor="t" rtlCol="false" tIns="0" lIns="0" bIns="0" rIns="0">
            <a:spAutoFit/>
          </a:bodyPr>
          <a:lstStyle/>
          <a:p>
            <a:pPr algn="ctr">
              <a:lnSpc>
                <a:spcPts val="2100"/>
              </a:lnSpc>
              <a:spcBef>
                <a:spcPct val="0"/>
              </a:spcBef>
            </a:pPr>
            <a:r>
              <a:rPr lang="en-US" sz="1500" spc="-73">
                <a:solidFill>
                  <a:srgbClr val="000000"/>
                </a:solidFill>
                <a:latin typeface="Arial"/>
                <a:ea typeface="Arial"/>
                <a:cs typeface="Arial"/>
                <a:sym typeface="Arial"/>
              </a:rPr>
              <a:t>2023</a:t>
            </a:r>
          </a:p>
        </p:txBody>
      </p:sp>
      <p:sp>
        <p:nvSpPr>
          <p:cNvPr name="TextBox 14" id="14"/>
          <p:cNvSpPr txBox="true"/>
          <p:nvPr/>
        </p:nvSpPr>
        <p:spPr>
          <a:xfrm rot="0">
            <a:off x="5014881" y="2636612"/>
            <a:ext cx="386507" cy="276225"/>
          </a:xfrm>
          <a:prstGeom prst="rect">
            <a:avLst/>
          </a:prstGeom>
        </p:spPr>
        <p:txBody>
          <a:bodyPr anchor="t" rtlCol="false" tIns="0" lIns="0" bIns="0" rIns="0">
            <a:spAutoFit/>
          </a:bodyPr>
          <a:lstStyle/>
          <a:p>
            <a:pPr algn="ctr">
              <a:lnSpc>
                <a:spcPts val="2100"/>
              </a:lnSpc>
              <a:spcBef>
                <a:spcPct val="0"/>
              </a:spcBef>
            </a:pPr>
            <a:r>
              <a:rPr lang="en-US" sz="1500" spc="-73">
                <a:solidFill>
                  <a:srgbClr val="000000"/>
                </a:solidFill>
                <a:latin typeface="Arial"/>
                <a:ea typeface="Arial"/>
                <a:cs typeface="Arial"/>
                <a:sym typeface="Arial"/>
              </a:rPr>
              <a:t>2024</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sp>
        <p:nvSpPr>
          <p:cNvPr name="Freeform 4" id="4"/>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7259300"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 id="6"/>
          <p:cNvGrpSpPr/>
          <p:nvPr/>
        </p:nvGrpSpPr>
        <p:grpSpPr>
          <a:xfrm rot="0">
            <a:off x="6986947" y="2472398"/>
            <a:ext cx="585429" cy="248130"/>
            <a:chOff x="0" y="0"/>
            <a:chExt cx="154187" cy="65351"/>
          </a:xfrm>
        </p:grpSpPr>
        <p:sp>
          <p:nvSpPr>
            <p:cNvPr name="Freeform 7" id="7"/>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8" id="8"/>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9" id="9"/>
          <p:cNvGrpSpPr/>
          <p:nvPr/>
        </p:nvGrpSpPr>
        <p:grpSpPr>
          <a:xfrm rot="0">
            <a:off x="1028700" y="9081243"/>
            <a:ext cx="3099781" cy="361435"/>
            <a:chOff x="0" y="0"/>
            <a:chExt cx="4133041" cy="481914"/>
          </a:xfrm>
        </p:grpSpPr>
        <p:sp>
          <p:nvSpPr>
            <p:cNvPr name="Freeform 10" id="10"/>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1" id="11"/>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2" id="12"/>
          <p:cNvGrpSpPr/>
          <p:nvPr/>
        </p:nvGrpSpPr>
        <p:grpSpPr>
          <a:xfrm rot="0">
            <a:off x="1028700" y="1028700"/>
            <a:ext cx="4484785" cy="361435"/>
            <a:chOff x="0" y="0"/>
            <a:chExt cx="5979713" cy="481914"/>
          </a:xfrm>
        </p:grpSpPr>
        <p:sp>
          <p:nvSpPr>
            <p:cNvPr name="Freeform 13" id="1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4" id="14"/>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5" id="15"/>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6" id="16"/>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7" id="17"/>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5938653" y="3125361"/>
            <a:ext cx="5009460" cy="5123729"/>
          </a:xfrm>
          <a:custGeom>
            <a:avLst/>
            <a:gdLst/>
            <a:ahLst/>
            <a:cxnLst/>
            <a:rect r="r" b="b" t="t" l="l"/>
            <a:pathLst>
              <a:path h="5123729" w="5009460">
                <a:moveTo>
                  <a:pt x="0" y="0"/>
                </a:moveTo>
                <a:lnTo>
                  <a:pt x="5009460" y="0"/>
                </a:lnTo>
                <a:lnTo>
                  <a:pt x="5009460" y="5123729"/>
                </a:lnTo>
                <a:lnTo>
                  <a:pt x="0" y="5123729"/>
                </a:lnTo>
                <a:lnTo>
                  <a:pt x="0" y="0"/>
                </a:lnTo>
                <a:close/>
              </a:path>
            </a:pathLst>
          </a:custGeom>
          <a:blipFill>
            <a:blip r:embed="rId2"/>
            <a:stretch>
              <a:fillRect l="-61980" t="-7325" r="-55958" b="-11986"/>
            </a:stretch>
          </a:blipFill>
        </p:spPr>
      </p:sp>
      <p:sp>
        <p:nvSpPr>
          <p:cNvPr name="Freeform 3" id="3"/>
          <p:cNvSpPr/>
          <p:nvPr/>
        </p:nvSpPr>
        <p:spPr>
          <a:xfrm flipH="false" flipV="false" rot="0">
            <a:off x="5938653" y="2701408"/>
            <a:ext cx="3580393" cy="324000"/>
          </a:xfrm>
          <a:custGeom>
            <a:avLst/>
            <a:gdLst/>
            <a:ahLst/>
            <a:cxnLst/>
            <a:rect r="r" b="b" t="t" l="l"/>
            <a:pathLst>
              <a:path h="324000" w="3580393">
                <a:moveTo>
                  <a:pt x="0" y="0"/>
                </a:moveTo>
                <a:lnTo>
                  <a:pt x="3580393" y="0"/>
                </a:lnTo>
                <a:lnTo>
                  <a:pt x="3580393" y="324000"/>
                </a:lnTo>
                <a:lnTo>
                  <a:pt x="0" y="324000"/>
                </a:lnTo>
                <a:lnTo>
                  <a:pt x="0" y="0"/>
                </a:lnTo>
                <a:close/>
              </a:path>
            </a:pathLst>
          </a:custGeom>
          <a:blipFill>
            <a:blip r:embed="rId3"/>
            <a:stretch>
              <a:fillRect l="-1470" t="0" r="-5216" b="-6404"/>
            </a:stretch>
          </a:blipFill>
        </p:spPr>
      </p:sp>
      <p:grpSp>
        <p:nvGrpSpPr>
          <p:cNvPr name="Group 4" id="4"/>
          <p:cNvGrpSpPr/>
          <p:nvPr/>
        </p:nvGrpSpPr>
        <p:grpSpPr>
          <a:xfrm rot="0">
            <a:off x="1028700" y="9037170"/>
            <a:ext cx="3099781" cy="361435"/>
            <a:chOff x="0" y="0"/>
            <a:chExt cx="4133041" cy="481914"/>
          </a:xfrm>
        </p:grpSpPr>
        <p:sp>
          <p:nvSpPr>
            <p:cNvPr name="Freeform 5" id="5"/>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6" id="6"/>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7" id="7"/>
          <p:cNvGrpSpPr/>
          <p:nvPr/>
        </p:nvGrpSpPr>
        <p:grpSpPr>
          <a:xfrm rot="0">
            <a:off x="1028700" y="1028700"/>
            <a:ext cx="4484785" cy="361435"/>
            <a:chOff x="0" y="0"/>
            <a:chExt cx="5979713"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10" id="10"/>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1" id="11"/>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2" id="12"/>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8"/>
            <a:stretch>
              <a:fillRect l="0" t="0" r="-22948" b="0"/>
            </a:stretch>
          </a:blipFill>
        </p:spPr>
      </p:sp>
      <p:sp>
        <p:nvSpPr>
          <p:cNvPr name="TextBox 13" id="13"/>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4" id="14"/>
          <p:cNvSpPr txBox="true"/>
          <p:nvPr/>
        </p:nvSpPr>
        <p:spPr>
          <a:xfrm rot="0">
            <a:off x="11479385" y="3396886"/>
            <a:ext cx="5910830" cy="204787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per capita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Potentiel identifié dans les villes entre 500 € et 900 € de CA</a:t>
            </a:r>
          </a:p>
        </p:txBody>
      </p:sp>
      <p:sp>
        <p:nvSpPr>
          <p:cNvPr name="TextBox 15" id="15"/>
          <p:cNvSpPr txBox="true"/>
          <p:nvPr/>
        </p:nvSpPr>
        <p:spPr>
          <a:xfrm rot="0">
            <a:off x="11479385" y="5639601"/>
            <a:ext cx="5628663" cy="235267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Insigh</a:t>
            </a:r>
            <a:r>
              <a:rPr lang="en-US" b="true" sz="1599" spc="-78" u="sng">
                <a:solidFill>
                  <a:srgbClr val="000000"/>
                </a:solidFill>
                <a:latin typeface="Arial Bold"/>
                <a:ea typeface="Arial Bold"/>
                <a:cs typeface="Arial Bold"/>
                <a:sym typeface="Arial Bold"/>
              </a:rPr>
              <a:t>t clé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Cont</a:t>
            </a:r>
            <a:r>
              <a:rPr lang="en-US" sz="1400" spc="-68">
                <a:solidFill>
                  <a:srgbClr val="000000"/>
                </a:solidFill>
                <a:latin typeface="Arial"/>
                <a:ea typeface="Arial"/>
                <a:cs typeface="Arial"/>
                <a:sym typeface="Arial"/>
              </a:rPr>
              <a:t>ra-intuitif : Paris n'est pas dominante. Les villes moyennes représentent un fort potentiel non capturé.</a:t>
            </a:r>
          </a:p>
          <a:p>
            <a:pPr algn="l">
              <a:lnSpc>
                <a:spcPts val="1960"/>
              </a:lnSpc>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Recommandation :</a:t>
            </a:r>
          </a:p>
          <a:p>
            <a:pPr algn="just">
              <a:lnSpc>
                <a:spcPts val="2239"/>
              </a:lnSpc>
              <a:spcBef>
                <a:spcPct val="0"/>
              </a:spcBef>
            </a:pP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Lanc</a:t>
            </a:r>
            <a:r>
              <a:rPr lang="en-US" sz="1400" spc="-68">
                <a:solidFill>
                  <a:srgbClr val="000000"/>
                </a:solidFill>
                <a:latin typeface="Arial"/>
                <a:ea typeface="Arial"/>
                <a:cs typeface="Arial"/>
                <a:sym typeface="Arial"/>
              </a:rPr>
              <a:t>er des campagnes géo-ciblées sur les villes à fort potentiel (500-900€ CA). Objectif : activer 10 nouvelles villes en 2025 pour +15% CA.</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11" id="11"/>
          <p:cNvGrpSpPr/>
          <p:nvPr/>
        </p:nvGrpSpPr>
        <p:grpSpPr>
          <a:xfrm rot="0">
            <a:off x="4217613" y="2184676"/>
            <a:ext cx="9852773" cy="1525869"/>
            <a:chOff x="0" y="0"/>
            <a:chExt cx="13137031" cy="2034492"/>
          </a:xfrm>
        </p:grpSpPr>
        <p:grpSp>
          <p:nvGrpSpPr>
            <p:cNvPr name="Group 12" id="12"/>
            <p:cNvGrpSpPr/>
            <p:nvPr/>
          </p:nvGrpSpPr>
          <p:grpSpPr>
            <a:xfrm rot="0">
              <a:off x="1622325" y="0"/>
              <a:ext cx="11097783" cy="2034492"/>
              <a:chOff x="0" y="0"/>
              <a:chExt cx="2254056" cy="413223"/>
            </a:xfrm>
          </p:grpSpPr>
          <p:sp>
            <p:nvSpPr>
              <p:cNvPr name="Freeform 13" id="13"/>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4" id="14"/>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5" id="15"/>
            <p:cNvGrpSpPr/>
            <p:nvPr/>
          </p:nvGrpSpPr>
          <p:grpSpPr>
            <a:xfrm rot="0">
              <a:off x="0" y="0"/>
              <a:ext cx="1441406" cy="2034492"/>
              <a:chOff x="0" y="0"/>
              <a:chExt cx="292762" cy="413223"/>
            </a:xfrm>
          </p:grpSpPr>
          <p:sp>
            <p:nvSpPr>
              <p:cNvPr name="Freeform 16" id="16"/>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7" id="17"/>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8" id="18"/>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9" id="19"/>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0" id="20"/>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1" id="2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2" id="22"/>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3" id="23"/>
          <p:cNvGrpSpPr/>
          <p:nvPr/>
        </p:nvGrpSpPr>
        <p:grpSpPr>
          <a:xfrm rot="0">
            <a:off x="4217613" y="3939145"/>
            <a:ext cx="9852773" cy="1525869"/>
            <a:chOff x="0" y="0"/>
            <a:chExt cx="13137031" cy="2034492"/>
          </a:xfrm>
        </p:grpSpPr>
        <p:grpSp>
          <p:nvGrpSpPr>
            <p:cNvPr name="Group 24" id="24"/>
            <p:cNvGrpSpPr/>
            <p:nvPr/>
          </p:nvGrpSpPr>
          <p:grpSpPr>
            <a:xfrm rot="0">
              <a:off x="1622325" y="0"/>
              <a:ext cx="11097783" cy="2034492"/>
              <a:chOff x="0" y="0"/>
              <a:chExt cx="2254056" cy="413223"/>
            </a:xfrm>
          </p:grpSpPr>
          <p:sp>
            <p:nvSpPr>
              <p:cNvPr name="Freeform 25" id="25"/>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E99842">
                  <a:alpha val="62745"/>
                </a:srgbClr>
              </a:solidFill>
            </p:spPr>
          </p:sp>
          <p:sp>
            <p:nvSpPr>
              <p:cNvPr name="TextBox 26" id="26"/>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7" id="27"/>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8" id="28"/>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9" id="29"/>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30" id="30"/>
            <p:cNvGrpSpPr/>
            <p:nvPr/>
          </p:nvGrpSpPr>
          <p:grpSpPr>
            <a:xfrm rot="0">
              <a:off x="0" y="0"/>
              <a:ext cx="1441406" cy="2034492"/>
              <a:chOff x="0" y="0"/>
              <a:chExt cx="292762" cy="413223"/>
            </a:xfrm>
          </p:grpSpPr>
          <p:sp>
            <p:nvSpPr>
              <p:cNvPr name="Freeform 31" id="31"/>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E99842"/>
              </a:solidFill>
            </p:spPr>
          </p:sp>
          <p:sp>
            <p:nvSpPr>
              <p:cNvPr name="TextBox 32" id="32"/>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3" id="33"/>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4" id="34"/>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35" id="35"/>
          <p:cNvGrpSpPr/>
          <p:nvPr/>
        </p:nvGrpSpPr>
        <p:grpSpPr>
          <a:xfrm rot="0">
            <a:off x="4217613" y="5693614"/>
            <a:ext cx="9540081" cy="1525869"/>
            <a:chOff x="0" y="0"/>
            <a:chExt cx="12720108" cy="2034492"/>
          </a:xfrm>
        </p:grpSpPr>
        <p:grpSp>
          <p:nvGrpSpPr>
            <p:cNvPr name="Group 36" id="36"/>
            <p:cNvGrpSpPr/>
            <p:nvPr/>
          </p:nvGrpSpPr>
          <p:grpSpPr>
            <a:xfrm rot="0">
              <a:off x="1622325" y="0"/>
              <a:ext cx="11097783" cy="2034492"/>
              <a:chOff x="0" y="0"/>
              <a:chExt cx="2254056" cy="413223"/>
            </a:xfrm>
          </p:grpSpPr>
          <p:sp>
            <p:nvSpPr>
              <p:cNvPr name="Freeform 37" id="37"/>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7ED957">
                  <a:alpha val="62745"/>
                </a:srgbClr>
              </a:solidFill>
            </p:spPr>
          </p:sp>
          <p:sp>
            <p:nvSpPr>
              <p:cNvPr name="TextBox 38" id="38"/>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9" id="39"/>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40" id="40"/>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1" id="41"/>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2" id="42"/>
            <p:cNvGrpSpPr/>
            <p:nvPr/>
          </p:nvGrpSpPr>
          <p:grpSpPr>
            <a:xfrm rot="0">
              <a:off x="0" y="0"/>
              <a:ext cx="1441406" cy="2034492"/>
              <a:chOff x="0" y="0"/>
              <a:chExt cx="292762" cy="413223"/>
            </a:xfrm>
          </p:grpSpPr>
          <p:sp>
            <p:nvSpPr>
              <p:cNvPr name="Freeform 43" id="43"/>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7ED957"/>
              </a:solidFill>
            </p:spPr>
          </p:sp>
          <p:sp>
            <p:nvSpPr>
              <p:cNvPr name="TextBox 44" id="44"/>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5" id="45"/>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6" id="46"/>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grpSp>
        <p:nvGrpSpPr>
          <p:cNvPr name="Group 47" id="47"/>
          <p:cNvGrpSpPr/>
          <p:nvPr/>
        </p:nvGrpSpPr>
        <p:grpSpPr>
          <a:xfrm rot="0">
            <a:off x="4217613" y="7448083"/>
            <a:ext cx="9540081" cy="1525869"/>
            <a:chOff x="0" y="0"/>
            <a:chExt cx="12720108" cy="2034492"/>
          </a:xfrm>
        </p:grpSpPr>
        <p:grpSp>
          <p:nvGrpSpPr>
            <p:cNvPr name="Group 48" id="48"/>
            <p:cNvGrpSpPr/>
            <p:nvPr/>
          </p:nvGrpSpPr>
          <p:grpSpPr>
            <a:xfrm rot="0">
              <a:off x="1622325" y="0"/>
              <a:ext cx="11097783" cy="2034492"/>
              <a:chOff x="0" y="0"/>
              <a:chExt cx="2254056" cy="413223"/>
            </a:xfrm>
          </p:grpSpPr>
          <p:sp>
            <p:nvSpPr>
              <p:cNvPr name="Freeform 49" id="49"/>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B4B4B4">
                  <a:alpha val="62745"/>
                </a:srgbClr>
              </a:solidFill>
            </p:spPr>
          </p:sp>
          <p:sp>
            <p:nvSpPr>
              <p:cNvPr name="TextBox 50" id="50"/>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1" id="51"/>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2" id="52"/>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3" id="53"/>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4" id="54"/>
            <p:cNvGrpSpPr/>
            <p:nvPr/>
          </p:nvGrpSpPr>
          <p:grpSpPr>
            <a:xfrm rot="0">
              <a:off x="0" y="0"/>
              <a:ext cx="1441406" cy="2034492"/>
              <a:chOff x="0" y="0"/>
              <a:chExt cx="292762" cy="413223"/>
            </a:xfrm>
          </p:grpSpPr>
          <p:sp>
            <p:nvSpPr>
              <p:cNvPr name="Freeform 55" id="5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B4B4B4"/>
              </a:solidFill>
            </p:spPr>
          </p:sp>
          <p:sp>
            <p:nvSpPr>
              <p:cNvPr name="TextBox 56" id="5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7" id="57"/>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58" id="58"/>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7255162" y="9023786"/>
            <a:ext cx="313440" cy="439675"/>
          </a:xfrm>
          <a:custGeom>
            <a:avLst/>
            <a:gdLst/>
            <a:ahLst/>
            <a:cxnLst/>
            <a:rect r="r" b="b" t="t" l="l"/>
            <a:pathLst>
              <a:path h="439675" w="313440">
                <a:moveTo>
                  <a:pt x="0" y="0"/>
                </a:moveTo>
                <a:lnTo>
                  <a:pt x="313439" y="0"/>
                </a:lnTo>
                <a:lnTo>
                  <a:pt x="313439" y="439676"/>
                </a:lnTo>
                <a:lnTo>
                  <a:pt x="0" y="43967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6" id="6"/>
          <p:cNvGrpSpPr/>
          <p:nvPr/>
        </p:nvGrpSpPr>
        <p:grpSpPr>
          <a:xfrm rot="0">
            <a:off x="1028700" y="1028700"/>
            <a:ext cx="4329431" cy="361435"/>
            <a:chOff x="0" y="0"/>
            <a:chExt cx="5772575"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8" id="8"/>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9" id="9"/>
          <p:cNvGrpSpPr/>
          <p:nvPr/>
        </p:nvGrpSpPr>
        <p:grpSpPr>
          <a:xfrm rot="0">
            <a:off x="1028700" y="9037170"/>
            <a:ext cx="3099781" cy="361435"/>
            <a:chOff x="0" y="0"/>
            <a:chExt cx="4133041" cy="481914"/>
          </a:xfrm>
        </p:grpSpPr>
        <p:sp>
          <p:nvSpPr>
            <p:cNvPr name="Freeform 10" id="10"/>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1" id="11"/>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2" id="12"/>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3" id="13"/>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