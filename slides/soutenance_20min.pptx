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Arial" charset="1" panose="020B0604020202020204"/>
      <p:regular r:id="rId26"/>
    </p:embeddedFont>
    <p:embeddedFont>
      <p:font typeface="Arial Bold" charset="1" panose="020B0704020202020204"/>
      <p:regular r:id="rId27"/>
    </p:embeddedFont>
    <p:embeddedFont>
      <p:font typeface="TT Interphases Bold" charset="1" panose="02000803060000020004"/>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svg" Type="http://schemas.openxmlformats.org/officeDocument/2006/relationships/image"/><Relationship Id="rId12" Target="../media/image12.png" Type="http://schemas.openxmlformats.org/officeDocument/2006/relationships/image"/><Relationship Id="rId13" Target="../media/image13.svg" Type="http://schemas.openxmlformats.org/officeDocument/2006/relationships/image"/><Relationship Id="rId14" Target="../media/image14.png" Type="http://schemas.openxmlformats.org/officeDocument/2006/relationships/image"/><Relationship Id="rId15" Target="../media/image15.svg" Type="http://schemas.openxmlformats.org/officeDocument/2006/relationships/image"/><Relationship Id="rId16" Target="../media/image16.png" Type="http://schemas.openxmlformats.org/officeDocument/2006/relationships/image"/><Relationship Id="rId17" Target="../media/image17.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 Id="rId9" Target="../media/image9.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0.png" Type="http://schemas.openxmlformats.org/officeDocument/2006/relationships/image"/><Relationship Id="rId5" Target="../media/image21.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 Id="rId6" Target="../media/image2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png" Type="http://schemas.openxmlformats.org/officeDocument/2006/relationships/image"/><Relationship Id="rId6" Target="../media/image3.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 Id="rId6" Target="../media/image30.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7.png" Type="http://schemas.openxmlformats.org/officeDocument/2006/relationships/image"/><Relationship Id="rId6" Target="../media/image32.png" Type="http://schemas.openxmlformats.org/officeDocument/2006/relationships/image"/><Relationship Id="rId7" Target="../media/image3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4.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8.png" Type="http://schemas.openxmlformats.org/officeDocument/2006/relationships/image"/><Relationship Id="rId6" Target="../media/image39.png" Type="http://schemas.openxmlformats.org/officeDocument/2006/relationships/image"/><Relationship Id="rId7" Target="../media/image4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43.png" Type="http://schemas.openxmlformats.org/officeDocument/2006/relationships/image"/><Relationship Id="rId7" Target="../media/image44.svg" Type="http://schemas.openxmlformats.org/officeDocument/2006/relationships/image"/><Relationship Id="rId8" Target="../media/image2.png" Type="http://schemas.openxmlformats.org/officeDocument/2006/relationships/image"/><Relationship Id="rId9"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45.png" Type="http://schemas.openxmlformats.org/officeDocument/2006/relationships/image"/><Relationship Id="rId7" Target="../media/image46.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12" Target="../media/image10.png" Type="http://schemas.openxmlformats.org/officeDocument/2006/relationships/image"/><Relationship Id="rId13" Target="../media/image11.svg" Type="http://schemas.openxmlformats.org/officeDocument/2006/relationships/image"/><Relationship Id="rId14" Target="../media/image12.png" Type="http://schemas.openxmlformats.org/officeDocument/2006/relationships/image"/><Relationship Id="rId15" Target="../media/image13.svg" Type="http://schemas.openxmlformats.org/officeDocument/2006/relationships/image"/><Relationship Id="rId16" Target="../media/image14.png" Type="http://schemas.openxmlformats.org/officeDocument/2006/relationships/image"/><Relationship Id="rId17" Target="../media/image15.sv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7.png" Type="http://schemas.openxmlformats.org/officeDocument/2006/relationships/image"/><Relationship Id="rId3" Target="../media/image48.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0.png" Type="http://schemas.openxmlformats.org/officeDocument/2006/relationships/image"/><Relationship Id="rId7" Target="../media/image21.svg" Type="http://schemas.openxmlformats.org/officeDocument/2006/relationships/image"/><Relationship Id="rId8" Target="../media/image2.png" Type="http://schemas.openxmlformats.org/officeDocument/2006/relationships/image"/><Relationship Id="rId9" Target="../media/image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54389" y="1652572"/>
            <a:ext cx="3490928" cy="3490928"/>
          </a:xfrm>
          <a:custGeom>
            <a:avLst/>
            <a:gdLst/>
            <a:ahLst/>
            <a:cxnLst/>
            <a:rect r="r" b="b" t="t" l="l"/>
            <a:pathLst>
              <a:path h="3490928" w="3490928">
                <a:moveTo>
                  <a:pt x="0" y="0"/>
                </a:moveTo>
                <a:lnTo>
                  <a:pt x="3490928" y="0"/>
                </a:lnTo>
                <a:lnTo>
                  <a:pt x="3490928" y="3490928"/>
                </a:lnTo>
                <a:lnTo>
                  <a:pt x="0" y="3490928"/>
                </a:lnTo>
                <a:lnTo>
                  <a:pt x="0" y="0"/>
                </a:lnTo>
                <a:close/>
              </a:path>
            </a:pathLst>
          </a:custGeom>
          <a:blipFill>
            <a:blip r:embed="rId2"/>
            <a:stretch>
              <a:fillRect l="0" t="0" r="0" b="0"/>
            </a:stretch>
          </a:blipFill>
        </p:spPr>
      </p:sp>
      <p:grpSp>
        <p:nvGrpSpPr>
          <p:cNvPr name="Group 3" id="3"/>
          <p:cNvGrpSpPr/>
          <p:nvPr/>
        </p:nvGrpSpPr>
        <p:grpSpPr>
          <a:xfrm rot="0">
            <a:off x="1028700" y="8915917"/>
            <a:ext cx="16230600" cy="337811"/>
            <a:chOff x="0" y="0"/>
            <a:chExt cx="4274726" cy="88971"/>
          </a:xfrm>
        </p:grpSpPr>
        <p:sp>
          <p:nvSpPr>
            <p:cNvPr name="Freeform 4" id="4"/>
            <p:cNvSpPr/>
            <p:nvPr/>
          </p:nvSpPr>
          <p:spPr>
            <a:xfrm flipH="false" flipV="false" rot="0">
              <a:off x="0" y="0"/>
              <a:ext cx="4274726" cy="88971"/>
            </a:xfrm>
            <a:custGeom>
              <a:avLst/>
              <a:gdLst/>
              <a:ahLst/>
              <a:cxnLst/>
              <a:rect r="r" b="b" t="t" l="l"/>
              <a:pathLst>
                <a:path h="88971" w="4274726">
                  <a:moveTo>
                    <a:pt x="0" y="0"/>
                  </a:moveTo>
                  <a:lnTo>
                    <a:pt x="4274726" y="0"/>
                  </a:lnTo>
                  <a:lnTo>
                    <a:pt x="4274726" y="88971"/>
                  </a:lnTo>
                  <a:lnTo>
                    <a:pt x="0" y="88971"/>
                  </a:lnTo>
                  <a:close/>
                </a:path>
              </a:pathLst>
            </a:custGeom>
            <a:solidFill>
              <a:srgbClr val="004AAD"/>
            </a:solidFill>
          </p:spPr>
        </p:sp>
        <p:sp>
          <p:nvSpPr>
            <p:cNvPr name="TextBox 5" id="5"/>
            <p:cNvSpPr txBox="true"/>
            <p:nvPr/>
          </p:nvSpPr>
          <p:spPr>
            <a:xfrm>
              <a:off x="0" y="57150"/>
              <a:ext cx="4274726" cy="31821"/>
            </a:xfrm>
            <a:prstGeom prst="rect">
              <a:avLst/>
            </a:prstGeom>
          </p:spPr>
          <p:txBody>
            <a:bodyPr anchor="ctr" rtlCol="false" tIns="50800" lIns="50800" bIns="50800" rIns="50800"/>
            <a:lstStyle/>
            <a:p>
              <a:pPr algn="ctr">
                <a:lnSpc>
                  <a:spcPts val="1479"/>
                </a:lnSpc>
              </a:pPr>
            </a:p>
          </p:txBody>
        </p:sp>
      </p:grpSp>
      <p:sp>
        <p:nvSpPr>
          <p:cNvPr name="TextBox 6" id="6"/>
          <p:cNvSpPr txBox="true"/>
          <p:nvPr/>
        </p:nvSpPr>
        <p:spPr>
          <a:xfrm rot="0">
            <a:off x="8056953" y="4115229"/>
            <a:ext cx="9202347" cy="1936750"/>
          </a:xfrm>
          <a:prstGeom prst="rect">
            <a:avLst/>
          </a:prstGeom>
        </p:spPr>
        <p:txBody>
          <a:bodyPr anchor="t" rtlCol="false" tIns="0" lIns="0" bIns="0" rIns="0">
            <a:spAutoFit/>
          </a:bodyPr>
          <a:lstStyle/>
          <a:p>
            <a:pPr algn="r">
              <a:lnSpc>
                <a:spcPts val="7699"/>
              </a:lnSpc>
              <a:spcBef>
                <a:spcPct val="0"/>
              </a:spcBef>
            </a:pPr>
            <a:r>
              <a:rPr lang="en-US" sz="5499" spc="-269">
                <a:solidFill>
                  <a:srgbClr val="AD6200"/>
                </a:solidFill>
                <a:latin typeface="Arial"/>
                <a:ea typeface="Arial"/>
                <a:cs typeface="Arial"/>
                <a:sym typeface="Arial"/>
              </a:rPr>
              <a:t>Analyse e-commerce </a:t>
            </a:r>
          </a:p>
          <a:p>
            <a:pPr algn="r">
              <a:lnSpc>
                <a:spcPts val="7699"/>
              </a:lnSpc>
              <a:spcBef>
                <a:spcPct val="0"/>
              </a:spcBef>
            </a:pPr>
            <a:r>
              <a:rPr lang="en-US" sz="5499" spc="-269">
                <a:solidFill>
                  <a:srgbClr val="AD6200"/>
                </a:solidFill>
                <a:latin typeface="Arial"/>
                <a:ea typeface="Arial"/>
                <a:cs typeface="Arial"/>
                <a:sym typeface="Arial"/>
              </a:rPr>
              <a:t> Women - France - 2023 vs 2024</a:t>
            </a:r>
          </a:p>
        </p:txBody>
      </p:sp>
      <p:sp>
        <p:nvSpPr>
          <p:cNvPr name="TextBox 7" id="7"/>
          <p:cNvSpPr txBox="true"/>
          <p:nvPr/>
        </p:nvSpPr>
        <p:spPr>
          <a:xfrm rot="0">
            <a:off x="1028700" y="2885340"/>
            <a:ext cx="5813524" cy="4911797"/>
          </a:xfrm>
          <a:prstGeom prst="rect">
            <a:avLst/>
          </a:prstGeom>
        </p:spPr>
        <p:txBody>
          <a:bodyPr anchor="t" rtlCol="false" tIns="0" lIns="0" bIns="0" rIns="0">
            <a:spAutoFit/>
          </a:bodyPr>
          <a:lstStyle/>
          <a:p>
            <a:pPr algn="l">
              <a:lnSpc>
                <a:spcPts val="12392"/>
              </a:lnSpc>
            </a:pPr>
            <a:r>
              <a:rPr lang="en-US" sz="14244" spc="-697" b="true">
                <a:solidFill>
                  <a:srgbClr val="3779E3"/>
                </a:solidFill>
                <a:latin typeface="Arial Bold"/>
                <a:ea typeface="Arial Bold"/>
                <a:cs typeface="Arial Bold"/>
                <a:sym typeface="Arial Bold"/>
              </a:rPr>
              <a:t>The</a:t>
            </a:r>
            <a:r>
              <a:rPr lang="en-US" sz="14244" spc="-697" b="true">
                <a:solidFill>
                  <a:srgbClr val="000000"/>
                </a:solidFill>
                <a:latin typeface="Arial Bold"/>
                <a:ea typeface="Arial Bold"/>
                <a:cs typeface="Arial Bold"/>
                <a:sym typeface="Arial Bold"/>
              </a:rPr>
              <a:t> </a:t>
            </a:r>
          </a:p>
          <a:p>
            <a:pPr algn="l">
              <a:lnSpc>
                <a:spcPts val="12392"/>
              </a:lnSpc>
            </a:pPr>
            <a:r>
              <a:rPr lang="en-US" sz="14244" spc="-697" b="true">
                <a:solidFill>
                  <a:srgbClr val="3779E3"/>
                </a:solidFill>
                <a:latin typeface="Arial Bold"/>
                <a:ea typeface="Arial Bold"/>
                <a:cs typeface="Arial Bold"/>
                <a:sym typeface="Arial Bold"/>
              </a:rPr>
              <a:t>Look</a:t>
            </a:r>
            <a:r>
              <a:rPr lang="en-US" sz="14244" spc="-697">
                <a:solidFill>
                  <a:srgbClr val="000000"/>
                </a:solidFill>
                <a:latin typeface="Arial"/>
                <a:ea typeface="Arial"/>
                <a:cs typeface="Arial"/>
                <a:sym typeface="Arial"/>
              </a:rPr>
              <a:t> </a:t>
            </a:r>
          </a:p>
          <a:p>
            <a:pPr algn="l">
              <a:lnSpc>
                <a:spcPts val="12392"/>
              </a:lnSpc>
            </a:pPr>
            <a:r>
              <a:rPr lang="en-US" sz="14244" spc="-697" b="true">
                <a:solidFill>
                  <a:srgbClr val="3779E3"/>
                </a:solidFill>
                <a:latin typeface="Arial Bold"/>
                <a:ea typeface="Arial Bold"/>
                <a:cs typeface="Arial Bold"/>
                <a:sym typeface="Arial Bold"/>
              </a:rPr>
              <a:t>Europe </a:t>
            </a:r>
          </a:p>
        </p:txBody>
      </p:sp>
      <p:grpSp>
        <p:nvGrpSpPr>
          <p:cNvPr name="Group 8" id="8"/>
          <p:cNvGrpSpPr/>
          <p:nvPr/>
        </p:nvGrpSpPr>
        <p:grpSpPr>
          <a:xfrm rot="0">
            <a:off x="1028700" y="1028700"/>
            <a:ext cx="16230600" cy="337811"/>
            <a:chOff x="0" y="0"/>
            <a:chExt cx="4274726" cy="88971"/>
          </a:xfrm>
        </p:grpSpPr>
        <p:sp>
          <p:nvSpPr>
            <p:cNvPr name="Freeform 9" id="9"/>
            <p:cNvSpPr/>
            <p:nvPr/>
          </p:nvSpPr>
          <p:spPr>
            <a:xfrm flipH="false" flipV="false" rot="0">
              <a:off x="0" y="0"/>
              <a:ext cx="4274726" cy="88971"/>
            </a:xfrm>
            <a:custGeom>
              <a:avLst/>
              <a:gdLst/>
              <a:ahLst/>
              <a:cxnLst/>
              <a:rect r="r" b="b" t="t" l="l"/>
              <a:pathLst>
                <a:path h="88971" w="4274726">
                  <a:moveTo>
                    <a:pt x="0" y="0"/>
                  </a:moveTo>
                  <a:lnTo>
                    <a:pt x="4274726" y="0"/>
                  </a:lnTo>
                  <a:lnTo>
                    <a:pt x="4274726" y="88971"/>
                  </a:lnTo>
                  <a:lnTo>
                    <a:pt x="0" y="88971"/>
                  </a:lnTo>
                  <a:close/>
                </a:path>
              </a:pathLst>
            </a:custGeom>
            <a:solidFill>
              <a:srgbClr val="004AAD"/>
            </a:solidFill>
          </p:spPr>
        </p:sp>
        <p:sp>
          <p:nvSpPr>
            <p:cNvPr name="TextBox 10" id="10"/>
            <p:cNvSpPr txBox="true"/>
            <p:nvPr/>
          </p:nvSpPr>
          <p:spPr>
            <a:xfrm>
              <a:off x="0" y="57150"/>
              <a:ext cx="4274726" cy="31821"/>
            </a:xfrm>
            <a:prstGeom prst="rect">
              <a:avLst/>
            </a:prstGeom>
          </p:spPr>
          <p:txBody>
            <a:bodyPr anchor="ctr" rtlCol="false" tIns="50800" lIns="50800" bIns="50800" rIns="50800"/>
            <a:lstStyle/>
            <a:p>
              <a:pPr algn="ctr">
                <a:lnSpc>
                  <a:spcPts val="147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903717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549159" y="1952087"/>
            <a:ext cx="11044774" cy="815341"/>
          </a:xfrm>
          <a:prstGeom prst="rect">
            <a:avLst/>
          </a:prstGeom>
        </p:spPr>
        <p:txBody>
          <a:bodyPr anchor="t" rtlCol="false" tIns="0" lIns="0" bIns="0" rIns="0">
            <a:spAutoFit/>
          </a:bodyPr>
          <a:lstStyle/>
          <a:p>
            <a:pPr algn="l">
              <a:lnSpc>
                <a:spcPts val="5655"/>
              </a:lnSpc>
            </a:pPr>
            <a:r>
              <a:rPr lang="en-US" sz="6500" spc="-318" b="true">
                <a:solidFill>
                  <a:srgbClr val="AD6200"/>
                </a:solidFill>
                <a:latin typeface="Arial Bold"/>
                <a:ea typeface="Arial Bold"/>
                <a:cs typeface="Arial Bold"/>
                <a:sym typeface="Arial Bold"/>
              </a:rPr>
              <a:t>Sommaire de la soutenance</a:t>
            </a:r>
          </a:p>
        </p:txBody>
      </p:sp>
      <p:sp>
        <p:nvSpPr>
          <p:cNvPr name="TextBox 6" id="6"/>
          <p:cNvSpPr txBox="true"/>
          <p:nvPr/>
        </p:nvSpPr>
        <p:spPr>
          <a:xfrm rot="0">
            <a:off x="1549159" y="9134067"/>
            <a:ext cx="2528143" cy="19621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nvGrpSpPr>
          <p:cNvPr name="Group 7" id="7"/>
          <p:cNvGrpSpPr/>
          <p:nvPr/>
        </p:nvGrpSpPr>
        <p:grpSpPr>
          <a:xfrm rot="0">
            <a:off x="1549159" y="3517891"/>
            <a:ext cx="12743947" cy="4837139"/>
            <a:chOff x="0" y="0"/>
            <a:chExt cx="16991929" cy="6449518"/>
          </a:xfrm>
        </p:grpSpPr>
        <p:grpSp>
          <p:nvGrpSpPr>
            <p:cNvPr name="Group 8" id="8"/>
            <p:cNvGrpSpPr/>
            <p:nvPr/>
          </p:nvGrpSpPr>
          <p:grpSpPr>
            <a:xfrm rot="0">
              <a:off x="0" y="0"/>
              <a:ext cx="1158447" cy="1063844"/>
              <a:chOff x="0" y="0"/>
              <a:chExt cx="228829" cy="210142"/>
            </a:xfrm>
          </p:grpSpPr>
          <p:sp>
            <p:nvSpPr>
              <p:cNvPr name="Freeform 9" id="9"/>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10" id="10"/>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11" id="11"/>
            <p:cNvGrpSpPr/>
            <p:nvPr/>
          </p:nvGrpSpPr>
          <p:grpSpPr>
            <a:xfrm rot="0">
              <a:off x="0" y="1343244"/>
              <a:ext cx="1158447" cy="1063844"/>
              <a:chOff x="0" y="0"/>
              <a:chExt cx="228829" cy="210142"/>
            </a:xfrm>
          </p:grpSpPr>
          <p:sp>
            <p:nvSpPr>
              <p:cNvPr name="Freeform 12" id="12"/>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13" id="13"/>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14" id="14"/>
            <p:cNvGrpSpPr/>
            <p:nvPr/>
          </p:nvGrpSpPr>
          <p:grpSpPr>
            <a:xfrm rot="0">
              <a:off x="10054" y="2686487"/>
              <a:ext cx="1158447" cy="1063844"/>
              <a:chOff x="0" y="0"/>
              <a:chExt cx="228829" cy="210142"/>
            </a:xfrm>
          </p:grpSpPr>
          <p:sp>
            <p:nvSpPr>
              <p:cNvPr name="Freeform 15" id="15"/>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16" id="16"/>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17" id="17"/>
            <p:cNvGrpSpPr/>
            <p:nvPr/>
          </p:nvGrpSpPr>
          <p:grpSpPr>
            <a:xfrm rot="0">
              <a:off x="10054" y="4027698"/>
              <a:ext cx="1158447" cy="1063844"/>
              <a:chOff x="0" y="0"/>
              <a:chExt cx="228829" cy="210142"/>
            </a:xfrm>
          </p:grpSpPr>
          <p:sp>
            <p:nvSpPr>
              <p:cNvPr name="Freeform 18" id="18"/>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19" id="19"/>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20" id="20"/>
            <p:cNvGrpSpPr/>
            <p:nvPr/>
          </p:nvGrpSpPr>
          <p:grpSpPr>
            <a:xfrm rot="0">
              <a:off x="10054" y="5385675"/>
              <a:ext cx="1158447" cy="1063844"/>
              <a:chOff x="0" y="0"/>
              <a:chExt cx="228829" cy="210142"/>
            </a:xfrm>
          </p:grpSpPr>
          <p:sp>
            <p:nvSpPr>
              <p:cNvPr name="Freeform 21" id="21"/>
              <p:cNvSpPr/>
              <p:nvPr/>
            </p:nvSpPr>
            <p:spPr>
              <a:xfrm flipH="false" flipV="false" rot="0">
                <a:off x="0" y="0"/>
                <a:ext cx="228829" cy="210142"/>
              </a:xfrm>
              <a:custGeom>
                <a:avLst/>
                <a:gdLst/>
                <a:ahLst/>
                <a:cxnLst/>
                <a:rect r="r" b="b" t="t" l="l"/>
                <a:pathLst>
                  <a:path h="210142" w="228829">
                    <a:moveTo>
                      <a:pt x="0" y="0"/>
                    </a:moveTo>
                    <a:lnTo>
                      <a:pt x="228829" y="0"/>
                    </a:lnTo>
                    <a:lnTo>
                      <a:pt x="228829" y="210142"/>
                    </a:lnTo>
                    <a:lnTo>
                      <a:pt x="0" y="210142"/>
                    </a:lnTo>
                    <a:close/>
                  </a:path>
                </a:pathLst>
              </a:custGeom>
              <a:solidFill>
                <a:srgbClr val="004AAD"/>
              </a:solidFill>
            </p:spPr>
          </p:sp>
          <p:sp>
            <p:nvSpPr>
              <p:cNvPr name="TextBox 22" id="22"/>
              <p:cNvSpPr txBox="true"/>
              <p:nvPr/>
            </p:nvSpPr>
            <p:spPr>
              <a:xfrm>
                <a:off x="0" y="57150"/>
                <a:ext cx="228829" cy="152992"/>
              </a:xfrm>
              <a:prstGeom prst="rect">
                <a:avLst/>
              </a:prstGeom>
            </p:spPr>
            <p:txBody>
              <a:bodyPr anchor="ctr" rtlCol="false" tIns="50800" lIns="50800" bIns="50800" rIns="50800"/>
              <a:lstStyle/>
              <a:p>
                <a:pPr algn="ctr">
                  <a:lnSpc>
                    <a:spcPts val="1479"/>
                  </a:lnSpc>
                </a:pPr>
              </a:p>
            </p:txBody>
          </p:sp>
        </p:grpSp>
        <p:grpSp>
          <p:nvGrpSpPr>
            <p:cNvPr name="Group 23" id="23"/>
            <p:cNvGrpSpPr/>
            <p:nvPr/>
          </p:nvGrpSpPr>
          <p:grpSpPr>
            <a:xfrm rot="0">
              <a:off x="1611239" y="0"/>
              <a:ext cx="15380691" cy="1063844"/>
              <a:chOff x="0" y="0"/>
              <a:chExt cx="3038161" cy="210142"/>
            </a:xfrm>
          </p:grpSpPr>
          <p:sp>
            <p:nvSpPr>
              <p:cNvPr name="Freeform 24" id="24"/>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25" id="25"/>
              <p:cNvSpPr txBox="true"/>
              <p:nvPr/>
            </p:nvSpPr>
            <p:spPr>
              <a:xfrm>
                <a:off x="0" y="57150"/>
                <a:ext cx="3038161" cy="152992"/>
              </a:xfrm>
              <a:prstGeom prst="rect">
                <a:avLst/>
              </a:prstGeom>
            </p:spPr>
            <p:txBody>
              <a:bodyPr anchor="ctr" rtlCol="false" tIns="50800" lIns="50800" bIns="50800" rIns="50800"/>
              <a:lstStyle/>
              <a:p>
                <a:pPr algn="ctr">
                  <a:lnSpc>
                    <a:spcPts val="1479"/>
                  </a:lnSpc>
                </a:pPr>
              </a:p>
              <a:p>
                <a:pPr algn="ctr">
                  <a:lnSpc>
                    <a:spcPts val="1479"/>
                  </a:lnSpc>
                </a:pPr>
              </a:p>
            </p:txBody>
          </p:sp>
        </p:grpSp>
        <p:grpSp>
          <p:nvGrpSpPr>
            <p:cNvPr name="Group 26" id="26"/>
            <p:cNvGrpSpPr/>
            <p:nvPr/>
          </p:nvGrpSpPr>
          <p:grpSpPr>
            <a:xfrm rot="0">
              <a:off x="1611239" y="1343244"/>
              <a:ext cx="15380691" cy="1063844"/>
              <a:chOff x="0" y="0"/>
              <a:chExt cx="3038161" cy="210142"/>
            </a:xfrm>
          </p:grpSpPr>
          <p:sp>
            <p:nvSpPr>
              <p:cNvPr name="Freeform 27" id="27"/>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28" id="28"/>
              <p:cNvSpPr txBox="true"/>
              <p:nvPr/>
            </p:nvSpPr>
            <p:spPr>
              <a:xfrm>
                <a:off x="0" y="57150"/>
                <a:ext cx="3038161" cy="152992"/>
              </a:xfrm>
              <a:prstGeom prst="rect">
                <a:avLst/>
              </a:prstGeom>
            </p:spPr>
            <p:txBody>
              <a:bodyPr anchor="ctr" rtlCol="false" tIns="50800" lIns="50800" bIns="50800" rIns="50800"/>
              <a:lstStyle/>
              <a:p>
                <a:pPr algn="ctr">
                  <a:lnSpc>
                    <a:spcPts val="1479"/>
                  </a:lnSpc>
                </a:pPr>
              </a:p>
            </p:txBody>
          </p:sp>
        </p:grpSp>
        <p:grpSp>
          <p:nvGrpSpPr>
            <p:cNvPr name="Group 29" id="29"/>
            <p:cNvGrpSpPr/>
            <p:nvPr/>
          </p:nvGrpSpPr>
          <p:grpSpPr>
            <a:xfrm rot="0">
              <a:off x="1611239" y="2686487"/>
              <a:ext cx="15380691" cy="1063844"/>
              <a:chOff x="0" y="0"/>
              <a:chExt cx="3038161" cy="210142"/>
            </a:xfrm>
          </p:grpSpPr>
          <p:sp>
            <p:nvSpPr>
              <p:cNvPr name="Freeform 30" id="30"/>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31" id="31"/>
              <p:cNvSpPr txBox="true"/>
              <p:nvPr/>
            </p:nvSpPr>
            <p:spPr>
              <a:xfrm>
                <a:off x="0" y="57150"/>
                <a:ext cx="3038161" cy="152992"/>
              </a:xfrm>
              <a:prstGeom prst="rect">
                <a:avLst/>
              </a:prstGeom>
            </p:spPr>
            <p:txBody>
              <a:bodyPr anchor="ctr" rtlCol="false" tIns="50800" lIns="50800" bIns="50800" rIns="50800"/>
              <a:lstStyle/>
              <a:p>
                <a:pPr algn="ctr">
                  <a:lnSpc>
                    <a:spcPts val="1479"/>
                  </a:lnSpc>
                </a:pPr>
              </a:p>
            </p:txBody>
          </p:sp>
        </p:grpSp>
        <p:grpSp>
          <p:nvGrpSpPr>
            <p:cNvPr name="Group 32" id="32"/>
            <p:cNvGrpSpPr/>
            <p:nvPr/>
          </p:nvGrpSpPr>
          <p:grpSpPr>
            <a:xfrm rot="0">
              <a:off x="1611239" y="4029731"/>
              <a:ext cx="15380691" cy="1063844"/>
              <a:chOff x="0" y="0"/>
              <a:chExt cx="3038161" cy="210142"/>
            </a:xfrm>
          </p:grpSpPr>
          <p:sp>
            <p:nvSpPr>
              <p:cNvPr name="Freeform 33" id="33"/>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34" id="34"/>
              <p:cNvSpPr txBox="true"/>
              <p:nvPr/>
            </p:nvSpPr>
            <p:spPr>
              <a:xfrm>
                <a:off x="0" y="57150"/>
                <a:ext cx="3038161" cy="152992"/>
              </a:xfrm>
              <a:prstGeom prst="rect">
                <a:avLst/>
              </a:prstGeom>
            </p:spPr>
            <p:txBody>
              <a:bodyPr anchor="ctr" rtlCol="false" tIns="50800" lIns="50800" bIns="50800" rIns="50800"/>
              <a:lstStyle/>
              <a:p>
                <a:pPr algn="ctr">
                  <a:lnSpc>
                    <a:spcPts val="1479"/>
                  </a:lnSpc>
                </a:pPr>
              </a:p>
            </p:txBody>
          </p:sp>
        </p:grpSp>
        <p:grpSp>
          <p:nvGrpSpPr>
            <p:cNvPr name="Group 35" id="35"/>
            <p:cNvGrpSpPr/>
            <p:nvPr/>
          </p:nvGrpSpPr>
          <p:grpSpPr>
            <a:xfrm rot="0">
              <a:off x="1611239" y="5372975"/>
              <a:ext cx="15380691" cy="1063844"/>
              <a:chOff x="0" y="0"/>
              <a:chExt cx="3038161" cy="210142"/>
            </a:xfrm>
          </p:grpSpPr>
          <p:sp>
            <p:nvSpPr>
              <p:cNvPr name="Freeform 36" id="36"/>
              <p:cNvSpPr/>
              <p:nvPr/>
            </p:nvSpPr>
            <p:spPr>
              <a:xfrm flipH="false" flipV="false" rot="0">
                <a:off x="0" y="0"/>
                <a:ext cx="3038161" cy="210142"/>
              </a:xfrm>
              <a:custGeom>
                <a:avLst/>
                <a:gdLst/>
                <a:ahLst/>
                <a:cxnLst/>
                <a:rect r="r" b="b" t="t" l="l"/>
                <a:pathLst>
                  <a:path h="210142" w="3038161">
                    <a:moveTo>
                      <a:pt x="0" y="0"/>
                    </a:moveTo>
                    <a:lnTo>
                      <a:pt x="3038161" y="0"/>
                    </a:lnTo>
                    <a:lnTo>
                      <a:pt x="3038161" y="210142"/>
                    </a:lnTo>
                    <a:lnTo>
                      <a:pt x="0" y="210142"/>
                    </a:lnTo>
                    <a:close/>
                  </a:path>
                </a:pathLst>
              </a:custGeom>
              <a:solidFill>
                <a:srgbClr val="004AAD"/>
              </a:solidFill>
            </p:spPr>
          </p:sp>
          <p:sp>
            <p:nvSpPr>
              <p:cNvPr name="TextBox 37" id="37"/>
              <p:cNvSpPr txBox="true"/>
              <p:nvPr/>
            </p:nvSpPr>
            <p:spPr>
              <a:xfrm>
                <a:off x="0" y="57150"/>
                <a:ext cx="3038161" cy="152992"/>
              </a:xfrm>
              <a:prstGeom prst="rect">
                <a:avLst/>
              </a:prstGeom>
            </p:spPr>
            <p:txBody>
              <a:bodyPr anchor="ctr" rtlCol="false" tIns="50800" lIns="50800" bIns="50800" rIns="50800"/>
              <a:lstStyle/>
              <a:p>
                <a:pPr algn="ctr">
                  <a:lnSpc>
                    <a:spcPts val="1479"/>
                  </a:lnSpc>
                </a:pPr>
              </a:p>
            </p:txBody>
          </p:sp>
        </p:grpSp>
        <p:sp>
          <p:nvSpPr>
            <p:cNvPr name="Freeform 38" id="38"/>
            <p:cNvSpPr/>
            <p:nvPr/>
          </p:nvSpPr>
          <p:spPr>
            <a:xfrm flipH="false" flipV="false" rot="0">
              <a:off x="684157" y="243413"/>
              <a:ext cx="239603" cy="586727"/>
            </a:xfrm>
            <a:custGeom>
              <a:avLst/>
              <a:gdLst/>
              <a:ahLst/>
              <a:cxnLst/>
              <a:rect r="r" b="b" t="t" l="l"/>
              <a:pathLst>
                <a:path h="586727" w="239603">
                  <a:moveTo>
                    <a:pt x="0" y="0"/>
                  </a:moveTo>
                  <a:lnTo>
                    <a:pt x="239603" y="0"/>
                  </a:lnTo>
                  <a:lnTo>
                    <a:pt x="239603" y="586727"/>
                  </a:lnTo>
                  <a:lnTo>
                    <a:pt x="0" y="58672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39" id="39"/>
            <p:cNvSpPr/>
            <p:nvPr/>
          </p:nvSpPr>
          <p:spPr>
            <a:xfrm flipH="false" flipV="false" rot="0">
              <a:off x="142821" y="243413"/>
              <a:ext cx="449042" cy="586727"/>
            </a:xfrm>
            <a:custGeom>
              <a:avLst/>
              <a:gdLst/>
              <a:ahLst/>
              <a:cxnLst/>
              <a:rect r="r" b="b" t="t" l="l"/>
              <a:pathLst>
                <a:path h="586727" w="449042">
                  <a:moveTo>
                    <a:pt x="0" y="0"/>
                  </a:moveTo>
                  <a:lnTo>
                    <a:pt x="449042" y="0"/>
                  </a:lnTo>
                  <a:lnTo>
                    <a:pt x="449042"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0" id="40"/>
            <p:cNvSpPr/>
            <p:nvPr/>
          </p:nvSpPr>
          <p:spPr>
            <a:xfrm flipH="false" flipV="false" rot="0">
              <a:off x="140236" y="1581802"/>
              <a:ext cx="449042" cy="586727"/>
            </a:xfrm>
            <a:custGeom>
              <a:avLst/>
              <a:gdLst/>
              <a:ahLst/>
              <a:cxnLst/>
              <a:rect r="r" b="b" t="t" l="l"/>
              <a:pathLst>
                <a:path h="586727" w="449042">
                  <a:moveTo>
                    <a:pt x="0" y="0"/>
                  </a:moveTo>
                  <a:lnTo>
                    <a:pt x="449041" y="0"/>
                  </a:lnTo>
                  <a:lnTo>
                    <a:pt x="449041"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1" id="41"/>
            <p:cNvSpPr/>
            <p:nvPr/>
          </p:nvSpPr>
          <p:spPr>
            <a:xfrm flipH="false" flipV="false" rot="0">
              <a:off x="142821" y="2925046"/>
              <a:ext cx="449042" cy="586727"/>
            </a:xfrm>
            <a:custGeom>
              <a:avLst/>
              <a:gdLst/>
              <a:ahLst/>
              <a:cxnLst/>
              <a:rect r="r" b="b" t="t" l="l"/>
              <a:pathLst>
                <a:path h="586727" w="449042">
                  <a:moveTo>
                    <a:pt x="0" y="0"/>
                  </a:moveTo>
                  <a:lnTo>
                    <a:pt x="449042" y="0"/>
                  </a:lnTo>
                  <a:lnTo>
                    <a:pt x="449042"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2" id="42"/>
            <p:cNvSpPr/>
            <p:nvPr/>
          </p:nvSpPr>
          <p:spPr>
            <a:xfrm flipH="false" flipV="false" rot="0">
              <a:off x="142821" y="4268289"/>
              <a:ext cx="449042" cy="586727"/>
            </a:xfrm>
            <a:custGeom>
              <a:avLst/>
              <a:gdLst/>
              <a:ahLst/>
              <a:cxnLst/>
              <a:rect r="r" b="b" t="t" l="l"/>
              <a:pathLst>
                <a:path h="586727" w="449042">
                  <a:moveTo>
                    <a:pt x="0" y="0"/>
                  </a:moveTo>
                  <a:lnTo>
                    <a:pt x="449042" y="0"/>
                  </a:lnTo>
                  <a:lnTo>
                    <a:pt x="449042"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3" id="43"/>
            <p:cNvSpPr/>
            <p:nvPr/>
          </p:nvSpPr>
          <p:spPr>
            <a:xfrm flipH="false" flipV="false" rot="0">
              <a:off x="142821" y="5624233"/>
              <a:ext cx="449042" cy="586727"/>
            </a:xfrm>
            <a:custGeom>
              <a:avLst/>
              <a:gdLst/>
              <a:ahLst/>
              <a:cxnLst/>
              <a:rect r="r" b="b" t="t" l="l"/>
              <a:pathLst>
                <a:path h="586727" w="449042">
                  <a:moveTo>
                    <a:pt x="0" y="0"/>
                  </a:moveTo>
                  <a:lnTo>
                    <a:pt x="449042" y="0"/>
                  </a:lnTo>
                  <a:lnTo>
                    <a:pt x="449042" y="586727"/>
                  </a:lnTo>
                  <a:lnTo>
                    <a:pt x="0" y="5867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44" id="44"/>
            <p:cNvSpPr/>
            <p:nvPr/>
          </p:nvSpPr>
          <p:spPr>
            <a:xfrm flipH="false" flipV="false" rot="0">
              <a:off x="638253" y="1592005"/>
              <a:ext cx="414447" cy="561082"/>
            </a:xfrm>
            <a:custGeom>
              <a:avLst/>
              <a:gdLst/>
              <a:ahLst/>
              <a:cxnLst/>
              <a:rect r="r" b="b" t="t" l="l"/>
              <a:pathLst>
                <a:path h="561082" w="414447">
                  <a:moveTo>
                    <a:pt x="0" y="0"/>
                  </a:moveTo>
                  <a:lnTo>
                    <a:pt x="414448" y="0"/>
                  </a:lnTo>
                  <a:lnTo>
                    <a:pt x="414448" y="561082"/>
                  </a:lnTo>
                  <a:lnTo>
                    <a:pt x="0" y="56108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5" id="45"/>
            <p:cNvSpPr/>
            <p:nvPr/>
          </p:nvSpPr>
          <p:spPr>
            <a:xfrm flipH="false" flipV="false" rot="0">
              <a:off x="631531" y="2925539"/>
              <a:ext cx="417920" cy="586234"/>
            </a:xfrm>
            <a:custGeom>
              <a:avLst/>
              <a:gdLst/>
              <a:ahLst/>
              <a:cxnLst/>
              <a:rect r="r" b="b" t="t" l="l"/>
              <a:pathLst>
                <a:path h="586234" w="417920">
                  <a:moveTo>
                    <a:pt x="0" y="0"/>
                  </a:moveTo>
                  <a:lnTo>
                    <a:pt x="417919" y="0"/>
                  </a:lnTo>
                  <a:lnTo>
                    <a:pt x="417919" y="586234"/>
                  </a:lnTo>
                  <a:lnTo>
                    <a:pt x="0" y="58623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46" id="46"/>
            <p:cNvSpPr/>
            <p:nvPr/>
          </p:nvSpPr>
          <p:spPr>
            <a:xfrm flipH="false" flipV="false" rot="0">
              <a:off x="605294" y="4264223"/>
              <a:ext cx="502312" cy="590794"/>
            </a:xfrm>
            <a:custGeom>
              <a:avLst/>
              <a:gdLst/>
              <a:ahLst/>
              <a:cxnLst/>
              <a:rect r="r" b="b" t="t" l="l"/>
              <a:pathLst>
                <a:path h="590794" w="502312">
                  <a:moveTo>
                    <a:pt x="0" y="0"/>
                  </a:moveTo>
                  <a:lnTo>
                    <a:pt x="502312" y="0"/>
                  </a:lnTo>
                  <a:lnTo>
                    <a:pt x="502312" y="590793"/>
                  </a:lnTo>
                  <a:lnTo>
                    <a:pt x="0" y="59079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47" id="47"/>
            <p:cNvSpPr/>
            <p:nvPr/>
          </p:nvSpPr>
          <p:spPr>
            <a:xfrm flipH="false" flipV="false" rot="0">
              <a:off x="605294" y="5624233"/>
              <a:ext cx="429768" cy="586727"/>
            </a:xfrm>
            <a:custGeom>
              <a:avLst/>
              <a:gdLst/>
              <a:ahLst/>
              <a:cxnLst/>
              <a:rect r="r" b="b" t="t" l="l"/>
              <a:pathLst>
                <a:path h="586727" w="429768">
                  <a:moveTo>
                    <a:pt x="0" y="0"/>
                  </a:moveTo>
                  <a:lnTo>
                    <a:pt x="429769" y="0"/>
                  </a:lnTo>
                  <a:lnTo>
                    <a:pt x="429769" y="586727"/>
                  </a:lnTo>
                  <a:lnTo>
                    <a:pt x="0" y="58672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48" id="48"/>
            <p:cNvSpPr txBox="true"/>
            <p:nvPr/>
          </p:nvSpPr>
          <p:spPr>
            <a:xfrm rot="0">
              <a:off x="1820536" y="288618"/>
              <a:ext cx="4965073"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Contexte &amp; périmètre</a:t>
              </a:r>
            </a:p>
          </p:txBody>
        </p:sp>
        <p:sp>
          <p:nvSpPr>
            <p:cNvPr name="TextBox 49" id="49"/>
            <p:cNvSpPr txBox="true"/>
            <p:nvPr/>
          </p:nvSpPr>
          <p:spPr>
            <a:xfrm rot="0">
              <a:off x="1820536" y="1658002"/>
              <a:ext cx="4965073"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Qualité des données</a:t>
              </a:r>
            </a:p>
          </p:txBody>
        </p:sp>
        <p:sp>
          <p:nvSpPr>
            <p:cNvPr name="TextBox 50" id="50"/>
            <p:cNvSpPr txBox="true"/>
            <p:nvPr/>
          </p:nvSpPr>
          <p:spPr>
            <a:xfrm rot="0">
              <a:off x="1820536" y="3003987"/>
              <a:ext cx="5437951"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Résultats 2023 vs 2024</a:t>
              </a:r>
            </a:p>
          </p:txBody>
        </p:sp>
        <p:sp>
          <p:nvSpPr>
            <p:cNvPr name="TextBox 51" id="51"/>
            <p:cNvSpPr txBox="true"/>
            <p:nvPr/>
          </p:nvSpPr>
          <p:spPr>
            <a:xfrm rot="0">
              <a:off x="1820536" y="4347231"/>
              <a:ext cx="5933347"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Analyse exploratoire</a:t>
              </a:r>
            </a:p>
          </p:txBody>
        </p:sp>
        <p:sp>
          <p:nvSpPr>
            <p:cNvPr name="TextBox 52" id="52"/>
            <p:cNvSpPr txBox="true"/>
            <p:nvPr/>
          </p:nvSpPr>
          <p:spPr>
            <a:xfrm rot="0">
              <a:off x="1820536" y="5652375"/>
              <a:ext cx="4559749" cy="572516"/>
            </a:xfrm>
            <a:prstGeom prst="rect">
              <a:avLst/>
            </a:prstGeom>
          </p:spPr>
          <p:txBody>
            <a:bodyPr anchor="t" rtlCol="false" tIns="0" lIns="0" bIns="0" rIns="0">
              <a:spAutoFit/>
            </a:bodyPr>
            <a:lstStyle/>
            <a:p>
              <a:pPr algn="l">
                <a:lnSpc>
                  <a:spcPts val="2784"/>
                </a:lnSpc>
              </a:pPr>
              <a:r>
                <a:rPr lang="en-US" sz="3200" spc="-156" b="true">
                  <a:solidFill>
                    <a:srgbClr val="FFFFFF"/>
                  </a:solidFill>
                  <a:latin typeface="Arial Bold"/>
                  <a:ea typeface="Arial Bold"/>
                  <a:cs typeface="Arial Bold"/>
                  <a:sym typeface="Arial Bold"/>
                </a:rPr>
                <a:t>Recommandations</a:t>
              </a:r>
            </a:p>
          </p:txBody>
        </p:sp>
      </p:grpSp>
      <p:sp>
        <p:nvSpPr>
          <p:cNvPr name="TextBox 53" id="53"/>
          <p:cNvSpPr txBox="true"/>
          <p:nvPr/>
        </p:nvSpPr>
        <p:spPr>
          <a:xfrm rot="0">
            <a:off x="1560879" y="1035745"/>
            <a:ext cx="3744441" cy="299720"/>
          </a:xfrm>
          <a:prstGeom prst="rect">
            <a:avLst/>
          </a:prstGeom>
        </p:spPr>
        <p:txBody>
          <a:bodyPr anchor="t" rtlCol="false" tIns="0" lIns="0" bIns="0" rIns="0">
            <a:spAutoFit/>
          </a:bodyPr>
          <a:lstStyle/>
          <a:p>
            <a:pPr algn="ctr">
              <a:lnSpc>
                <a:spcPts val="2380"/>
              </a:lnSpc>
              <a:spcBef>
                <a:spcPct val="0"/>
              </a:spcBef>
            </a:pPr>
            <a:r>
              <a:rPr lang="en-US" b="true" sz="1700" spc="-83">
                <a:solidFill>
                  <a:srgbClr val="000000"/>
                </a:solidFill>
                <a:latin typeface="Arial Bold"/>
                <a:ea typeface="Arial Bold"/>
                <a:cs typeface="Arial Bold"/>
                <a:sym typeface="Arial Bold"/>
              </a:rPr>
              <a:t>TheLook - Women France 2023 vs 2024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8" id="8"/>
          <p:cNvSpPr txBox="true"/>
          <p:nvPr/>
        </p:nvSpPr>
        <p:spPr>
          <a:xfrm rot="0">
            <a:off x="2315618" y="2414548"/>
            <a:ext cx="2482588" cy="2109509"/>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01</a:t>
            </a:r>
          </a:p>
        </p:txBody>
      </p:sp>
      <p:grpSp>
        <p:nvGrpSpPr>
          <p:cNvPr name="Group 9" id="9"/>
          <p:cNvGrpSpPr/>
          <p:nvPr/>
        </p:nvGrpSpPr>
        <p:grpSpPr>
          <a:xfrm rot="0">
            <a:off x="5352422" y="4524057"/>
            <a:ext cx="7583156" cy="1238885"/>
            <a:chOff x="0" y="0"/>
            <a:chExt cx="10110875" cy="1651847"/>
          </a:xfrm>
        </p:grpSpPr>
        <p:sp>
          <p:nvSpPr>
            <p:cNvPr name="TextBox 10" id="10"/>
            <p:cNvSpPr txBox="true"/>
            <p:nvPr/>
          </p:nvSpPr>
          <p:spPr>
            <a:xfrm rot="0">
              <a:off x="0" y="171450"/>
              <a:ext cx="10110875" cy="1144271"/>
            </a:xfrm>
            <a:prstGeom prst="rect">
              <a:avLst/>
            </a:prstGeom>
          </p:spPr>
          <p:txBody>
            <a:bodyPr anchor="t" rtlCol="false" tIns="0" lIns="0" bIns="0" rIns="0">
              <a:spAutoFit/>
            </a:bodyPr>
            <a:lstStyle/>
            <a:p>
              <a:pPr algn="l">
                <a:lnSpc>
                  <a:spcPts val="5655"/>
                </a:lnSpc>
              </a:pPr>
              <a:r>
                <a:rPr lang="en-US" sz="6500" spc="-318" b="true">
                  <a:solidFill>
                    <a:srgbClr val="FFFFFF"/>
                  </a:solidFill>
                  <a:latin typeface="Arial Bold"/>
                  <a:ea typeface="Arial Bold"/>
                  <a:cs typeface="Arial Bold"/>
                  <a:sym typeface="Arial Bold"/>
                </a:rPr>
                <a:t>Contexte &amp; périmètre</a:t>
              </a:r>
            </a:p>
          </p:txBody>
        </p:sp>
        <p:sp>
          <p:nvSpPr>
            <p:cNvPr name="TextBox 11" id="11"/>
            <p:cNvSpPr txBox="true"/>
            <p:nvPr/>
          </p:nvSpPr>
          <p:spPr>
            <a:xfrm rot="0">
              <a:off x="0" y="1268096"/>
              <a:ext cx="10110875" cy="383751"/>
            </a:xfrm>
            <a:prstGeom prst="rect">
              <a:avLst/>
            </a:prstGeom>
          </p:spPr>
          <p:txBody>
            <a:bodyPr anchor="t" rtlCol="false" tIns="0" lIns="0" bIns="0" rIns="0">
              <a:spAutoFit/>
            </a:bodyPr>
            <a:lstStyle/>
            <a:p>
              <a:pPr algn="ctr">
                <a:lnSpc>
                  <a:spcPts val="2380"/>
                </a:lnSpc>
                <a:spcBef>
                  <a:spcPct val="0"/>
                </a:spcBef>
              </a:pPr>
              <a:r>
                <a:rPr lang="en-US" b="true" sz="1700" spc="-83">
                  <a:solidFill>
                    <a:srgbClr val="FFFFFF"/>
                  </a:solidFill>
                  <a:latin typeface="Arial Bold"/>
                  <a:ea typeface="Arial Bold"/>
                  <a:cs typeface="Arial Bold"/>
                  <a:sym typeface="Arial Bold"/>
                </a:rPr>
                <a:t>Source, sous-périmètre, tables BigQuery</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8928018"/>
            <a:ext cx="5455686" cy="361435"/>
            <a:chOff x="0" y="0"/>
            <a:chExt cx="7274248"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693946" y="119671"/>
              <a:ext cx="6580302"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 </a:t>
              </a:r>
            </a:p>
          </p:txBody>
        </p:sp>
      </p:grpSp>
      <p:sp>
        <p:nvSpPr>
          <p:cNvPr name="TextBox 5" id="5"/>
          <p:cNvSpPr txBox="true"/>
          <p:nvPr/>
        </p:nvSpPr>
        <p:spPr>
          <a:xfrm rot="0">
            <a:off x="1547450" y="2834153"/>
            <a:ext cx="8692127" cy="4726305"/>
          </a:xfrm>
          <a:prstGeom prst="rect">
            <a:avLst/>
          </a:prstGeom>
        </p:spPr>
        <p:txBody>
          <a:bodyPr anchor="t" rtlCol="false" tIns="0" lIns="0" bIns="0" rIns="0">
            <a:spAutoFit/>
          </a:bodyPr>
          <a:lstStyle/>
          <a:p>
            <a:pPr algn="l">
              <a:lnSpc>
                <a:spcPts val="2520"/>
              </a:lnSpc>
            </a:pPr>
            <a:r>
              <a:rPr lang="en-US" sz="1800" spc="-88">
                <a:solidFill>
                  <a:srgbClr val="000000"/>
                </a:solidFill>
                <a:latin typeface="Arial"/>
                <a:ea typeface="Arial"/>
                <a:cs typeface="Arial"/>
                <a:sym typeface="Arial"/>
              </a:rPr>
              <a:t>TheLook est un site de vente en ligne de vêtements fictif développé par l'équipe Looker.</a:t>
            </a:r>
          </a:p>
          <a:p>
            <a:pPr algn="l">
              <a:lnSpc>
                <a:spcPts val="2520"/>
              </a:lnSpc>
            </a:pPr>
          </a:p>
          <a:p>
            <a:pPr algn="l">
              <a:lnSpc>
                <a:spcPts val="2520"/>
              </a:lnSpc>
            </a:pPr>
            <a:r>
              <a:rPr lang="en-US" sz="1800" spc="-88">
                <a:solidFill>
                  <a:srgbClr val="000000"/>
                </a:solidFill>
                <a:latin typeface="Arial"/>
                <a:ea typeface="Arial"/>
                <a:cs typeface="Arial"/>
                <a:sym typeface="Arial"/>
              </a:rPr>
              <a:t>L'ensemble de données e-commerce TheLook contient des informations sur les clients, les produits, les commandes, la logistique, les événements Web et les campagnes de marketing numérique. Le contenu de cet ensemble de données est synthétique et est mis à la disposition des professionnels du secteur à des fins de découverte, de test et d'évaluation de produits.</a:t>
            </a:r>
          </a:p>
          <a:p>
            <a:pPr algn="l">
              <a:lnSpc>
                <a:spcPts val="2520"/>
              </a:lnSpc>
            </a:pPr>
          </a:p>
          <a:p>
            <a:pPr algn="l">
              <a:lnSpc>
                <a:spcPts val="2520"/>
              </a:lnSpc>
            </a:pPr>
            <a:r>
              <a:rPr lang="en-US" sz="1800" spc="-88">
                <a:solidFill>
                  <a:srgbClr val="000000"/>
                </a:solidFill>
                <a:latin typeface="Arial"/>
                <a:ea typeface="Arial"/>
                <a:cs typeface="Arial"/>
                <a:sym typeface="Arial"/>
              </a:rPr>
              <a:t>N</a:t>
            </a:r>
            <a:r>
              <a:rPr lang="en-US" sz="1800" spc="-88">
                <a:solidFill>
                  <a:srgbClr val="000000"/>
                </a:solidFill>
                <a:latin typeface="Arial"/>
                <a:ea typeface="Arial"/>
                <a:cs typeface="Arial"/>
                <a:sym typeface="Arial"/>
              </a:rPr>
              <a:t>ous endossons le rôle de Data Analyst au sein de « TheLook Europe ». La direction e‑commerce nous demande d’analyser la performance de l’activité sur un périmètre précis et de comparer l’année 2023 à l’année 2024 sous  le périmètre d’étude : France × Département « Women » × Période du 01/01/2023 au 31/12/2024.</a:t>
            </a:r>
          </a:p>
          <a:p>
            <a:pPr algn="l">
              <a:lnSpc>
                <a:spcPts val="2520"/>
              </a:lnSpc>
            </a:pPr>
          </a:p>
          <a:p>
            <a:pPr algn="l">
              <a:lnSpc>
                <a:spcPts val="2520"/>
              </a:lnSpc>
            </a:pPr>
            <a:r>
              <a:rPr lang="en-US" sz="1800" spc="-88">
                <a:solidFill>
                  <a:srgbClr val="000000"/>
                </a:solidFill>
                <a:latin typeface="Arial"/>
                <a:ea typeface="Arial"/>
                <a:cs typeface="Arial"/>
                <a:sym typeface="Arial"/>
              </a:rPr>
              <a:t>N</a:t>
            </a:r>
            <a:r>
              <a:rPr lang="en-US" sz="1800" spc="-88">
                <a:solidFill>
                  <a:srgbClr val="000000"/>
                </a:solidFill>
                <a:latin typeface="Arial"/>
                <a:ea typeface="Arial"/>
                <a:cs typeface="Arial"/>
                <a:sym typeface="Arial"/>
              </a:rPr>
              <a:t>otre mission : Analyser la performance e-commerce du département Women en France, comparer et comprendre les dynamiques de chiffre d’affaires, marge, retours et comportement client entre 2023 et 2024, puis restituer des recommandations actionnables à la directions.</a:t>
            </a:r>
          </a:p>
        </p:txBody>
      </p:sp>
      <p:grpSp>
        <p:nvGrpSpPr>
          <p:cNvPr name="Group 6" id="6"/>
          <p:cNvGrpSpPr/>
          <p:nvPr/>
        </p:nvGrpSpPr>
        <p:grpSpPr>
          <a:xfrm rot="0">
            <a:off x="1028700" y="847982"/>
            <a:ext cx="4489184" cy="361435"/>
            <a:chOff x="0" y="0"/>
            <a:chExt cx="5985579"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693946" y="110908"/>
              <a:ext cx="5291634" cy="316484"/>
            </a:xfrm>
            <a:prstGeom prst="rect">
              <a:avLst/>
            </a:prstGeom>
          </p:spPr>
          <p:txBody>
            <a:bodyPr anchor="t" rtlCol="false" tIns="0" lIns="0" bIns="0" rIns="0">
              <a:spAutoFit/>
            </a:bodyPr>
            <a:lstStyle/>
            <a:p>
              <a:pPr algn="l">
                <a:lnSpc>
                  <a:spcPts val="1566"/>
                </a:lnSpc>
              </a:pPr>
              <a:r>
                <a:rPr lang="en-US" sz="1800" spc="-88" b="true">
                  <a:solidFill>
                    <a:srgbClr val="000000"/>
                  </a:solidFill>
                  <a:latin typeface="Arial Bold"/>
                  <a:ea typeface="Arial Bold"/>
                  <a:cs typeface="Arial Bold"/>
                  <a:sym typeface="Arial Bold"/>
                </a:rPr>
                <a:t>TheLook - Women France 2023 vs 2024  </a:t>
              </a:r>
            </a:p>
          </p:txBody>
        </p:sp>
      </p:grpSp>
      <p:grpSp>
        <p:nvGrpSpPr>
          <p:cNvPr name="Group 9" id="9"/>
          <p:cNvGrpSpPr/>
          <p:nvPr/>
        </p:nvGrpSpPr>
        <p:grpSpPr>
          <a:xfrm rot="0">
            <a:off x="11030152" y="2477916"/>
            <a:ext cx="2993795" cy="1144074"/>
            <a:chOff x="0" y="0"/>
            <a:chExt cx="3991727" cy="1525433"/>
          </a:xfrm>
        </p:grpSpPr>
        <p:grpSp>
          <p:nvGrpSpPr>
            <p:cNvPr name="Group 10" id="10"/>
            <p:cNvGrpSpPr/>
            <p:nvPr/>
          </p:nvGrpSpPr>
          <p:grpSpPr>
            <a:xfrm rot="0">
              <a:off x="0" y="0"/>
              <a:ext cx="267086" cy="1525433"/>
              <a:chOff x="0" y="0"/>
              <a:chExt cx="52758" cy="301320"/>
            </a:xfrm>
          </p:grpSpPr>
          <p:sp>
            <p:nvSpPr>
              <p:cNvPr name="Freeform 11" id="11"/>
              <p:cNvSpPr/>
              <p:nvPr/>
            </p:nvSpPr>
            <p:spPr>
              <a:xfrm flipH="false" flipV="false" rot="0">
                <a:off x="0" y="0"/>
                <a:ext cx="52758" cy="301320"/>
              </a:xfrm>
              <a:custGeom>
                <a:avLst/>
                <a:gdLst/>
                <a:ahLst/>
                <a:cxnLst/>
                <a:rect r="r" b="b" t="t" l="l"/>
                <a:pathLst>
                  <a:path h="301320" w="52758">
                    <a:moveTo>
                      <a:pt x="0" y="0"/>
                    </a:moveTo>
                    <a:lnTo>
                      <a:pt x="52758" y="0"/>
                    </a:lnTo>
                    <a:lnTo>
                      <a:pt x="52758" y="301320"/>
                    </a:lnTo>
                    <a:lnTo>
                      <a:pt x="0" y="301320"/>
                    </a:lnTo>
                    <a:close/>
                  </a:path>
                </a:pathLst>
              </a:custGeom>
              <a:solidFill>
                <a:srgbClr val="004AAD"/>
              </a:solidFill>
            </p:spPr>
          </p:sp>
          <p:sp>
            <p:nvSpPr>
              <p:cNvPr name="TextBox 12" id="12"/>
              <p:cNvSpPr txBox="true"/>
              <p:nvPr/>
            </p:nvSpPr>
            <p:spPr>
              <a:xfrm>
                <a:off x="0" y="57150"/>
                <a:ext cx="52758" cy="244170"/>
              </a:xfrm>
              <a:prstGeom prst="rect">
                <a:avLst/>
              </a:prstGeom>
            </p:spPr>
            <p:txBody>
              <a:bodyPr anchor="ctr" rtlCol="false" tIns="50800" lIns="50800" bIns="50800" rIns="50800"/>
              <a:lstStyle/>
              <a:p>
                <a:pPr algn="ctr">
                  <a:lnSpc>
                    <a:spcPts val="1479"/>
                  </a:lnSpc>
                </a:pPr>
              </a:p>
            </p:txBody>
          </p:sp>
        </p:grpSp>
        <p:sp>
          <p:nvSpPr>
            <p:cNvPr name="TextBox 13" id="13"/>
            <p:cNvSpPr txBox="true"/>
            <p:nvPr/>
          </p:nvSpPr>
          <p:spPr>
            <a:xfrm rot="0">
              <a:off x="507166" y="173816"/>
              <a:ext cx="3484561" cy="1244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Source</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bigquery-public</a:t>
              </a:r>
            </a:p>
            <a:p>
              <a:pPr algn="l">
                <a:lnSpc>
                  <a:spcPts val="1566"/>
                </a:lnSpc>
              </a:pPr>
              <a:r>
                <a:rPr lang="en-US" sz="1800" spc="-88">
                  <a:solidFill>
                    <a:srgbClr val="000000"/>
                  </a:solidFill>
                  <a:latin typeface="Arial"/>
                  <a:ea typeface="Arial"/>
                  <a:cs typeface="Arial"/>
                  <a:sym typeface="Arial"/>
                </a:rPr>
                <a:t>data.thelook_ecommerce</a:t>
              </a:r>
            </a:p>
          </p:txBody>
        </p:sp>
      </p:grpSp>
      <p:sp>
        <p:nvSpPr>
          <p:cNvPr name="Freeform 14" id="14"/>
          <p:cNvSpPr/>
          <p:nvPr/>
        </p:nvSpPr>
        <p:spPr>
          <a:xfrm flipH="false" flipV="false" rot="0">
            <a:off x="17095652" y="8887188"/>
            <a:ext cx="327295" cy="443095"/>
          </a:xfrm>
          <a:custGeom>
            <a:avLst/>
            <a:gdLst/>
            <a:ahLst/>
            <a:cxnLst/>
            <a:rect r="r" b="b" t="t" l="l"/>
            <a:pathLst>
              <a:path h="443095" w="327295">
                <a:moveTo>
                  <a:pt x="0" y="0"/>
                </a:moveTo>
                <a:lnTo>
                  <a:pt x="327296" y="0"/>
                </a:lnTo>
                <a:lnTo>
                  <a:pt x="327296" y="443095"/>
                </a:lnTo>
                <a:lnTo>
                  <a:pt x="0" y="443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5" id="15"/>
          <p:cNvGrpSpPr/>
          <p:nvPr/>
        </p:nvGrpSpPr>
        <p:grpSpPr>
          <a:xfrm rot="0">
            <a:off x="11030152" y="5698969"/>
            <a:ext cx="6392795" cy="1705814"/>
            <a:chOff x="0" y="0"/>
            <a:chExt cx="8523727" cy="2274419"/>
          </a:xfrm>
        </p:grpSpPr>
        <p:grpSp>
          <p:nvGrpSpPr>
            <p:cNvPr name="Group 16" id="16"/>
            <p:cNvGrpSpPr/>
            <p:nvPr/>
          </p:nvGrpSpPr>
          <p:grpSpPr>
            <a:xfrm rot="0">
              <a:off x="0" y="0"/>
              <a:ext cx="267086" cy="2274419"/>
              <a:chOff x="0" y="0"/>
              <a:chExt cx="52758" cy="449268"/>
            </a:xfrm>
          </p:grpSpPr>
          <p:sp>
            <p:nvSpPr>
              <p:cNvPr name="Freeform 17" id="17"/>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004AAD"/>
              </a:solidFill>
            </p:spPr>
          </p:sp>
          <p:sp>
            <p:nvSpPr>
              <p:cNvPr name="TextBox 18" id="18"/>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19" id="19"/>
            <p:cNvSpPr txBox="true"/>
            <p:nvPr/>
          </p:nvSpPr>
          <p:spPr>
            <a:xfrm rot="0">
              <a:off x="507166" y="407212"/>
              <a:ext cx="8016561" cy="1526670"/>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Périmètre d’étude </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France × Département « Women » × Période du 01/01/2023 au 31/12/2024.</a:t>
              </a:r>
            </a:p>
            <a:p>
              <a:pPr algn="l">
                <a:lnSpc>
                  <a:spcPts val="1653"/>
                </a:lnSpc>
              </a:pPr>
            </a:p>
          </p:txBody>
        </p:sp>
      </p:grpSp>
      <p:sp>
        <p:nvSpPr>
          <p:cNvPr name="TextBox 20" id="20"/>
          <p:cNvSpPr txBox="true"/>
          <p:nvPr/>
        </p:nvSpPr>
        <p:spPr>
          <a:xfrm rot="0">
            <a:off x="7520174" y="1391665"/>
            <a:ext cx="3247653" cy="500380"/>
          </a:xfrm>
          <a:prstGeom prst="rect">
            <a:avLst/>
          </a:prstGeom>
        </p:spPr>
        <p:txBody>
          <a:bodyPr anchor="t" rtlCol="false" tIns="0" lIns="0" bIns="0" rIns="0">
            <a:spAutoFit/>
          </a:bodyPr>
          <a:lstStyle/>
          <a:p>
            <a:pPr algn="ctr">
              <a:lnSpc>
                <a:spcPts val="3919"/>
              </a:lnSpc>
              <a:spcBef>
                <a:spcPct val="0"/>
              </a:spcBef>
            </a:pPr>
            <a:r>
              <a:rPr lang="en-US" b="true" sz="2799" spc="-137">
                <a:solidFill>
                  <a:srgbClr val="000000"/>
                </a:solidFill>
                <a:latin typeface="Arial Bold"/>
                <a:ea typeface="Arial Bold"/>
                <a:cs typeface="Arial Bold"/>
                <a:sym typeface="Arial Bold"/>
              </a:rPr>
              <a:t>Contexte &amp; périmètre</a:t>
            </a:r>
          </a:p>
        </p:txBody>
      </p:sp>
      <p:grpSp>
        <p:nvGrpSpPr>
          <p:cNvPr name="Group 21" id="21"/>
          <p:cNvGrpSpPr/>
          <p:nvPr/>
        </p:nvGrpSpPr>
        <p:grpSpPr>
          <a:xfrm rot="0">
            <a:off x="11030152" y="4088443"/>
            <a:ext cx="2993795" cy="1144074"/>
            <a:chOff x="0" y="0"/>
            <a:chExt cx="3991727" cy="1525433"/>
          </a:xfrm>
        </p:grpSpPr>
        <p:grpSp>
          <p:nvGrpSpPr>
            <p:cNvPr name="Group 22" id="22"/>
            <p:cNvGrpSpPr/>
            <p:nvPr/>
          </p:nvGrpSpPr>
          <p:grpSpPr>
            <a:xfrm rot="0">
              <a:off x="0" y="0"/>
              <a:ext cx="267086" cy="1525433"/>
              <a:chOff x="0" y="0"/>
              <a:chExt cx="52758" cy="301320"/>
            </a:xfrm>
          </p:grpSpPr>
          <p:sp>
            <p:nvSpPr>
              <p:cNvPr name="Freeform 23" id="23"/>
              <p:cNvSpPr/>
              <p:nvPr/>
            </p:nvSpPr>
            <p:spPr>
              <a:xfrm flipH="false" flipV="false" rot="0">
                <a:off x="0" y="0"/>
                <a:ext cx="52758" cy="301320"/>
              </a:xfrm>
              <a:custGeom>
                <a:avLst/>
                <a:gdLst/>
                <a:ahLst/>
                <a:cxnLst/>
                <a:rect r="r" b="b" t="t" l="l"/>
                <a:pathLst>
                  <a:path h="301320" w="52758">
                    <a:moveTo>
                      <a:pt x="0" y="0"/>
                    </a:moveTo>
                    <a:lnTo>
                      <a:pt x="52758" y="0"/>
                    </a:lnTo>
                    <a:lnTo>
                      <a:pt x="52758" y="301320"/>
                    </a:lnTo>
                    <a:lnTo>
                      <a:pt x="0" y="301320"/>
                    </a:lnTo>
                    <a:close/>
                  </a:path>
                </a:pathLst>
              </a:custGeom>
              <a:solidFill>
                <a:srgbClr val="FF3131"/>
              </a:solidFill>
            </p:spPr>
          </p:sp>
          <p:sp>
            <p:nvSpPr>
              <p:cNvPr name="TextBox 24" id="24"/>
              <p:cNvSpPr txBox="true"/>
              <p:nvPr/>
            </p:nvSpPr>
            <p:spPr>
              <a:xfrm>
                <a:off x="0" y="57150"/>
                <a:ext cx="52758" cy="244170"/>
              </a:xfrm>
              <a:prstGeom prst="rect">
                <a:avLst/>
              </a:prstGeom>
            </p:spPr>
            <p:txBody>
              <a:bodyPr anchor="ctr" rtlCol="false" tIns="50800" lIns="50800" bIns="50800" rIns="50800"/>
              <a:lstStyle/>
              <a:p>
                <a:pPr algn="ctr">
                  <a:lnSpc>
                    <a:spcPts val="1479"/>
                  </a:lnSpc>
                </a:pPr>
              </a:p>
            </p:txBody>
          </p:sp>
        </p:grpSp>
        <p:sp>
          <p:nvSpPr>
            <p:cNvPr name="TextBox 25" id="25"/>
            <p:cNvSpPr txBox="true"/>
            <p:nvPr/>
          </p:nvSpPr>
          <p:spPr>
            <a:xfrm rot="0">
              <a:off x="507166" y="173816"/>
              <a:ext cx="3484561" cy="1244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Méthode</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SQL → EDA Python</a:t>
              </a:r>
            </a:p>
            <a:p>
              <a:pPr algn="l">
                <a:lnSpc>
                  <a:spcPts val="1566"/>
                </a:lnSpc>
              </a:pPr>
              <a:r>
                <a:rPr lang="en-US" sz="1800" spc="-88">
                  <a:solidFill>
                    <a:srgbClr val="000000"/>
                  </a:solidFill>
                  <a:latin typeface="Arial"/>
                  <a:ea typeface="Arial"/>
                  <a:cs typeface="Arial"/>
                  <a:sym typeface="Arial"/>
                </a:rPr>
                <a:t>→ Dash</a:t>
              </a:r>
              <a:r>
                <a:rPr lang="en-US" sz="1800" spc="-88">
                  <a:solidFill>
                    <a:srgbClr val="000000"/>
                  </a:solidFill>
                  <a:latin typeface="Arial"/>
                  <a:ea typeface="Arial"/>
                  <a:cs typeface="Arial"/>
                  <a:sym typeface="Arial"/>
                </a:rPr>
                <a:t>board Power BI</a:t>
              </a:r>
            </a:p>
          </p:txBody>
        </p:sp>
      </p:grpSp>
      <p:grpSp>
        <p:nvGrpSpPr>
          <p:cNvPr name="Group 26" id="26"/>
          <p:cNvGrpSpPr/>
          <p:nvPr/>
        </p:nvGrpSpPr>
        <p:grpSpPr>
          <a:xfrm rot="0">
            <a:off x="14429153" y="4088443"/>
            <a:ext cx="2993795" cy="1144074"/>
            <a:chOff x="0" y="0"/>
            <a:chExt cx="3991727" cy="1525433"/>
          </a:xfrm>
        </p:grpSpPr>
        <p:grpSp>
          <p:nvGrpSpPr>
            <p:cNvPr name="Group 27" id="27"/>
            <p:cNvGrpSpPr/>
            <p:nvPr/>
          </p:nvGrpSpPr>
          <p:grpSpPr>
            <a:xfrm rot="0">
              <a:off x="0" y="0"/>
              <a:ext cx="267086" cy="1525433"/>
              <a:chOff x="0" y="0"/>
              <a:chExt cx="52758" cy="301320"/>
            </a:xfrm>
          </p:grpSpPr>
          <p:sp>
            <p:nvSpPr>
              <p:cNvPr name="Freeform 28" id="28"/>
              <p:cNvSpPr/>
              <p:nvPr/>
            </p:nvSpPr>
            <p:spPr>
              <a:xfrm flipH="false" flipV="false" rot="0">
                <a:off x="0" y="0"/>
                <a:ext cx="52758" cy="301320"/>
              </a:xfrm>
              <a:custGeom>
                <a:avLst/>
                <a:gdLst/>
                <a:ahLst/>
                <a:cxnLst/>
                <a:rect r="r" b="b" t="t" l="l"/>
                <a:pathLst>
                  <a:path h="301320" w="52758">
                    <a:moveTo>
                      <a:pt x="0" y="0"/>
                    </a:moveTo>
                    <a:lnTo>
                      <a:pt x="52758" y="0"/>
                    </a:lnTo>
                    <a:lnTo>
                      <a:pt x="52758" y="301320"/>
                    </a:lnTo>
                    <a:lnTo>
                      <a:pt x="0" y="301320"/>
                    </a:lnTo>
                    <a:close/>
                  </a:path>
                </a:pathLst>
              </a:custGeom>
              <a:solidFill>
                <a:srgbClr val="B4B4B4"/>
              </a:solidFill>
            </p:spPr>
          </p:sp>
          <p:sp>
            <p:nvSpPr>
              <p:cNvPr name="TextBox 29" id="29"/>
              <p:cNvSpPr txBox="true"/>
              <p:nvPr/>
            </p:nvSpPr>
            <p:spPr>
              <a:xfrm>
                <a:off x="0" y="57150"/>
                <a:ext cx="52758" cy="244170"/>
              </a:xfrm>
              <a:prstGeom prst="rect">
                <a:avLst/>
              </a:prstGeom>
            </p:spPr>
            <p:txBody>
              <a:bodyPr anchor="ctr" rtlCol="false" tIns="50800" lIns="50800" bIns="50800" rIns="50800"/>
              <a:lstStyle/>
              <a:p>
                <a:pPr algn="ctr">
                  <a:lnSpc>
                    <a:spcPts val="1479"/>
                  </a:lnSpc>
                </a:pPr>
              </a:p>
            </p:txBody>
          </p:sp>
        </p:grpSp>
        <p:sp>
          <p:nvSpPr>
            <p:cNvPr name="TextBox 30" id="30"/>
            <p:cNvSpPr txBox="true"/>
            <p:nvPr/>
          </p:nvSpPr>
          <p:spPr>
            <a:xfrm rot="0">
              <a:off x="507166" y="173816"/>
              <a:ext cx="3484561" cy="1244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Données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1 679</a:t>
              </a:r>
              <a:r>
                <a:rPr lang="en-US" sz="1800" spc="-88">
                  <a:solidFill>
                    <a:srgbClr val="000000"/>
                  </a:solidFill>
                  <a:latin typeface="Arial"/>
                  <a:ea typeface="Arial"/>
                  <a:cs typeface="Arial"/>
                  <a:sym typeface="Arial"/>
                </a:rPr>
                <a:t> lignes · 20 colonnes</a:t>
              </a:r>
            </a:p>
            <a:p>
              <a:pPr algn="l">
                <a:lnSpc>
                  <a:spcPts val="1566"/>
                </a:lnSpc>
              </a:pPr>
            </a:p>
          </p:txBody>
        </p:sp>
      </p:grpSp>
      <p:grpSp>
        <p:nvGrpSpPr>
          <p:cNvPr name="Group 31" id="31"/>
          <p:cNvGrpSpPr/>
          <p:nvPr/>
        </p:nvGrpSpPr>
        <p:grpSpPr>
          <a:xfrm rot="0">
            <a:off x="14429153" y="2477643"/>
            <a:ext cx="2994710" cy="1144074"/>
            <a:chOff x="0" y="0"/>
            <a:chExt cx="3992947" cy="1525433"/>
          </a:xfrm>
        </p:grpSpPr>
        <p:grpSp>
          <p:nvGrpSpPr>
            <p:cNvPr name="Group 32" id="32"/>
            <p:cNvGrpSpPr/>
            <p:nvPr/>
          </p:nvGrpSpPr>
          <p:grpSpPr>
            <a:xfrm rot="0">
              <a:off x="0" y="0"/>
              <a:ext cx="267086" cy="1525433"/>
              <a:chOff x="0" y="0"/>
              <a:chExt cx="52758" cy="301320"/>
            </a:xfrm>
          </p:grpSpPr>
          <p:sp>
            <p:nvSpPr>
              <p:cNvPr name="Freeform 33" id="33"/>
              <p:cNvSpPr/>
              <p:nvPr/>
            </p:nvSpPr>
            <p:spPr>
              <a:xfrm flipH="false" flipV="false" rot="0">
                <a:off x="0" y="0"/>
                <a:ext cx="52758" cy="301320"/>
              </a:xfrm>
              <a:custGeom>
                <a:avLst/>
                <a:gdLst/>
                <a:ahLst/>
                <a:cxnLst/>
                <a:rect r="r" b="b" t="t" l="l"/>
                <a:pathLst>
                  <a:path h="301320" w="52758">
                    <a:moveTo>
                      <a:pt x="0" y="0"/>
                    </a:moveTo>
                    <a:lnTo>
                      <a:pt x="52758" y="0"/>
                    </a:lnTo>
                    <a:lnTo>
                      <a:pt x="52758" y="301320"/>
                    </a:lnTo>
                    <a:lnTo>
                      <a:pt x="0" y="301320"/>
                    </a:lnTo>
                    <a:close/>
                  </a:path>
                </a:pathLst>
              </a:custGeom>
              <a:solidFill>
                <a:srgbClr val="449864"/>
              </a:solidFill>
            </p:spPr>
          </p:sp>
          <p:sp>
            <p:nvSpPr>
              <p:cNvPr name="TextBox 34" id="34"/>
              <p:cNvSpPr txBox="true"/>
              <p:nvPr/>
            </p:nvSpPr>
            <p:spPr>
              <a:xfrm>
                <a:off x="0" y="57150"/>
                <a:ext cx="52758" cy="244170"/>
              </a:xfrm>
              <a:prstGeom prst="rect">
                <a:avLst/>
              </a:prstGeom>
            </p:spPr>
            <p:txBody>
              <a:bodyPr anchor="ctr" rtlCol="false" tIns="50800" lIns="50800" bIns="50800" rIns="50800"/>
              <a:lstStyle/>
              <a:p>
                <a:pPr algn="ctr">
                  <a:lnSpc>
                    <a:spcPts val="1479"/>
                  </a:lnSpc>
                </a:pPr>
              </a:p>
            </p:txBody>
          </p:sp>
        </p:grpSp>
        <p:sp>
          <p:nvSpPr>
            <p:cNvPr name="TextBox 35" id="35"/>
            <p:cNvSpPr txBox="true"/>
            <p:nvPr/>
          </p:nvSpPr>
          <p:spPr>
            <a:xfrm rot="0">
              <a:off x="508386" y="173816"/>
              <a:ext cx="3484561" cy="1244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Outils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a:solidFill>
                    <a:srgbClr val="000000"/>
                  </a:solidFill>
                  <a:latin typeface="Arial"/>
                  <a:ea typeface="Arial"/>
                  <a:cs typeface="Arial"/>
                  <a:sym typeface="Arial"/>
                </a:rPr>
                <a:t>Python • SQL B</a:t>
              </a:r>
              <a:r>
                <a:rPr lang="en-US" sz="1800" spc="-88">
                  <a:solidFill>
                    <a:srgbClr val="000000"/>
                  </a:solidFill>
                  <a:latin typeface="Arial"/>
                  <a:ea typeface="Arial"/>
                  <a:cs typeface="Arial"/>
                  <a:sym typeface="Arial"/>
                </a:rPr>
                <a:t>igQuery</a:t>
              </a:r>
            </a:p>
            <a:p>
              <a:pPr algn="l">
                <a:lnSpc>
                  <a:spcPts val="1566"/>
                </a:lnSpc>
              </a:pPr>
              <a:r>
                <a:rPr lang="en-US" sz="1800" spc="-88">
                  <a:solidFill>
                    <a:srgbClr val="000000"/>
                  </a:solidFill>
                  <a:latin typeface="Arial"/>
                  <a:ea typeface="Arial"/>
                  <a:cs typeface="Arial"/>
                  <a:sym typeface="Arial"/>
                </a:rPr>
                <a:t>Power BI • Git</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83609" cy="361435"/>
            <a:chOff x="0" y="0"/>
            <a:chExt cx="4111479"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40622"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8" id="8"/>
          <p:cNvSpPr txBox="true"/>
          <p:nvPr/>
        </p:nvSpPr>
        <p:spPr>
          <a:xfrm rot="0">
            <a:off x="2315618" y="2362915"/>
            <a:ext cx="2482588" cy="2102741"/>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02</a:t>
            </a:r>
          </a:p>
        </p:txBody>
      </p:sp>
      <p:grpSp>
        <p:nvGrpSpPr>
          <p:cNvPr name="Group 9" id="9"/>
          <p:cNvGrpSpPr/>
          <p:nvPr/>
        </p:nvGrpSpPr>
        <p:grpSpPr>
          <a:xfrm rot="0">
            <a:off x="5086350" y="4650105"/>
            <a:ext cx="8115300" cy="1238883"/>
            <a:chOff x="0" y="0"/>
            <a:chExt cx="10820400" cy="1651844"/>
          </a:xfrm>
        </p:grpSpPr>
        <p:sp>
          <p:nvSpPr>
            <p:cNvPr name="TextBox 10" id="10"/>
            <p:cNvSpPr txBox="true"/>
            <p:nvPr/>
          </p:nvSpPr>
          <p:spPr>
            <a:xfrm rot="0">
              <a:off x="0" y="171450"/>
              <a:ext cx="10820400" cy="1144271"/>
            </a:xfrm>
            <a:prstGeom prst="rect">
              <a:avLst/>
            </a:prstGeom>
          </p:spPr>
          <p:txBody>
            <a:bodyPr anchor="t" rtlCol="false" tIns="0" lIns="0" bIns="0" rIns="0">
              <a:spAutoFit/>
            </a:bodyPr>
            <a:lstStyle/>
            <a:p>
              <a:pPr algn="ctr">
                <a:lnSpc>
                  <a:spcPts val="5655"/>
                </a:lnSpc>
              </a:pPr>
              <a:r>
                <a:rPr lang="en-US" b="true" sz="6500" spc="-318">
                  <a:solidFill>
                    <a:srgbClr val="FFFFFF"/>
                  </a:solidFill>
                  <a:latin typeface="Arial Bold"/>
                  <a:ea typeface="Arial Bold"/>
                  <a:cs typeface="Arial Bold"/>
                  <a:sym typeface="Arial Bold"/>
                </a:rPr>
                <a:t>Q</a:t>
              </a:r>
              <a:r>
                <a:rPr lang="en-US" b="true" sz="6500" spc="-318">
                  <a:solidFill>
                    <a:srgbClr val="FFFFFF"/>
                  </a:solidFill>
                  <a:latin typeface="Arial Bold"/>
                  <a:ea typeface="Arial Bold"/>
                  <a:cs typeface="Arial Bold"/>
                  <a:sym typeface="Arial Bold"/>
                </a:rPr>
                <a:t>ualité des données</a:t>
              </a:r>
            </a:p>
          </p:txBody>
        </p:sp>
        <p:sp>
          <p:nvSpPr>
            <p:cNvPr name="TextBox 11" id="11"/>
            <p:cNvSpPr txBox="true"/>
            <p:nvPr/>
          </p:nvSpPr>
          <p:spPr>
            <a:xfrm rot="0">
              <a:off x="3283893" y="1268096"/>
              <a:ext cx="4252615" cy="383748"/>
            </a:xfrm>
            <a:prstGeom prst="rect">
              <a:avLst/>
            </a:prstGeom>
          </p:spPr>
          <p:txBody>
            <a:bodyPr anchor="t" rtlCol="false" tIns="0" lIns="0" bIns="0" rIns="0">
              <a:spAutoFit/>
            </a:bodyPr>
            <a:lstStyle/>
            <a:p>
              <a:pPr algn="ctr">
                <a:lnSpc>
                  <a:spcPts val="2380"/>
                </a:lnSpc>
                <a:spcBef>
                  <a:spcPct val="0"/>
                </a:spcBef>
              </a:pPr>
              <a:r>
                <a:rPr lang="en-US" b="true" sz="1700" spc="-83">
                  <a:solidFill>
                    <a:srgbClr val="FFFFFF"/>
                  </a:solidFill>
                  <a:latin typeface="Arial Bold"/>
                  <a:ea typeface="Arial Bold"/>
                  <a:cs typeface="Arial Bold"/>
                  <a:sym typeface="Arial Bold"/>
                </a:rPr>
                <a:t>Contrôles, nettoyage, conventions</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9145905"/>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847982"/>
            <a:ext cx="4564231" cy="361435"/>
            <a:chOff x="0" y="0"/>
            <a:chExt cx="6085641"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762184" y="110908"/>
              <a:ext cx="5323456" cy="316484"/>
            </a:xfrm>
            <a:prstGeom prst="rect">
              <a:avLst/>
            </a:prstGeom>
          </p:spPr>
          <p:txBody>
            <a:bodyPr anchor="t" rtlCol="false" tIns="0" lIns="0" bIns="0" rIns="0">
              <a:spAutoFit/>
            </a:bodyPr>
            <a:lstStyle/>
            <a:p>
              <a:pPr algn="l">
                <a:lnSpc>
                  <a:spcPts val="1566"/>
                </a:lnSpc>
              </a:pPr>
              <a:r>
                <a:rPr lang="en-US" sz="1800" spc="-88" b="true">
                  <a:solidFill>
                    <a:srgbClr val="000000"/>
                  </a:solidFill>
                  <a:latin typeface="Arial Bold"/>
                  <a:ea typeface="Arial Bold"/>
                  <a:cs typeface="Arial Bold"/>
                  <a:sym typeface="Arial Bold"/>
                </a:rPr>
                <a:t>TheLook - Women France 2023 vs 2024 </a:t>
              </a:r>
            </a:p>
          </p:txBody>
        </p:sp>
      </p:grpSp>
      <p:sp>
        <p:nvSpPr>
          <p:cNvPr name="TextBox 6" id="6"/>
          <p:cNvSpPr txBox="true"/>
          <p:nvPr/>
        </p:nvSpPr>
        <p:spPr>
          <a:xfrm rot="0">
            <a:off x="1533007" y="9242802"/>
            <a:ext cx="2528143" cy="19621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nvGrpSpPr>
          <p:cNvPr name="Group 7" id="7"/>
          <p:cNvGrpSpPr/>
          <p:nvPr/>
        </p:nvGrpSpPr>
        <p:grpSpPr>
          <a:xfrm rot="0">
            <a:off x="1209418" y="2589502"/>
            <a:ext cx="6392795" cy="1705814"/>
            <a:chOff x="0" y="0"/>
            <a:chExt cx="8523727" cy="2274419"/>
          </a:xfrm>
        </p:grpSpPr>
        <p:grpSp>
          <p:nvGrpSpPr>
            <p:cNvPr name="Group 8" id="8"/>
            <p:cNvGrpSpPr/>
            <p:nvPr/>
          </p:nvGrpSpPr>
          <p:grpSpPr>
            <a:xfrm rot="0">
              <a:off x="0" y="0"/>
              <a:ext cx="267086" cy="2274419"/>
              <a:chOff x="0" y="0"/>
              <a:chExt cx="52758" cy="449268"/>
            </a:xfrm>
          </p:grpSpPr>
          <p:sp>
            <p:nvSpPr>
              <p:cNvPr name="Freeform 9" id="9"/>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7ED957"/>
              </a:solidFill>
            </p:spPr>
          </p:sp>
          <p:sp>
            <p:nvSpPr>
              <p:cNvPr name="TextBox 10" id="10"/>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11" id="11"/>
            <p:cNvSpPr txBox="true"/>
            <p:nvPr/>
          </p:nvSpPr>
          <p:spPr>
            <a:xfrm rot="0">
              <a:off x="507166" y="182040"/>
              <a:ext cx="8016561" cy="1752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Doublons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0 do</a:t>
              </a:r>
              <a:r>
                <a:rPr lang="en-US" sz="1800" spc="-88" b="true">
                  <a:solidFill>
                    <a:srgbClr val="000000"/>
                  </a:solidFill>
                  <a:latin typeface="Arial Bold"/>
                  <a:ea typeface="Arial Bold"/>
                  <a:cs typeface="Arial Bold"/>
                  <a:sym typeface="Arial Bold"/>
                </a:rPr>
                <a:t>ublon détecté</a:t>
              </a:r>
            </a:p>
            <a:p>
              <a:pPr algn="l">
                <a:lnSpc>
                  <a:spcPts val="1566"/>
                </a:lnSpc>
              </a:pPr>
            </a:p>
            <a:p>
              <a:pPr algn="l">
                <a:lnSpc>
                  <a:spcPts val="1566"/>
                </a:lnSpc>
              </a:pPr>
            </a:p>
            <a:p>
              <a:pPr algn="l">
                <a:lnSpc>
                  <a:spcPts val="1566"/>
                </a:lnSpc>
              </a:pPr>
              <a:r>
                <a:rPr lang="en-US" sz="1800" spc="-88">
                  <a:solidFill>
                    <a:srgbClr val="000000"/>
                  </a:solidFill>
                  <a:latin typeface="Arial"/>
                  <a:ea typeface="Arial"/>
                  <a:cs typeface="Arial"/>
                  <a:sym typeface="Arial"/>
                </a:rPr>
                <a:t>order_item_id unique - intégrité confirmée</a:t>
              </a:r>
            </a:p>
          </p:txBody>
        </p:sp>
      </p:grpSp>
      <p:grpSp>
        <p:nvGrpSpPr>
          <p:cNvPr name="Group 12" id="12"/>
          <p:cNvGrpSpPr/>
          <p:nvPr/>
        </p:nvGrpSpPr>
        <p:grpSpPr>
          <a:xfrm rot="0">
            <a:off x="10188451" y="2589502"/>
            <a:ext cx="6392795" cy="1705814"/>
            <a:chOff x="0" y="0"/>
            <a:chExt cx="8523727" cy="2274419"/>
          </a:xfrm>
        </p:grpSpPr>
        <p:grpSp>
          <p:nvGrpSpPr>
            <p:cNvPr name="Group 13" id="13"/>
            <p:cNvGrpSpPr/>
            <p:nvPr/>
          </p:nvGrpSpPr>
          <p:grpSpPr>
            <a:xfrm rot="0">
              <a:off x="0" y="0"/>
              <a:ext cx="267086" cy="2274419"/>
              <a:chOff x="0" y="0"/>
              <a:chExt cx="52758" cy="449268"/>
            </a:xfrm>
          </p:grpSpPr>
          <p:sp>
            <p:nvSpPr>
              <p:cNvPr name="Freeform 14" id="14"/>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0CC0DF"/>
              </a:solidFill>
            </p:spPr>
          </p:sp>
          <p:sp>
            <p:nvSpPr>
              <p:cNvPr name="TextBox 15" id="15"/>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16" id="16"/>
            <p:cNvSpPr txBox="true"/>
            <p:nvPr/>
          </p:nvSpPr>
          <p:spPr>
            <a:xfrm rot="0">
              <a:off x="507166" y="182040"/>
              <a:ext cx="8016561" cy="1945770"/>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Types de dates</a:t>
              </a:r>
            </a:p>
            <a:p>
              <a:pPr algn="l">
                <a:lnSpc>
                  <a:spcPts val="1566"/>
                </a:lnSpc>
              </a:pPr>
              <a:r>
                <a:rPr lang="en-US" sz="1800" spc="-88"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4 colonnes converties</a:t>
              </a:r>
            </a:p>
            <a:p>
              <a:pPr algn="l">
                <a:lnSpc>
                  <a:spcPts val="1566"/>
                </a:lnSpc>
              </a:pPr>
            </a:p>
            <a:p>
              <a:pPr algn="l">
                <a:lnSpc>
                  <a:spcPts val="1566"/>
                </a:lnSpc>
              </a:pPr>
              <a:r>
                <a:rPr lang="en-US" sz="1800" spc="-88">
                  <a:solidFill>
                    <a:srgbClr val="000000"/>
                  </a:solidFill>
                  <a:latin typeface="Arial"/>
                  <a:ea typeface="Arial"/>
                  <a:cs typeface="Arial"/>
                  <a:sym typeface="Arial"/>
                </a:rPr>
                <a:t>pd.to_datetime() appliqué sur df_clean (item_created_at, order_created_at, shipped_at, delivered_at) sur df_clean</a:t>
              </a:r>
            </a:p>
            <a:p>
              <a:pPr algn="l">
                <a:lnSpc>
                  <a:spcPts val="1653"/>
                </a:lnSpc>
              </a:pPr>
            </a:p>
          </p:txBody>
        </p:sp>
      </p:grpSp>
      <p:grpSp>
        <p:nvGrpSpPr>
          <p:cNvPr name="Group 17" id="17"/>
          <p:cNvGrpSpPr/>
          <p:nvPr/>
        </p:nvGrpSpPr>
        <p:grpSpPr>
          <a:xfrm rot="0">
            <a:off x="1209418" y="4755581"/>
            <a:ext cx="6392795" cy="1705814"/>
            <a:chOff x="0" y="0"/>
            <a:chExt cx="8523727" cy="2274419"/>
          </a:xfrm>
        </p:grpSpPr>
        <p:grpSp>
          <p:nvGrpSpPr>
            <p:cNvPr name="Group 18" id="18"/>
            <p:cNvGrpSpPr/>
            <p:nvPr/>
          </p:nvGrpSpPr>
          <p:grpSpPr>
            <a:xfrm rot="0">
              <a:off x="0" y="0"/>
              <a:ext cx="267086" cy="2274419"/>
              <a:chOff x="0" y="0"/>
              <a:chExt cx="52758" cy="449268"/>
            </a:xfrm>
          </p:grpSpPr>
          <p:sp>
            <p:nvSpPr>
              <p:cNvPr name="Freeform 19" id="19"/>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FF914D"/>
              </a:solidFill>
            </p:spPr>
          </p:sp>
          <p:sp>
            <p:nvSpPr>
              <p:cNvPr name="TextBox 20" id="20"/>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21" id="21"/>
            <p:cNvSpPr txBox="true"/>
            <p:nvPr/>
          </p:nvSpPr>
          <p:spPr>
            <a:xfrm rot="0">
              <a:off x="507166" y="182040"/>
              <a:ext cx="8016561" cy="2006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Valeurs manquantes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sh</a:t>
              </a:r>
              <a:r>
                <a:rPr lang="en-US" sz="1800" spc="-88" b="true">
                  <a:solidFill>
                    <a:srgbClr val="000000"/>
                  </a:solidFill>
                  <a:latin typeface="Arial Bold"/>
                  <a:ea typeface="Arial Bold"/>
                  <a:cs typeface="Arial Bold"/>
                  <a:sym typeface="Arial Bold"/>
                </a:rPr>
                <a:t>ipped_at / delivered_at</a:t>
              </a:r>
            </a:p>
            <a:p>
              <a:pPr algn="l">
                <a:lnSpc>
                  <a:spcPts val="1566"/>
                </a:lnSpc>
              </a:pPr>
            </a:p>
            <a:p>
              <a:pPr algn="l">
                <a:lnSpc>
                  <a:spcPts val="1566"/>
                </a:lnSpc>
              </a:pPr>
              <a:r>
                <a:rPr lang="en-US" sz="1800" spc="-88">
                  <a:solidFill>
                    <a:srgbClr val="000000"/>
                  </a:solidFill>
                  <a:latin typeface="Arial"/>
                  <a:ea typeface="Arial"/>
                  <a:cs typeface="Arial"/>
                  <a:sym typeface="Arial"/>
                </a:rPr>
                <a:t>Cohérent avec les commandes annulées ou en cours =&gt; conservées</a:t>
              </a:r>
            </a:p>
            <a:p>
              <a:pPr algn="l">
                <a:lnSpc>
                  <a:spcPts val="1566"/>
                </a:lnSpc>
              </a:pPr>
            </a:p>
          </p:txBody>
        </p:sp>
      </p:grpSp>
      <p:grpSp>
        <p:nvGrpSpPr>
          <p:cNvPr name="Group 22" id="22"/>
          <p:cNvGrpSpPr/>
          <p:nvPr/>
        </p:nvGrpSpPr>
        <p:grpSpPr>
          <a:xfrm rot="0">
            <a:off x="10188451" y="4755581"/>
            <a:ext cx="6392795" cy="1705814"/>
            <a:chOff x="0" y="0"/>
            <a:chExt cx="8523727" cy="2274419"/>
          </a:xfrm>
        </p:grpSpPr>
        <p:grpSp>
          <p:nvGrpSpPr>
            <p:cNvPr name="Group 23" id="23"/>
            <p:cNvGrpSpPr/>
            <p:nvPr/>
          </p:nvGrpSpPr>
          <p:grpSpPr>
            <a:xfrm rot="0">
              <a:off x="0" y="0"/>
              <a:ext cx="267086" cy="2274419"/>
              <a:chOff x="0" y="0"/>
              <a:chExt cx="52758" cy="449268"/>
            </a:xfrm>
          </p:grpSpPr>
          <p:sp>
            <p:nvSpPr>
              <p:cNvPr name="Freeform 24" id="24"/>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737373"/>
              </a:solidFill>
            </p:spPr>
          </p:sp>
          <p:sp>
            <p:nvSpPr>
              <p:cNvPr name="TextBox 25" id="25"/>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26" id="26"/>
            <p:cNvSpPr txBox="true"/>
            <p:nvPr/>
          </p:nvSpPr>
          <p:spPr>
            <a:xfrm rot="0">
              <a:off x="507166" y="182040"/>
              <a:ext cx="8016561" cy="1752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Bornes temporelles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Jan 2023 → Dé</a:t>
              </a:r>
              <a:r>
                <a:rPr lang="en-US" sz="1800" spc="-88" b="true">
                  <a:solidFill>
                    <a:srgbClr val="000000"/>
                  </a:solidFill>
                  <a:latin typeface="Arial Bold"/>
                  <a:ea typeface="Arial Bold"/>
                  <a:cs typeface="Arial Bold"/>
                  <a:sym typeface="Arial Bold"/>
                </a:rPr>
                <a:t>c 2024</a:t>
              </a:r>
            </a:p>
            <a:p>
              <a:pPr algn="l">
                <a:lnSpc>
                  <a:spcPts val="1566"/>
                </a:lnSpc>
              </a:pPr>
            </a:p>
            <a:p>
              <a:pPr algn="l">
                <a:lnSpc>
                  <a:spcPts val="1566"/>
                </a:lnSpc>
              </a:pPr>
              <a:r>
                <a:rPr lang="en-US" sz="1800" spc="-88">
                  <a:solidFill>
                    <a:srgbClr val="000000"/>
                  </a:solidFill>
                  <a:latin typeface="Arial"/>
                  <a:ea typeface="Arial"/>
                  <a:cs typeface="Arial"/>
                  <a:sym typeface="Arial"/>
                </a:rPr>
                <a:t>Sous-périmètre conforme à l'énoncé</a:t>
              </a:r>
            </a:p>
            <a:p>
              <a:pPr algn="l">
                <a:lnSpc>
                  <a:spcPts val="1566"/>
                </a:lnSpc>
              </a:pPr>
            </a:p>
          </p:txBody>
        </p:sp>
      </p:grpSp>
      <p:grpSp>
        <p:nvGrpSpPr>
          <p:cNvPr name="Group 27" id="27"/>
          <p:cNvGrpSpPr/>
          <p:nvPr/>
        </p:nvGrpSpPr>
        <p:grpSpPr>
          <a:xfrm rot="0">
            <a:off x="1209418" y="6918595"/>
            <a:ext cx="6392795" cy="1705814"/>
            <a:chOff x="0" y="0"/>
            <a:chExt cx="8523727" cy="2274419"/>
          </a:xfrm>
        </p:grpSpPr>
        <p:grpSp>
          <p:nvGrpSpPr>
            <p:cNvPr name="Group 28" id="28"/>
            <p:cNvGrpSpPr/>
            <p:nvPr/>
          </p:nvGrpSpPr>
          <p:grpSpPr>
            <a:xfrm rot="0">
              <a:off x="0" y="0"/>
              <a:ext cx="267086" cy="2274419"/>
              <a:chOff x="0" y="0"/>
              <a:chExt cx="52758" cy="449268"/>
            </a:xfrm>
          </p:grpSpPr>
          <p:sp>
            <p:nvSpPr>
              <p:cNvPr name="Freeform 29" id="29"/>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CB6CE6"/>
              </a:solidFill>
            </p:spPr>
          </p:sp>
          <p:sp>
            <p:nvSpPr>
              <p:cNvPr name="TextBox 30" id="30"/>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31" id="31"/>
            <p:cNvSpPr txBox="true"/>
            <p:nvPr/>
          </p:nvSpPr>
          <p:spPr>
            <a:xfrm rot="0">
              <a:off x="507166" y="182040"/>
              <a:ext cx="8016561" cy="1752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 Colonne brand</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N</a:t>
              </a:r>
              <a:r>
                <a:rPr lang="en-US" sz="1800" spc="-88" b="true">
                  <a:solidFill>
                    <a:srgbClr val="000000"/>
                  </a:solidFill>
                  <a:latin typeface="Arial Bold"/>
                  <a:ea typeface="Arial Bold"/>
                  <a:cs typeface="Arial Bold"/>
                  <a:sym typeface="Arial Bold"/>
                </a:rPr>
                <a:t>ulls → 'Unknown'</a:t>
              </a:r>
            </a:p>
            <a:p>
              <a:pPr algn="l">
                <a:lnSpc>
                  <a:spcPts val="1566"/>
                </a:lnSpc>
              </a:pPr>
            </a:p>
            <a:p>
              <a:pPr algn="l">
                <a:lnSpc>
                  <a:spcPts val="1566"/>
                </a:lnSpc>
              </a:pPr>
              <a:r>
                <a:rPr lang="en-US" sz="1800" spc="-88">
                  <a:solidFill>
                    <a:srgbClr val="000000"/>
                  </a:solidFill>
                  <a:latin typeface="Arial"/>
                  <a:ea typeface="Arial"/>
                  <a:cs typeface="Arial"/>
                  <a:sym typeface="Arial"/>
                </a:rPr>
                <a:t>fillna('Unknown') - lignes conservées pour les analyses</a:t>
              </a:r>
            </a:p>
            <a:p>
              <a:pPr algn="l">
                <a:lnSpc>
                  <a:spcPts val="1566"/>
                </a:lnSpc>
              </a:pPr>
            </a:p>
          </p:txBody>
        </p:sp>
      </p:grpSp>
      <p:grpSp>
        <p:nvGrpSpPr>
          <p:cNvPr name="Group 32" id="32"/>
          <p:cNvGrpSpPr/>
          <p:nvPr/>
        </p:nvGrpSpPr>
        <p:grpSpPr>
          <a:xfrm rot="0">
            <a:off x="10188451" y="6918595"/>
            <a:ext cx="6392795" cy="1705814"/>
            <a:chOff x="0" y="0"/>
            <a:chExt cx="8523727" cy="2274419"/>
          </a:xfrm>
        </p:grpSpPr>
        <p:grpSp>
          <p:nvGrpSpPr>
            <p:cNvPr name="Group 33" id="33"/>
            <p:cNvGrpSpPr/>
            <p:nvPr/>
          </p:nvGrpSpPr>
          <p:grpSpPr>
            <a:xfrm rot="0">
              <a:off x="0" y="0"/>
              <a:ext cx="267086" cy="2274419"/>
              <a:chOff x="0" y="0"/>
              <a:chExt cx="52758" cy="449268"/>
            </a:xfrm>
          </p:grpSpPr>
          <p:sp>
            <p:nvSpPr>
              <p:cNvPr name="Freeform 34" id="34"/>
              <p:cNvSpPr/>
              <p:nvPr/>
            </p:nvSpPr>
            <p:spPr>
              <a:xfrm flipH="false" flipV="false" rot="0">
                <a:off x="0" y="0"/>
                <a:ext cx="52758" cy="449268"/>
              </a:xfrm>
              <a:custGeom>
                <a:avLst/>
                <a:gdLst/>
                <a:ahLst/>
                <a:cxnLst/>
                <a:rect r="r" b="b" t="t" l="l"/>
                <a:pathLst>
                  <a:path h="449268" w="52758">
                    <a:moveTo>
                      <a:pt x="0" y="0"/>
                    </a:moveTo>
                    <a:lnTo>
                      <a:pt x="52758" y="0"/>
                    </a:lnTo>
                    <a:lnTo>
                      <a:pt x="52758" y="449268"/>
                    </a:lnTo>
                    <a:lnTo>
                      <a:pt x="0" y="449268"/>
                    </a:lnTo>
                    <a:close/>
                  </a:path>
                </a:pathLst>
              </a:custGeom>
              <a:solidFill>
                <a:srgbClr val="FFDE59"/>
              </a:solidFill>
            </p:spPr>
          </p:sp>
          <p:sp>
            <p:nvSpPr>
              <p:cNvPr name="TextBox 35" id="35"/>
              <p:cNvSpPr txBox="true"/>
              <p:nvPr/>
            </p:nvSpPr>
            <p:spPr>
              <a:xfrm>
                <a:off x="0" y="57150"/>
                <a:ext cx="52758" cy="392118"/>
              </a:xfrm>
              <a:prstGeom prst="rect">
                <a:avLst/>
              </a:prstGeom>
            </p:spPr>
            <p:txBody>
              <a:bodyPr anchor="ctr" rtlCol="false" tIns="50800" lIns="50800" bIns="50800" rIns="50800"/>
              <a:lstStyle/>
              <a:p>
                <a:pPr algn="ctr">
                  <a:lnSpc>
                    <a:spcPts val="1479"/>
                  </a:lnSpc>
                </a:pPr>
              </a:p>
            </p:txBody>
          </p:sp>
        </p:grpSp>
        <p:sp>
          <p:nvSpPr>
            <p:cNvPr name="TextBox 36" id="36"/>
            <p:cNvSpPr txBox="true"/>
            <p:nvPr/>
          </p:nvSpPr>
          <p:spPr>
            <a:xfrm rot="0">
              <a:off x="507166" y="182040"/>
              <a:ext cx="8016561" cy="2006476"/>
            </a:xfrm>
            <a:prstGeom prst="rect">
              <a:avLst/>
            </a:prstGeom>
          </p:spPr>
          <p:txBody>
            <a:bodyPr anchor="t" rtlCol="false" tIns="0" lIns="0" bIns="0" rIns="0">
              <a:spAutoFit/>
            </a:bodyPr>
            <a:lstStyle/>
            <a:p>
              <a:pPr algn="l">
                <a:lnSpc>
                  <a:spcPts val="2088"/>
                </a:lnSpc>
              </a:pPr>
              <a:r>
                <a:rPr lang="en-US" sz="2400" spc="-117" b="true">
                  <a:solidFill>
                    <a:srgbClr val="AD6200"/>
                  </a:solidFill>
                  <a:latin typeface="Arial Bold"/>
                  <a:ea typeface="Arial Bold"/>
                  <a:cs typeface="Arial Bold"/>
                  <a:sym typeface="Arial Bold"/>
                </a:rPr>
                <a:t>ℹ️ Statuts présents</a:t>
              </a:r>
            </a:p>
            <a:p>
              <a:pPr algn="l">
                <a:lnSpc>
                  <a:spcPts val="2088"/>
                </a:lnSpc>
              </a:pPr>
              <a:r>
                <a:rPr lang="en-US" sz="2400" spc="-117" b="true">
                  <a:solidFill>
                    <a:srgbClr val="000000"/>
                  </a:solidFill>
                  <a:latin typeface="Arial Bold"/>
                  <a:ea typeface="Arial Bold"/>
                  <a:cs typeface="Arial Bold"/>
                  <a:sym typeface="Arial Bold"/>
                </a:rPr>
                <a:t> </a:t>
              </a:r>
            </a:p>
            <a:p>
              <a:pPr algn="l">
                <a:lnSpc>
                  <a:spcPts val="1566"/>
                </a:lnSpc>
              </a:pPr>
              <a:r>
                <a:rPr lang="en-US" sz="1800" spc="-88" b="true">
                  <a:solidFill>
                    <a:srgbClr val="000000"/>
                  </a:solidFill>
                  <a:latin typeface="Arial Bold"/>
                  <a:ea typeface="Arial Bold"/>
                  <a:cs typeface="Arial Bold"/>
                  <a:sym typeface="Arial Bold"/>
                </a:rPr>
                <a:t>5 statuts d</a:t>
              </a:r>
              <a:r>
                <a:rPr lang="en-US" sz="1800" spc="-88" b="true">
                  <a:solidFill>
                    <a:srgbClr val="000000"/>
                  </a:solidFill>
                  <a:latin typeface="Arial Bold"/>
                  <a:ea typeface="Arial Bold"/>
                  <a:cs typeface="Arial Bold"/>
                  <a:sym typeface="Arial Bold"/>
                </a:rPr>
                <a:t>ifférents</a:t>
              </a:r>
            </a:p>
            <a:p>
              <a:pPr algn="l">
                <a:lnSpc>
                  <a:spcPts val="1566"/>
                </a:lnSpc>
              </a:pPr>
            </a:p>
            <a:p>
              <a:pPr algn="l">
                <a:lnSpc>
                  <a:spcPts val="1566"/>
                </a:lnSpc>
              </a:pPr>
              <a:r>
                <a:rPr lang="en-US" sz="1800" spc="-88">
                  <a:solidFill>
                    <a:srgbClr val="000000"/>
                  </a:solidFill>
                  <a:latin typeface="Arial"/>
                  <a:ea typeface="Arial"/>
                  <a:cs typeface="Arial"/>
                  <a:sym typeface="Arial"/>
                </a:rPr>
                <a:t>Convention : Complete = vente • Returned = retour </a:t>
              </a:r>
            </a:p>
            <a:p>
              <a:pPr algn="l">
                <a:lnSpc>
                  <a:spcPts val="1566"/>
                </a:lnSpc>
              </a:pPr>
              <a:r>
                <a:rPr lang="en-US" sz="1800" spc="-88">
                  <a:solidFill>
                    <a:srgbClr val="000000"/>
                  </a:solidFill>
                  <a:latin typeface="Arial"/>
                  <a:ea typeface="Arial"/>
                  <a:cs typeface="Arial"/>
                  <a:sym typeface="Arial"/>
                </a:rPr>
                <a:t>3 statuts exclus des KPI</a:t>
              </a:r>
            </a:p>
            <a:p>
              <a:pPr algn="l">
                <a:lnSpc>
                  <a:spcPts val="1566"/>
                </a:lnSpc>
              </a:pPr>
            </a:p>
          </p:txBody>
        </p:sp>
      </p:grpSp>
      <p:sp>
        <p:nvSpPr>
          <p:cNvPr name="Freeform 37" id="37"/>
          <p:cNvSpPr/>
          <p:nvPr/>
        </p:nvSpPr>
        <p:spPr>
          <a:xfrm flipH="false" flipV="false" rot="0">
            <a:off x="17101361" y="8924357"/>
            <a:ext cx="315878" cy="443095"/>
          </a:xfrm>
          <a:custGeom>
            <a:avLst/>
            <a:gdLst/>
            <a:ahLst/>
            <a:cxnLst/>
            <a:rect r="r" b="b" t="t" l="l"/>
            <a:pathLst>
              <a:path h="443095" w="315878">
                <a:moveTo>
                  <a:pt x="0" y="0"/>
                </a:moveTo>
                <a:lnTo>
                  <a:pt x="315878" y="0"/>
                </a:lnTo>
                <a:lnTo>
                  <a:pt x="315878" y="443095"/>
                </a:lnTo>
                <a:lnTo>
                  <a:pt x="0" y="443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38" id="38"/>
          <p:cNvSpPr txBox="true"/>
          <p:nvPr/>
        </p:nvSpPr>
        <p:spPr>
          <a:xfrm rot="0">
            <a:off x="7147704" y="1509800"/>
            <a:ext cx="3992592"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Contrôle qualité du CSV</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8" id="8"/>
          <p:cNvSpPr txBox="true"/>
          <p:nvPr/>
        </p:nvSpPr>
        <p:spPr>
          <a:xfrm rot="0">
            <a:off x="2315618" y="2397035"/>
            <a:ext cx="2482588" cy="2102741"/>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03</a:t>
            </a:r>
          </a:p>
        </p:txBody>
      </p:sp>
      <p:grpSp>
        <p:nvGrpSpPr>
          <p:cNvPr name="Group 9" id="9"/>
          <p:cNvGrpSpPr/>
          <p:nvPr/>
        </p:nvGrpSpPr>
        <p:grpSpPr>
          <a:xfrm rot="0">
            <a:off x="5086350" y="4650105"/>
            <a:ext cx="8115300" cy="1238885"/>
            <a:chOff x="0" y="0"/>
            <a:chExt cx="10820400" cy="1651847"/>
          </a:xfrm>
        </p:grpSpPr>
        <p:sp>
          <p:nvSpPr>
            <p:cNvPr name="TextBox 10" id="10"/>
            <p:cNvSpPr txBox="true"/>
            <p:nvPr/>
          </p:nvSpPr>
          <p:spPr>
            <a:xfrm rot="0">
              <a:off x="0" y="171450"/>
              <a:ext cx="10820400" cy="1144271"/>
            </a:xfrm>
            <a:prstGeom prst="rect">
              <a:avLst/>
            </a:prstGeom>
          </p:spPr>
          <p:txBody>
            <a:bodyPr anchor="t" rtlCol="false" tIns="0" lIns="0" bIns="0" rIns="0">
              <a:spAutoFit/>
            </a:bodyPr>
            <a:lstStyle/>
            <a:p>
              <a:pPr algn="ctr">
                <a:lnSpc>
                  <a:spcPts val="5655"/>
                </a:lnSpc>
              </a:pPr>
              <a:r>
                <a:rPr lang="en-US" b="true" sz="6500" spc="-318">
                  <a:solidFill>
                    <a:srgbClr val="FFFFFF"/>
                  </a:solidFill>
                  <a:latin typeface="Arial Bold"/>
                  <a:ea typeface="Arial Bold"/>
                  <a:cs typeface="Arial Bold"/>
                  <a:sym typeface="Arial Bold"/>
                </a:rPr>
                <a:t>Résultats 2023 vs 2024</a:t>
              </a:r>
            </a:p>
          </p:txBody>
        </p:sp>
        <p:sp>
          <p:nvSpPr>
            <p:cNvPr name="TextBox 11" id="11"/>
            <p:cNvSpPr txBox="true"/>
            <p:nvPr/>
          </p:nvSpPr>
          <p:spPr>
            <a:xfrm rot="0">
              <a:off x="4240659" y="1268096"/>
              <a:ext cx="2339082" cy="383751"/>
            </a:xfrm>
            <a:prstGeom prst="rect">
              <a:avLst/>
            </a:prstGeom>
          </p:spPr>
          <p:txBody>
            <a:bodyPr anchor="t" rtlCol="false" tIns="0" lIns="0" bIns="0" rIns="0">
              <a:spAutoFit/>
            </a:bodyPr>
            <a:lstStyle/>
            <a:p>
              <a:pPr algn="ctr">
                <a:lnSpc>
                  <a:spcPts val="2380"/>
                </a:lnSpc>
                <a:spcBef>
                  <a:spcPct val="0"/>
                </a:spcBef>
              </a:pPr>
              <a:r>
                <a:rPr lang="en-US" b="true" sz="1700" spc="-83">
                  <a:solidFill>
                    <a:srgbClr val="FFFFFF"/>
                  </a:solidFill>
                  <a:latin typeface="Arial Bold"/>
                  <a:ea typeface="Arial Bold"/>
                  <a:cs typeface="Arial Bold"/>
                  <a:sym typeface="Arial Bold"/>
                </a:rPr>
                <a:t>Les 5 KPI du projet</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07800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73555"/>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5" id="5"/>
          <p:cNvGrpSpPr/>
          <p:nvPr/>
        </p:nvGrpSpPr>
        <p:grpSpPr>
          <a:xfrm rot="0">
            <a:off x="1028700" y="847982"/>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66627"/>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Freeform 8" id="8"/>
          <p:cNvSpPr/>
          <p:nvPr/>
        </p:nvSpPr>
        <p:spPr>
          <a:xfrm flipH="false" flipV="false" rot="0">
            <a:off x="17070933" y="8996340"/>
            <a:ext cx="376734" cy="443095"/>
          </a:xfrm>
          <a:custGeom>
            <a:avLst/>
            <a:gdLst/>
            <a:ahLst/>
            <a:cxnLst/>
            <a:rect r="r" b="b" t="t" l="l"/>
            <a:pathLst>
              <a:path h="443095" w="376734">
                <a:moveTo>
                  <a:pt x="0" y="0"/>
                </a:moveTo>
                <a:lnTo>
                  <a:pt x="376734" y="0"/>
                </a:lnTo>
                <a:lnTo>
                  <a:pt x="376734" y="443095"/>
                </a:lnTo>
                <a:lnTo>
                  <a:pt x="0" y="443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028700" y="3735503"/>
            <a:ext cx="16230600" cy="2734753"/>
          </a:xfrm>
          <a:custGeom>
            <a:avLst/>
            <a:gdLst/>
            <a:ahLst/>
            <a:cxnLst/>
            <a:rect r="r" b="b" t="t" l="l"/>
            <a:pathLst>
              <a:path h="2734753" w="16230600">
                <a:moveTo>
                  <a:pt x="0" y="0"/>
                </a:moveTo>
                <a:lnTo>
                  <a:pt x="16230600" y="0"/>
                </a:lnTo>
                <a:lnTo>
                  <a:pt x="16230600" y="2734752"/>
                </a:lnTo>
                <a:lnTo>
                  <a:pt x="0" y="2734752"/>
                </a:lnTo>
                <a:lnTo>
                  <a:pt x="0" y="0"/>
                </a:lnTo>
                <a:close/>
              </a:path>
            </a:pathLst>
          </a:custGeom>
          <a:blipFill>
            <a:blip r:embed="rId6"/>
            <a:stretch>
              <a:fillRect l="0" t="0" r="-2117" b="0"/>
            </a:stretch>
          </a:blipFill>
        </p:spPr>
      </p:sp>
      <p:sp>
        <p:nvSpPr>
          <p:cNvPr name="TextBox 10" id="10"/>
          <p:cNvSpPr txBox="true"/>
          <p:nvPr/>
        </p:nvSpPr>
        <p:spPr>
          <a:xfrm rot="0">
            <a:off x="7185753" y="1511120"/>
            <a:ext cx="3916495"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Vue d'ensemble des KPI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98137" y="8959667"/>
            <a:ext cx="322326" cy="440045"/>
          </a:xfrm>
          <a:custGeom>
            <a:avLst/>
            <a:gdLst/>
            <a:ahLst/>
            <a:cxnLst/>
            <a:rect r="r" b="b" t="t" l="l"/>
            <a:pathLst>
              <a:path h="440045" w="322326">
                <a:moveTo>
                  <a:pt x="0" y="0"/>
                </a:moveTo>
                <a:lnTo>
                  <a:pt x="322326" y="0"/>
                </a:lnTo>
                <a:lnTo>
                  <a:pt x="322326" y="440046"/>
                </a:lnTo>
                <a:lnTo>
                  <a:pt x="0" y="4400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00004" y="1943479"/>
            <a:ext cx="9930371" cy="6400042"/>
          </a:xfrm>
          <a:custGeom>
            <a:avLst/>
            <a:gdLst/>
            <a:ahLst/>
            <a:cxnLst/>
            <a:rect r="r" b="b" t="t" l="l"/>
            <a:pathLst>
              <a:path h="6400042" w="9930371">
                <a:moveTo>
                  <a:pt x="0" y="0"/>
                </a:moveTo>
                <a:lnTo>
                  <a:pt x="9930371" y="0"/>
                </a:lnTo>
                <a:lnTo>
                  <a:pt x="9930371" y="6400042"/>
                </a:lnTo>
                <a:lnTo>
                  <a:pt x="0" y="6400042"/>
                </a:lnTo>
                <a:lnTo>
                  <a:pt x="0" y="0"/>
                </a:lnTo>
                <a:close/>
              </a:path>
            </a:pathLst>
          </a:custGeom>
          <a:blipFill>
            <a:blip r:embed="rId4"/>
            <a:stretch>
              <a:fillRect l="-349" t="-14471" r="0" b="-6003"/>
            </a:stretch>
          </a:blipFill>
        </p:spPr>
      </p:sp>
      <p:grpSp>
        <p:nvGrpSpPr>
          <p:cNvPr name="Group 4" id="4"/>
          <p:cNvGrpSpPr/>
          <p:nvPr/>
        </p:nvGrpSpPr>
        <p:grpSpPr>
          <a:xfrm rot="0">
            <a:off x="1028700" y="9038277"/>
            <a:ext cx="3099781" cy="361435"/>
            <a:chOff x="0" y="0"/>
            <a:chExt cx="4133041" cy="481914"/>
          </a:xfrm>
        </p:grpSpPr>
        <p:sp>
          <p:nvSpPr>
            <p:cNvPr name="Freeform 5" id="5"/>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7" id="7"/>
          <p:cNvGrpSpPr/>
          <p:nvPr/>
        </p:nvGrpSpPr>
        <p:grpSpPr>
          <a:xfrm rot="0">
            <a:off x="1028700" y="847982"/>
            <a:ext cx="4507921" cy="361435"/>
            <a:chOff x="0" y="0"/>
            <a:chExt cx="6010561" cy="481914"/>
          </a:xfrm>
        </p:grpSpPr>
        <p:sp>
          <p:nvSpPr>
            <p:cNvPr name="Freeform 8" id="8"/>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9" id="9"/>
            <p:cNvSpPr txBox="true"/>
            <p:nvPr/>
          </p:nvSpPr>
          <p:spPr>
            <a:xfrm rot="0">
              <a:off x="793032"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grpSp>
        <p:nvGrpSpPr>
          <p:cNvPr name="Group 10" id="10"/>
          <p:cNvGrpSpPr/>
          <p:nvPr/>
        </p:nvGrpSpPr>
        <p:grpSpPr>
          <a:xfrm rot="0">
            <a:off x="11425411" y="2334067"/>
            <a:ext cx="5542111" cy="915672"/>
            <a:chOff x="0" y="0"/>
            <a:chExt cx="1459651" cy="241165"/>
          </a:xfrm>
        </p:grpSpPr>
        <p:sp>
          <p:nvSpPr>
            <p:cNvPr name="Freeform 11" id="11"/>
            <p:cNvSpPr/>
            <p:nvPr/>
          </p:nvSpPr>
          <p:spPr>
            <a:xfrm flipH="false" flipV="false" rot="0">
              <a:off x="0" y="0"/>
              <a:ext cx="1459651" cy="241165"/>
            </a:xfrm>
            <a:custGeom>
              <a:avLst/>
              <a:gdLst/>
              <a:ahLst/>
              <a:cxnLst/>
              <a:rect r="r" b="b" t="t" l="l"/>
              <a:pathLst>
                <a:path h="241165" w="1459651">
                  <a:moveTo>
                    <a:pt x="0" y="0"/>
                  </a:moveTo>
                  <a:lnTo>
                    <a:pt x="1459651" y="0"/>
                  </a:lnTo>
                  <a:lnTo>
                    <a:pt x="1459651" y="241165"/>
                  </a:lnTo>
                  <a:lnTo>
                    <a:pt x="0" y="241165"/>
                  </a:lnTo>
                  <a:close/>
                </a:path>
              </a:pathLst>
            </a:custGeom>
            <a:solidFill>
              <a:srgbClr val="3779E3"/>
            </a:solidFill>
          </p:spPr>
        </p:sp>
        <p:sp>
          <p:nvSpPr>
            <p:cNvPr name="TextBox 12" id="12"/>
            <p:cNvSpPr txBox="true"/>
            <p:nvPr/>
          </p:nvSpPr>
          <p:spPr>
            <a:xfrm>
              <a:off x="0" y="28575"/>
              <a:ext cx="1459651" cy="212590"/>
            </a:xfrm>
            <a:prstGeom prst="rect">
              <a:avLst/>
            </a:prstGeom>
          </p:spPr>
          <p:txBody>
            <a:bodyPr anchor="ctr" rtlCol="false" tIns="50800" lIns="50800" bIns="50800" rIns="50800"/>
            <a:lstStyle/>
            <a:p>
              <a:pPr algn="ctr">
                <a:lnSpc>
                  <a:spcPts val="1305"/>
                </a:lnSpc>
              </a:pPr>
            </a:p>
          </p:txBody>
        </p:sp>
      </p:grpSp>
      <p:sp>
        <p:nvSpPr>
          <p:cNvPr name="TextBox 13" id="13"/>
          <p:cNvSpPr txBox="true"/>
          <p:nvPr/>
        </p:nvSpPr>
        <p:spPr>
          <a:xfrm rot="0">
            <a:off x="6773370" y="1276093"/>
            <a:ext cx="4741260"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Saisonnalité mensuelle du CA</a:t>
            </a:r>
          </a:p>
        </p:txBody>
      </p:sp>
      <p:sp>
        <p:nvSpPr>
          <p:cNvPr name="TextBox 14" id="14"/>
          <p:cNvSpPr txBox="true"/>
          <p:nvPr/>
        </p:nvSpPr>
        <p:spPr>
          <a:xfrm rot="0">
            <a:off x="11714538" y="2638233"/>
            <a:ext cx="4869104" cy="259715"/>
          </a:xfrm>
          <a:prstGeom prst="rect">
            <a:avLst/>
          </a:prstGeom>
        </p:spPr>
        <p:txBody>
          <a:bodyPr anchor="t" rtlCol="false" tIns="0" lIns="0" bIns="0" rIns="0">
            <a:spAutoFit/>
          </a:bodyPr>
          <a:lstStyle/>
          <a:p>
            <a:pPr algn="ctr">
              <a:lnSpc>
                <a:spcPts val="1960"/>
              </a:lnSpc>
            </a:pPr>
            <a:r>
              <a:rPr lang="en-US" b="true" sz="1400" spc="-68">
                <a:solidFill>
                  <a:srgbClr val="FFFFFF"/>
                </a:solidFill>
                <a:latin typeface="Arial Bold"/>
                <a:ea typeface="Arial Bold"/>
                <a:cs typeface="Arial Bold"/>
                <a:sym typeface="Arial Bold"/>
              </a:rPr>
              <a:t>Le CA 2024 est supérieur au CA 2023 sur l'ensemble de l'année.</a:t>
            </a:r>
          </a:p>
        </p:txBody>
      </p:sp>
      <p:grpSp>
        <p:nvGrpSpPr>
          <p:cNvPr name="Group 15" id="15"/>
          <p:cNvGrpSpPr/>
          <p:nvPr/>
        </p:nvGrpSpPr>
        <p:grpSpPr>
          <a:xfrm rot="0">
            <a:off x="11425411" y="4870895"/>
            <a:ext cx="5542111" cy="915672"/>
            <a:chOff x="0" y="0"/>
            <a:chExt cx="1459651" cy="241165"/>
          </a:xfrm>
        </p:grpSpPr>
        <p:sp>
          <p:nvSpPr>
            <p:cNvPr name="Freeform 16" id="16"/>
            <p:cNvSpPr/>
            <p:nvPr/>
          </p:nvSpPr>
          <p:spPr>
            <a:xfrm flipH="false" flipV="false" rot="0">
              <a:off x="0" y="0"/>
              <a:ext cx="1459651" cy="241165"/>
            </a:xfrm>
            <a:custGeom>
              <a:avLst/>
              <a:gdLst/>
              <a:ahLst/>
              <a:cxnLst/>
              <a:rect r="r" b="b" t="t" l="l"/>
              <a:pathLst>
                <a:path h="241165" w="1459651">
                  <a:moveTo>
                    <a:pt x="0" y="0"/>
                  </a:moveTo>
                  <a:lnTo>
                    <a:pt x="1459651" y="0"/>
                  </a:lnTo>
                  <a:lnTo>
                    <a:pt x="1459651" y="241165"/>
                  </a:lnTo>
                  <a:lnTo>
                    <a:pt x="0" y="241165"/>
                  </a:lnTo>
                  <a:close/>
                </a:path>
              </a:pathLst>
            </a:custGeom>
            <a:solidFill>
              <a:srgbClr val="7ED957"/>
            </a:solidFill>
          </p:spPr>
        </p:sp>
        <p:sp>
          <p:nvSpPr>
            <p:cNvPr name="TextBox 17" id="17"/>
            <p:cNvSpPr txBox="true"/>
            <p:nvPr/>
          </p:nvSpPr>
          <p:spPr>
            <a:xfrm>
              <a:off x="0" y="28575"/>
              <a:ext cx="1459651" cy="212590"/>
            </a:xfrm>
            <a:prstGeom prst="rect">
              <a:avLst/>
            </a:prstGeom>
          </p:spPr>
          <p:txBody>
            <a:bodyPr anchor="ctr" rtlCol="false" tIns="50800" lIns="50800" bIns="50800" rIns="50800"/>
            <a:lstStyle/>
            <a:p>
              <a:pPr algn="ctr">
                <a:lnSpc>
                  <a:spcPts val="1305"/>
                </a:lnSpc>
              </a:pPr>
            </a:p>
          </p:txBody>
        </p:sp>
      </p:grpSp>
      <p:sp>
        <p:nvSpPr>
          <p:cNvPr name="TextBox 18" id="18"/>
          <p:cNvSpPr txBox="true"/>
          <p:nvPr/>
        </p:nvSpPr>
        <p:spPr>
          <a:xfrm rot="0">
            <a:off x="12371378" y="5175061"/>
            <a:ext cx="3555423" cy="259715"/>
          </a:xfrm>
          <a:prstGeom prst="rect">
            <a:avLst/>
          </a:prstGeom>
        </p:spPr>
        <p:txBody>
          <a:bodyPr anchor="t" rtlCol="false" tIns="0" lIns="0" bIns="0" rIns="0">
            <a:spAutoFit/>
          </a:bodyPr>
          <a:lstStyle/>
          <a:p>
            <a:pPr algn="ctr">
              <a:lnSpc>
                <a:spcPts val="1960"/>
              </a:lnSpc>
            </a:pPr>
            <a:r>
              <a:rPr lang="en-US" b="true" sz="1400" spc="-68">
                <a:solidFill>
                  <a:srgbClr val="FFFFFF"/>
                </a:solidFill>
                <a:latin typeface="Arial Bold"/>
                <a:ea typeface="Arial Bold"/>
                <a:cs typeface="Arial Bold"/>
                <a:sym typeface="Arial Bold"/>
              </a:rPr>
              <a:t>Pic octobre 2024 = 2 417 € (+121% vs oct 2023</a:t>
            </a:r>
          </a:p>
        </p:txBody>
      </p:sp>
      <p:grpSp>
        <p:nvGrpSpPr>
          <p:cNvPr name="Group 19" id="19"/>
          <p:cNvGrpSpPr/>
          <p:nvPr/>
        </p:nvGrpSpPr>
        <p:grpSpPr>
          <a:xfrm rot="0">
            <a:off x="11425411" y="7427849"/>
            <a:ext cx="5542111" cy="915672"/>
            <a:chOff x="0" y="0"/>
            <a:chExt cx="1459651" cy="241165"/>
          </a:xfrm>
        </p:grpSpPr>
        <p:sp>
          <p:nvSpPr>
            <p:cNvPr name="Freeform 20" id="20"/>
            <p:cNvSpPr/>
            <p:nvPr/>
          </p:nvSpPr>
          <p:spPr>
            <a:xfrm flipH="false" flipV="false" rot="0">
              <a:off x="0" y="0"/>
              <a:ext cx="1459651" cy="241165"/>
            </a:xfrm>
            <a:custGeom>
              <a:avLst/>
              <a:gdLst/>
              <a:ahLst/>
              <a:cxnLst/>
              <a:rect r="r" b="b" t="t" l="l"/>
              <a:pathLst>
                <a:path h="241165" w="1459651">
                  <a:moveTo>
                    <a:pt x="0" y="0"/>
                  </a:moveTo>
                  <a:lnTo>
                    <a:pt x="1459651" y="0"/>
                  </a:lnTo>
                  <a:lnTo>
                    <a:pt x="1459651" y="241165"/>
                  </a:lnTo>
                  <a:lnTo>
                    <a:pt x="0" y="241165"/>
                  </a:lnTo>
                  <a:close/>
                </a:path>
              </a:pathLst>
            </a:custGeom>
            <a:solidFill>
              <a:srgbClr val="FF914D"/>
            </a:solidFill>
          </p:spPr>
        </p:sp>
        <p:sp>
          <p:nvSpPr>
            <p:cNvPr name="TextBox 21" id="21"/>
            <p:cNvSpPr txBox="true"/>
            <p:nvPr/>
          </p:nvSpPr>
          <p:spPr>
            <a:xfrm>
              <a:off x="0" y="28575"/>
              <a:ext cx="1459651" cy="212590"/>
            </a:xfrm>
            <a:prstGeom prst="rect">
              <a:avLst/>
            </a:prstGeom>
          </p:spPr>
          <p:txBody>
            <a:bodyPr anchor="ctr" rtlCol="false" tIns="50800" lIns="50800" bIns="50800" rIns="50800"/>
            <a:lstStyle/>
            <a:p>
              <a:pPr algn="ctr">
                <a:lnSpc>
                  <a:spcPts val="1305"/>
                </a:lnSpc>
              </a:pPr>
            </a:p>
          </p:txBody>
        </p:sp>
      </p:grpSp>
      <p:sp>
        <p:nvSpPr>
          <p:cNvPr name="TextBox 22" id="22"/>
          <p:cNvSpPr txBox="true"/>
          <p:nvPr/>
        </p:nvSpPr>
        <p:spPr>
          <a:xfrm rot="0">
            <a:off x="12371378" y="7732015"/>
            <a:ext cx="3555423" cy="259715"/>
          </a:xfrm>
          <a:prstGeom prst="rect">
            <a:avLst/>
          </a:prstGeom>
        </p:spPr>
        <p:txBody>
          <a:bodyPr anchor="t" rtlCol="false" tIns="0" lIns="0" bIns="0" rIns="0">
            <a:spAutoFit/>
          </a:bodyPr>
          <a:lstStyle/>
          <a:p>
            <a:pPr algn="ctr">
              <a:lnSpc>
                <a:spcPts val="1960"/>
              </a:lnSpc>
            </a:pPr>
            <a:r>
              <a:rPr lang="en-US" b="true" sz="1400" spc="-68">
                <a:solidFill>
                  <a:srgbClr val="FFFFFF"/>
                </a:solidFill>
                <a:latin typeface="Arial Bold"/>
                <a:ea typeface="Arial Bold"/>
                <a:cs typeface="Arial Bold"/>
                <a:sym typeface="Arial Bold"/>
              </a:rPr>
              <a:t>S2 2024 = moteur principal de la croissance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102870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9037170"/>
            <a:ext cx="361435" cy="361435"/>
          </a:xfrm>
          <a:custGeom>
            <a:avLst/>
            <a:gdLst/>
            <a:ahLst/>
            <a:cxnLst/>
            <a:rect r="r" b="b" t="t" l="l"/>
            <a:pathLst>
              <a:path h="361435" w="361435">
                <a:moveTo>
                  <a:pt x="0" y="0"/>
                </a:moveTo>
                <a:lnTo>
                  <a:pt x="361435" y="0"/>
                </a:lnTo>
                <a:lnTo>
                  <a:pt x="361435" y="361435"/>
                </a:lnTo>
                <a:lnTo>
                  <a:pt x="0" y="36143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7096832" y="8955510"/>
            <a:ext cx="324936" cy="443095"/>
          </a:xfrm>
          <a:custGeom>
            <a:avLst/>
            <a:gdLst/>
            <a:ahLst/>
            <a:cxnLst/>
            <a:rect r="r" b="b" t="t" l="l"/>
            <a:pathLst>
              <a:path h="443095" w="324936">
                <a:moveTo>
                  <a:pt x="0" y="0"/>
                </a:moveTo>
                <a:lnTo>
                  <a:pt x="324936" y="0"/>
                </a:lnTo>
                <a:lnTo>
                  <a:pt x="324936" y="443095"/>
                </a:lnTo>
                <a:lnTo>
                  <a:pt x="0" y="44309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2598424" y="2609603"/>
            <a:ext cx="13091152" cy="5907382"/>
          </a:xfrm>
          <a:custGeom>
            <a:avLst/>
            <a:gdLst/>
            <a:ahLst/>
            <a:cxnLst/>
            <a:rect r="r" b="b" t="t" l="l"/>
            <a:pathLst>
              <a:path h="5907382" w="13091152">
                <a:moveTo>
                  <a:pt x="0" y="0"/>
                </a:moveTo>
                <a:lnTo>
                  <a:pt x="13091152" y="0"/>
                </a:lnTo>
                <a:lnTo>
                  <a:pt x="13091152" y="5907383"/>
                </a:lnTo>
                <a:lnTo>
                  <a:pt x="0" y="5907383"/>
                </a:lnTo>
                <a:lnTo>
                  <a:pt x="0" y="0"/>
                </a:lnTo>
                <a:close/>
              </a:path>
            </a:pathLst>
          </a:custGeom>
          <a:blipFill>
            <a:blip r:embed="rId6"/>
            <a:stretch>
              <a:fillRect l="0" t="0" r="0" b="0"/>
            </a:stretch>
          </a:blipFill>
        </p:spPr>
      </p:sp>
      <p:sp>
        <p:nvSpPr>
          <p:cNvPr name="TextBox 6" id="6"/>
          <p:cNvSpPr txBox="true"/>
          <p:nvPr/>
        </p:nvSpPr>
        <p:spPr>
          <a:xfrm rot="0">
            <a:off x="1600338" y="9174480"/>
            <a:ext cx="2528143" cy="19621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sp>
        <p:nvSpPr>
          <p:cNvPr name="TextBox 7" id="7"/>
          <p:cNvSpPr txBox="true"/>
          <p:nvPr/>
        </p:nvSpPr>
        <p:spPr>
          <a:xfrm rot="0">
            <a:off x="1028700" y="1854081"/>
            <a:ext cx="694257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Tableau récapitulatif des KPI — 2023 vs 2024</a:t>
            </a:r>
          </a:p>
        </p:txBody>
      </p:sp>
      <p:sp>
        <p:nvSpPr>
          <p:cNvPr name="TextBox 8" id="8"/>
          <p:cNvSpPr txBox="true"/>
          <p:nvPr/>
        </p:nvSpPr>
        <p:spPr>
          <a:xfrm rot="0">
            <a:off x="1600338" y="1064383"/>
            <a:ext cx="3913147" cy="325753"/>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8" id="8"/>
          <p:cNvSpPr txBox="true"/>
          <p:nvPr/>
        </p:nvSpPr>
        <p:spPr>
          <a:xfrm rot="0">
            <a:off x="2315618" y="2547364"/>
            <a:ext cx="2482588" cy="2102741"/>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04</a:t>
            </a:r>
          </a:p>
        </p:txBody>
      </p:sp>
      <p:grpSp>
        <p:nvGrpSpPr>
          <p:cNvPr name="Group 9" id="9"/>
          <p:cNvGrpSpPr/>
          <p:nvPr/>
        </p:nvGrpSpPr>
        <p:grpSpPr>
          <a:xfrm rot="0">
            <a:off x="5387898" y="4650105"/>
            <a:ext cx="7512204" cy="1238885"/>
            <a:chOff x="0" y="0"/>
            <a:chExt cx="10016272" cy="1651847"/>
          </a:xfrm>
        </p:grpSpPr>
        <p:sp>
          <p:nvSpPr>
            <p:cNvPr name="TextBox 10" id="10"/>
            <p:cNvSpPr txBox="true"/>
            <p:nvPr/>
          </p:nvSpPr>
          <p:spPr>
            <a:xfrm rot="0">
              <a:off x="0" y="171450"/>
              <a:ext cx="10016272" cy="1144271"/>
            </a:xfrm>
            <a:prstGeom prst="rect">
              <a:avLst/>
            </a:prstGeom>
          </p:spPr>
          <p:txBody>
            <a:bodyPr anchor="t" rtlCol="false" tIns="0" lIns="0" bIns="0" rIns="0">
              <a:spAutoFit/>
            </a:bodyPr>
            <a:lstStyle/>
            <a:p>
              <a:pPr algn="ctr">
                <a:lnSpc>
                  <a:spcPts val="5655"/>
                </a:lnSpc>
              </a:pPr>
              <a:r>
                <a:rPr lang="en-US" b="true" sz="6500" spc="-318">
                  <a:solidFill>
                    <a:srgbClr val="FFFFFF"/>
                  </a:solidFill>
                  <a:latin typeface="Arial Bold"/>
                  <a:ea typeface="Arial Bold"/>
                  <a:cs typeface="Arial Bold"/>
                  <a:sym typeface="Arial Bold"/>
                </a:rPr>
                <a:t>Analy</a:t>
              </a:r>
              <a:r>
                <a:rPr lang="en-US" b="true" sz="6500" spc="-318">
                  <a:solidFill>
                    <a:srgbClr val="FFFFFF"/>
                  </a:solidFill>
                  <a:latin typeface="Arial Bold"/>
                  <a:ea typeface="Arial Bold"/>
                  <a:cs typeface="Arial Bold"/>
                  <a:sym typeface="Arial Bold"/>
                </a:rPr>
                <a:t>se Exploratoire</a:t>
              </a:r>
            </a:p>
          </p:txBody>
        </p:sp>
        <p:sp>
          <p:nvSpPr>
            <p:cNvPr name="TextBox 11" id="11"/>
            <p:cNvSpPr txBox="true"/>
            <p:nvPr/>
          </p:nvSpPr>
          <p:spPr>
            <a:xfrm rot="0">
              <a:off x="2553613" y="1268096"/>
              <a:ext cx="4909046" cy="383751"/>
            </a:xfrm>
            <a:prstGeom prst="rect">
              <a:avLst/>
            </a:prstGeom>
          </p:spPr>
          <p:txBody>
            <a:bodyPr anchor="t" rtlCol="false" tIns="0" lIns="0" bIns="0" rIns="0">
              <a:spAutoFit/>
            </a:bodyPr>
            <a:lstStyle/>
            <a:p>
              <a:pPr algn="ctr">
                <a:lnSpc>
                  <a:spcPts val="2380"/>
                </a:lnSpc>
                <a:spcBef>
                  <a:spcPct val="0"/>
                </a:spcBef>
              </a:pPr>
              <a:r>
                <a:rPr lang="en-US" b="true" sz="1700" spc="-83">
                  <a:solidFill>
                    <a:srgbClr val="FFFFFF"/>
                  </a:solidFill>
                  <a:latin typeface="Arial Bold"/>
                  <a:ea typeface="Arial Bold"/>
                  <a:cs typeface="Arial Bold"/>
                  <a:sym typeface="Arial Bold"/>
                </a:rPr>
                <a:t>Marques, catégories, villes, saisonnalité</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8263905" y="2377426"/>
            <a:ext cx="4159085" cy="6027448"/>
          </a:xfrm>
          <a:custGeom>
            <a:avLst/>
            <a:gdLst/>
            <a:ahLst/>
            <a:cxnLst/>
            <a:rect r="r" b="b" t="t" l="l"/>
            <a:pathLst>
              <a:path h="6027448" w="4159085">
                <a:moveTo>
                  <a:pt x="0" y="0"/>
                </a:moveTo>
                <a:lnTo>
                  <a:pt x="4159084" y="0"/>
                </a:lnTo>
                <a:lnTo>
                  <a:pt x="4159084" y="6027448"/>
                </a:lnTo>
                <a:lnTo>
                  <a:pt x="0" y="6027448"/>
                </a:lnTo>
                <a:lnTo>
                  <a:pt x="0" y="0"/>
                </a:lnTo>
                <a:close/>
              </a:path>
            </a:pathLst>
          </a:custGeom>
          <a:blipFill>
            <a:blip r:embed="rId2"/>
            <a:stretch>
              <a:fillRect l="0" t="0" r="0" b="-1132"/>
            </a:stretch>
          </a:blipFill>
        </p:spPr>
      </p:sp>
      <p:grpSp>
        <p:nvGrpSpPr>
          <p:cNvPr name="Group 3" id="3"/>
          <p:cNvGrpSpPr/>
          <p:nvPr/>
        </p:nvGrpSpPr>
        <p:grpSpPr>
          <a:xfrm rot="0">
            <a:off x="1028700" y="9077582"/>
            <a:ext cx="3099781" cy="361435"/>
            <a:chOff x="0" y="0"/>
            <a:chExt cx="4133041"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6" id="6"/>
          <p:cNvGrpSpPr/>
          <p:nvPr/>
        </p:nvGrpSpPr>
        <p:grpSpPr>
          <a:xfrm rot="0">
            <a:off x="1028700" y="877813"/>
            <a:ext cx="4507921" cy="361435"/>
            <a:chOff x="0" y="0"/>
            <a:chExt cx="6010561"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93032"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TextBox 9" id="9"/>
          <p:cNvSpPr txBox="true"/>
          <p:nvPr/>
        </p:nvSpPr>
        <p:spPr>
          <a:xfrm rot="0">
            <a:off x="7581043" y="1506795"/>
            <a:ext cx="3125914"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CA 2023 vs CA 2024</a:t>
            </a:r>
          </a:p>
        </p:txBody>
      </p:sp>
      <p:sp>
        <p:nvSpPr>
          <p:cNvPr name="TextBox 10" id="10"/>
          <p:cNvSpPr txBox="true"/>
          <p:nvPr/>
        </p:nvSpPr>
        <p:spPr>
          <a:xfrm rot="0">
            <a:off x="11953456" y="2329801"/>
            <a:ext cx="5449724" cy="5924550"/>
          </a:xfrm>
          <a:prstGeom prst="rect">
            <a:avLst/>
          </a:prstGeom>
        </p:spPr>
        <p:txBody>
          <a:bodyPr anchor="t" rtlCol="false" tIns="0" lIns="0" bIns="0" rIns="0">
            <a:spAutoFit/>
          </a:bodyPr>
          <a:lstStyle/>
          <a:p>
            <a:pPr algn="l">
              <a:lnSpc>
                <a:spcPts val="2239"/>
              </a:lnSpc>
            </a:pPr>
            <a:r>
              <a:rPr lang="en-US" b="true" sz="1599" spc="-78" u="sng">
                <a:solidFill>
                  <a:srgbClr val="000000"/>
                </a:solidFill>
                <a:latin typeface="Arial Bold"/>
                <a:ea typeface="Arial Bold"/>
                <a:cs typeface="Arial Bold"/>
                <a:sym typeface="Arial Bold"/>
              </a:rPr>
              <a:t>Principaux constats :</a:t>
            </a:r>
          </a:p>
          <a:p>
            <a:pPr algn="l">
              <a:lnSpc>
                <a:spcPts val="1772"/>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Le CA 2024 atteint 15,7 K€, contre 7,8 K€ en 2023, soit une croissance de +101 %.</a:t>
            </a:r>
          </a:p>
          <a:p>
            <a:pPr algn="l" marL="302261" indent="-151130" lvl="1">
              <a:lnSpc>
                <a:spcPts val="1960"/>
              </a:lnSpc>
              <a:buFont typeface="Arial"/>
              <a:buChar char="•"/>
            </a:pPr>
            <a:r>
              <a:rPr lang="en-US" sz="1400" spc="-68">
                <a:solidFill>
                  <a:srgbClr val="000000"/>
                </a:solidFill>
                <a:latin typeface="Arial"/>
                <a:ea typeface="Arial"/>
                <a:cs typeface="Arial"/>
                <a:sym typeface="Arial"/>
              </a:rPr>
              <a:t>Les performances 2024 s</a:t>
            </a:r>
            <a:r>
              <a:rPr lang="en-US" sz="1400" spc="-68">
                <a:solidFill>
                  <a:srgbClr val="000000"/>
                </a:solidFill>
                <a:latin typeface="Arial"/>
                <a:ea typeface="Arial"/>
                <a:cs typeface="Arial"/>
                <a:sym typeface="Arial"/>
              </a:rPr>
              <a:t>ont supérieures à celles de</a:t>
            </a:r>
            <a:r>
              <a:rPr lang="en-US" sz="1400" spc="-68">
                <a:solidFill>
                  <a:srgbClr val="000000"/>
                </a:solidFill>
                <a:latin typeface="Arial"/>
                <a:ea typeface="Arial"/>
                <a:cs typeface="Arial"/>
                <a:sym typeface="Arial"/>
              </a:rPr>
              <a:t> 2023 sur tous l</a:t>
            </a:r>
            <a:r>
              <a:rPr lang="en-US" sz="1400" spc="-68">
                <a:solidFill>
                  <a:srgbClr val="000000"/>
                </a:solidFill>
                <a:latin typeface="Arial"/>
                <a:ea typeface="Arial"/>
                <a:cs typeface="Arial"/>
                <a:sym typeface="Arial"/>
              </a:rPr>
              <a:t>es mois de l'année.</a:t>
            </a:r>
          </a:p>
          <a:p>
            <a:pPr algn="l" marL="302261" indent="-151130" lvl="1">
              <a:lnSpc>
                <a:spcPts val="1960"/>
              </a:lnSpc>
              <a:buFont typeface="Arial"/>
              <a:buChar char="•"/>
            </a:pPr>
            <a:r>
              <a:rPr lang="en-US" sz="1400" spc="-68">
                <a:solidFill>
                  <a:srgbClr val="000000"/>
                </a:solidFill>
                <a:latin typeface="Arial"/>
                <a:ea typeface="Arial"/>
                <a:cs typeface="Arial"/>
                <a:sym typeface="Arial"/>
              </a:rPr>
              <a:t> La croissance s'accélère au second semestre, avec</a:t>
            </a:r>
            <a:r>
              <a:rPr lang="en-US" sz="1400" spc="-68">
                <a:solidFill>
                  <a:srgbClr val="000000"/>
                </a:solidFill>
                <a:latin typeface="Arial"/>
                <a:ea typeface="Arial"/>
                <a:cs typeface="Arial"/>
                <a:sym typeface="Arial"/>
              </a:rPr>
              <a:t> une forte dynamique entre août </a:t>
            </a:r>
            <a:r>
              <a:rPr lang="en-US" sz="1400" spc="-68">
                <a:solidFill>
                  <a:srgbClr val="000000"/>
                </a:solidFill>
                <a:latin typeface="Arial"/>
                <a:ea typeface="Arial"/>
                <a:cs typeface="Arial"/>
                <a:sym typeface="Arial"/>
              </a:rPr>
              <a:t>et décembre.</a:t>
            </a:r>
          </a:p>
          <a:p>
            <a:pPr algn="l">
              <a:lnSpc>
                <a:spcPts val="1772"/>
              </a:lnSpc>
            </a:pPr>
          </a:p>
          <a:p>
            <a:pPr algn="l">
              <a:lnSpc>
                <a:spcPts val="2239"/>
              </a:lnSpc>
            </a:pPr>
            <a:r>
              <a:rPr lang="en-US" b="true" sz="1599" spc="-78" u="sng">
                <a:solidFill>
                  <a:srgbClr val="000000"/>
                </a:solidFill>
                <a:latin typeface="Arial Bold"/>
                <a:ea typeface="Arial Bold"/>
                <a:cs typeface="Arial Bold"/>
                <a:sym typeface="Arial Bold"/>
              </a:rPr>
              <a:t>Insights clés:</a:t>
            </a:r>
          </a:p>
          <a:p>
            <a:pPr algn="l">
              <a:lnSpc>
                <a:spcPts val="1772"/>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Le second semestre 2024 est le principal moteur de croissance, avec un pic de ventes en octobre (+87 % vs octobre 2023).</a:t>
            </a:r>
          </a:p>
          <a:p>
            <a:pPr algn="l" marL="302261" indent="-151130" lvl="1">
              <a:lnSpc>
                <a:spcPts val="1960"/>
              </a:lnSpc>
              <a:buFont typeface="Arial"/>
              <a:buChar char="•"/>
            </a:pPr>
            <a:r>
              <a:rPr lang="en-US" sz="1400" spc="-68">
                <a:solidFill>
                  <a:srgbClr val="000000"/>
                </a:solidFill>
                <a:latin typeface="Arial"/>
                <a:ea typeface="Arial"/>
                <a:cs typeface="Arial"/>
                <a:sym typeface="Arial"/>
              </a:rPr>
              <a:t> Malgré quelques ralentissements en février et juillet, le niveau d'activité 2024 reste supérieur à celui de 2023.</a:t>
            </a:r>
          </a:p>
          <a:p>
            <a:pPr algn="l">
              <a:lnSpc>
                <a:spcPts val="1772"/>
              </a:lnSpc>
            </a:pPr>
          </a:p>
          <a:p>
            <a:pPr algn="l">
              <a:lnSpc>
                <a:spcPts val="2239"/>
              </a:lnSpc>
            </a:pPr>
            <a:r>
              <a:rPr lang="en-US" b="true" sz="1599" spc="-78" u="sng">
                <a:solidFill>
                  <a:srgbClr val="000000"/>
                </a:solidFill>
                <a:latin typeface="Arial Bold"/>
                <a:ea typeface="Arial Bold"/>
                <a:cs typeface="Arial Bold"/>
                <a:sym typeface="Arial Bold"/>
              </a:rPr>
              <a:t>Recommandations :</a:t>
            </a:r>
          </a:p>
          <a:p>
            <a:pPr algn="l">
              <a:lnSpc>
                <a:spcPts val="1960"/>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Renforcer les campagnes marketing dès T3</a:t>
            </a:r>
          </a:p>
          <a:p>
            <a:pPr algn="l" marL="302261" indent="-151130" lvl="1">
              <a:lnSpc>
                <a:spcPts val="1960"/>
              </a:lnSpc>
              <a:buFont typeface="Arial"/>
              <a:buChar char="•"/>
            </a:pPr>
            <a:r>
              <a:rPr lang="en-US" sz="1400" spc="-68">
                <a:solidFill>
                  <a:srgbClr val="000000"/>
                </a:solidFill>
                <a:latin typeface="Arial"/>
                <a:ea typeface="Arial"/>
                <a:cs typeface="Arial"/>
                <a:sym typeface="Arial"/>
              </a:rPr>
              <a:t>Anticiper les stocks sur les périodes à forte demande, notamment au Trimestre 4</a:t>
            </a:r>
          </a:p>
          <a:p>
            <a:pPr algn="l" marL="302261" indent="-151130" lvl="1">
              <a:lnSpc>
                <a:spcPts val="1960"/>
              </a:lnSpc>
              <a:buFont typeface="Arial"/>
              <a:buChar char="•"/>
            </a:pPr>
            <a:r>
              <a:rPr lang="en-US" sz="1400" spc="-68">
                <a:solidFill>
                  <a:srgbClr val="000000"/>
                </a:solidFill>
                <a:latin typeface="Arial"/>
                <a:ea typeface="Arial"/>
                <a:cs typeface="Arial"/>
                <a:sym typeface="Arial"/>
              </a:rPr>
              <a:t>Analyser les leviers ayant contribué à la performance d'octobre 2024 (produits, promotions, catégories, marques) afin de les reproduire sur d'autres périodes.</a:t>
            </a:r>
          </a:p>
        </p:txBody>
      </p:sp>
      <p:sp>
        <p:nvSpPr>
          <p:cNvPr name="Freeform 11" id="11"/>
          <p:cNvSpPr/>
          <p:nvPr/>
        </p:nvSpPr>
        <p:spPr>
          <a:xfrm flipH="false" flipV="false" rot="0">
            <a:off x="700280" y="3088924"/>
            <a:ext cx="7144316" cy="4604452"/>
          </a:xfrm>
          <a:custGeom>
            <a:avLst/>
            <a:gdLst/>
            <a:ahLst/>
            <a:cxnLst/>
            <a:rect r="r" b="b" t="t" l="l"/>
            <a:pathLst>
              <a:path h="4604452" w="7144316">
                <a:moveTo>
                  <a:pt x="0" y="0"/>
                </a:moveTo>
                <a:lnTo>
                  <a:pt x="7144316" y="0"/>
                </a:lnTo>
                <a:lnTo>
                  <a:pt x="7144316" y="4604452"/>
                </a:lnTo>
                <a:lnTo>
                  <a:pt x="0" y="4604452"/>
                </a:lnTo>
                <a:lnTo>
                  <a:pt x="0" y="0"/>
                </a:lnTo>
                <a:close/>
              </a:path>
            </a:pathLst>
          </a:custGeom>
          <a:blipFill>
            <a:blip r:embed="rId5"/>
            <a:stretch>
              <a:fillRect l="-349" t="-14471" r="0" b="-6003"/>
            </a:stretch>
          </a:blipFill>
        </p:spPr>
      </p:sp>
      <p:sp>
        <p:nvSpPr>
          <p:cNvPr name="Freeform 12" id="12"/>
          <p:cNvSpPr/>
          <p:nvPr/>
        </p:nvSpPr>
        <p:spPr>
          <a:xfrm flipH="false" flipV="false" rot="0">
            <a:off x="17115420" y="9037170"/>
            <a:ext cx="287760" cy="402265"/>
          </a:xfrm>
          <a:custGeom>
            <a:avLst/>
            <a:gdLst/>
            <a:ahLst/>
            <a:cxnLst/>
            <a:rect r="r" b="b" t="t" l="l"/>
            <a:pathLst>
              <a:path h="402265" w="287760">
                <a:moveTo>
                  <a:pt x="0" y="0"/>
                </a:moveTo>
                <a:lnTo>
                  <a:pt x="287760" y="0"/>
                </a:lnTo>
                <a:lnTo>
                  <a:pt x="287760" y="402265"/>
                </a:lnTo>
                <a:lnTo>
                  <a:pt x="0" y="4022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58073" y="2780700"/>
            <a:ext cx="8265372" cy="5047506"/>
          </a:xfrm>
          <a:custGeom>
            <a:avLst/>
            <a:gdLst/>
            <a:ahLst/>
            <a:cxnLst/>
            <a:rect r="r" b="b" t="t" l="l"/>
            <a:pathLst>
              <a:path h="5047506" w="8265372">
                <a:moveTo>
                  <a:pt x="0" y="0"/>
                </a:moveTo>
                <a:lnTo>
                  <a:pt x="8265373" y="0"/>
                </a:lnTo>
                <a:lnTo>
                  <a:pt x="8265373" y="5047507"/>
                </a:lnTo>
                <a:lnTo>
                  <a:pt x="0" y="5047507"/>
                </a:lnTo>
                <a:lnTo>
                  <a:pt x="0" y="0"/>
                </a:lnTo>
                <a:close/>
              </a:path>
            </a:pathLst>
          </a:custGeom>
          <a:blipFill>
            <a:blip r:embed="rId2"/>
            <a:stretch>
              <a:fillRect l="0" t="-290" r="-3014" b="-290"/>
            </a:stretch>
          </a:blipFill>
        </p:spPr>
      </p:sp>
      <p:grpSp>
        <p:nvGrpSpPr>
          <p:cNvPr name="Group 3" id="3"/>
          <p:cNvGrpSpPr/>
          <p:nvPr/>
        </p:nvGrpSpPr>
        <p:grpSpPr>
          <a:xfrm rot="0">
            <a:off x="1028700" y="9037170"/>
            <a:ext cx="3099781" cy="361435"/>
            <a:chOff x="0" y="0"/>
            <a:chExt cx="4133041"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6" id="6"/>
          <p:cNvGrpSpPr/>
          <p:nvPr/>
        </p:nvGrpSpPr>
        <p:grpSpPr>
          <a:xfrm rot="0">
            <a:off x="1028700" y="1028700"/>
            <a:ext cx="4484785" cy="361435"/>
            <a:chOff x="0" y="0"/>
            <a:chExt cx="5979713"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Freeform 9" id="9"/>
          <p:cNvSpPr/>
          <p:nvPr/>
        </p:nvSpPr>
        <p:spPr>
          <a:xfrm flipH="false" flipV="false" rot="0">
            <a:off x="17108048" y="9057167"/>
            <a:ext cx="302503" cy="402265"/>
          </a:xfrm>
          <a:custGeom>
            <a:avLst/>
            <a:gdLst/>
            <a:ahLst/>
            <a:cxnLst/>
            <a:rect r="r" b="b" t="t" l="l"/>
            <a:pathLst>
              <a:path h="402265" w="302503">
                <a:moveTo>
                  <a:pt x="0" y="0"/>
                </a:moveTo>
                <a:lnTo>
                  <a:pt x="302504" y="0"/>
                </a:lnTo>
                <a:lnTo>
                  <a:pt x="302504" y="402266"/>
                </a:lnTo>
                <a:lnTo>
                  <a:pt x="0" y="40226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0" id="10"/>
          <p:cNvGrpSpPr/>
          <p:nvPr/>
        </p:nvGrpSpPr>
        <p:grpSpPr>
          <a:xfrm rot="0">
            <a:off x="7841310" y="2555641"/>
            <a:ext cx="1582136" cy="450119"/>
            <a:chOff x="0" y="0"/>
            <a:chExt cx="416694" cy="118550"/>
          </a:xfrm>
        </p:grpSpPr>
        <p:sp>
          <p:nvSpPr>
            <p:cNvPr name="Freeform 11" id="11"/>
            <p:cNvSpPr/>
            <p:nvPr/>
          </p:nvSpPr>
          <p:spPr>
            <a:xfrm flipH="false" flipV="false" rot="0">
              <a:off x="0" y="0"/>
              <a:ext cx="416694" cy="118550"/>
            </a:xfrm>
            <a:custGeom>
              <a:avLst/>
              <a:gdLst/>
              <a:ahLst/>
              <a:cxnLst/>
              <a:rect r="r" b="b" t="t" l="l"/>
              <a:pathLst>
                <a:path h="118550" w="416694">
                  <a:moveTo>
                    <a:pt x="0" y="0"/>
                  </a:moveTo>
                  <a:lnTo>
                    <a:pt x="416694" y="0"/>
                  </a:lnTo>
                  <a:lnTo>
                    <a:pt x="416694" y="118550"/>
                  </a:lnTo>
                  <a:lnTo>
                    <a:pt x="0" y="118550"/>
                  </a:lnTo>
                  <a:close/>
                </a:path>
              </a:pathLst>
            </a:custGeom>
            <a:solidFill>
              <a:srgbClr val="FFFFFF"/>
            </a:solidFill>
          </p:spPr>
        </p:sp>
        <p:sp>
          <p:nvSpPr>
            <p:cNvPr name="TextBox 12" id="12"/>
            <p:cNvSpPr txBox="true"/>
            <p:nvPr/>
          </p:nvSpPr>
          <p:spPr>
            <a:xfrm>
              <a:off x="0" y="28575"/>
              <a:ext cx="416694" cy="89975"/>
            </a:xfrm>
            <a:prstGeom prst="rect">
              <a:avLst/>
            </a:prstGeom>
          </p:spPr>
          <p:txBody>
            <a:bodyPr anchor="ctr" rtlCol="false" tIns="50800" lIns="50800" bIns="50800" rIns="50800"/>
            <a:lstStyle/>
            <a:p>
              <a:pPr algn="ctr">
                <a:lnSpc>
                  <a:spcPts val="1305"/>
                </a:lnSpc>
              </a:pPr>
            </a:p>
          </p:txBody>
        </p:sp>
      </p:grpSp>
      <p:sp>
        <p:nvSpPr>
          <p:cNvPr name="TextBox 13" id="13"/>
          <p:cNvSpPr txBox="true"/>
          <p:nvPr/>
        </p:nvSpPr>
        <p:spPr>
          <a:xfrm rot="0">
            <a:off x="1028700" y="1939452"/>
            <a:ext cx="531109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Taux de retour </a:t>
            </a:r>
          </a:p>
        </p:txBody>
      </p:sp>
      <p:sp>
        <p:nvSpPr>
          <p:cNvPr name="TextBox 14" id="14"/>
          <p:cNvSpPr txBox="true"/>
          <p:nvPr/>
        </p:nvSpPr>
        <p:spPr>
          <a:xfrm rot="0">
            <a:off x="10092969" y="2508016"/>
            <a:ext cx="5910830" cy="4857750"/>
          </a:xfrm>
          <a:prstGeom prst="rect">
            <a:avLst/>
          </a:prstGeom>
        </p:spPr>
        <p:txBody>
          <a:bodyPr anchor="t" rtlCol="false" tIns="0" lIns="0" bIns="0" rIns="0">
            <a:spAutoFit/>
          </a:bodyPr>
          <a:lstStyle/>
          <a:p>
            <a:pPr algn="just">
              <a:lnSpc>
                <a:spcPts val="2239"/>
              </a:lnSpc>
              <a:spcBef>
                <a:spcPct val="0"/>
              </a:spcBef>
            </a:pPr>
            <a:r>
              <a:rPr lang="en-US" b="true" sz="1599" spc="-78" u="sng">
                <a:solidFill>
                  <a:srgbClr val="000000"/>
                </a:solidFill>
                <a:latin typeface="Arial Bold"/>
                <a:ea typeface="Arial Bold"/>
                <a:cs typeface="Arial Bold"/>
                <a:sym typeface="Arial Bold"/>
              </a:rPr>
              <a:t>Principaux constats :</a:t>
            </a:r>
          </a:p>
          <a:p>
            <a:pPr algn="just">
              <a:lnSpc>
                <a:spcPts val="2239"/>
              </a:lnSpc>
              <a:spcBef>
                <a:spcPct val="0"/>
              </a:spcBef>
            </a:pPr>
          </a:p>
          <a:p>
            <a:pPr algn="l" marL="302261" indent="-151130" lvl="1">
              <a:lnSpc>
                <a:spcPts val="1960"/>
              </a:lnSpc>
              <a:buFont typeface="Arial"/>
              <a:buChar char="•"/>
            </a:pPr>
            <a:r>
              <a:rPr lang="en-US" sz="1400" spc="-68">
                <a:solidFill>
                  <a:srgbClr val="000000"/>
                </a:solidFill>
                <a:latin typeface="Arial"/>
                <a:ea typeface="Arial"/>
                <a:cs typeface="Arial"/>
                <a:sym typeface="Arial"/>
              </a:rPr>
              <a:t>Clothing Sets : 100% de retours — toutes les lignes sont retournées</a:t>
            </a:r>
          </a:p>
          <a:p>
            <a:pPr algn="l" marL="302261" indent="-151130" lvl="1">
              <a:lnSpc>
                <a:spcPts val="1960"/>
              </a:lnSpc>
              <a:buFont typeface="Arial"/>
              <a:buChar char="•"/>
            </a:pPr>
            <a:r>
              <a:rPr lang="en-US" sz="1400" spc="-68">
                <a:solidFill>
                  <a:srgbClr val="000000"/>
                </a:solidFill>
                <a:latin typeface="Arial"/>
                <a:ea typeface="Arial"/>
                <a:cs typeface="Arial"/>
                <a:sym typeface="Arial"/>
              </a:rPr>
              <a:t>Suits : 60% — taux très élevé révélant des problèmes de coupe</a:t>
            </a:r>
          </a:p>
          <a:p>
            <a:pPr algn="l" marL="302261" indent="-151130" lvl="1">
              <a:lnSpc>
                <a:spcPts val="1960"/>
              </a:lnSpc>
              <a:buFont typeface="Arial"/>
              <a:buChar char="•"/>
            </a:pPr>
            <a:r>
              <a:rPr lang="en-US" sz="1400" spc="-68">
                <a:solidFill>
                  <a:srgbClr val="000000"/>
                </a:solidFill>
                <a:latin typeface="Arial"/>
                <a:ea typeface="Arial"/>
                <a:cs typeface="Arial"/>
                <a:sym typeface="Arial"/>
              </a:rPr>
              <a:t>Blazers &amp; Jackets : 55% — même problématique que Suits</a:t>
            </a:r>
          </a:p>
          <a:p>
            <a:pPr algn="l" marL="302261" indent="-151130" lvl="1">
              <a:lnSpc>
                <a:spcPts val="1960"/>
              </a:lnSpc>
              <a:buFont typeface="Arial"/>
              <a:buChar char="•"/>
            </a:pPr>
            <a:r>
              <a:rPr lang="en-US" sz="1400" spc="-68">
                <a:solidFill>
                  <a:srgbClr val="000000"/>
                </a:solidFill>
                <a:latin typeface="Arial"/>
                <a:ea typeface="Arial"/>
                <a:cs typeface="Arial"/>
                <a:sym typeface="Arial"/>
              </a:rPr>
              <a:t>Tops &amp; Tees : 47,4% — catégorie à surveiller</a:t>
            </a:r>
          </a:p>
          <a:p>
            <a:pPr algn="l" marL="302261" indent="-151130" lvl="1">
              <a:lnSpc>
                <a:spcPts val="1960"/>
              </a:lnSpc>
              <a:buFont typeface="Arial"/>
              <a:buChar char="•"/>
            </a:pPr>
            <a:r>
              <a:rPr lang="en-US" sz="1400" spc="-68">
                <a:solidFill>
                  <a:srgbClr val="000000"/>
                </a:solidFill>
                <a:latin typeface="Arial"/>
                <a:ea typeface="Arial"/>
                <a:cs typeface="Arial"/>
                <a:sym typeface="Arial"/>
              </a:rPr>
              <a:t>Outerwear &amp; Coats : 44% malgré son fort CA (3 148 €)</a:t>
            </a:r>
          </a:p>
          <a:p>
            <a:pPr algn="l" marL="302261" indent="-151130" lvl="1">
              <a:lnSpc>
                <a:spcPts val="1960"/>
              </a:lnSpc>
              <a:buFont typeface="Arial"/>
              <a:buChar char="•"/>
            </a:pPr>
            <a:r>
              <a:rPr lang="en-US" sz="1400" spc="-68">
                <a:solidFill>
                  <a:srgbClr val="000000"/>
                </a:solidFill>
                <a:latin typeface="Arial"/>
                <a:ea typeface="Arial"/>
                <a:cs typeface="Arial"/>
                <a:sym typeface="Arial"/>
              </a:rPr>
              <a:t>Taux global 2024 : 30,42% (vs 37,87% en 2023 : -7,5 pts)</a:t>
            </a:r>
          </a:p>
          <a:p>
            <a:pPr algn="l">
              <a:lnSpc>
                <a:spcPts val="1960"/>
              </a:lnSpc>
            </a:pPr>
          </a:p>
          <a:p>
            <a:pPr algn="just">
              <a:lnSpc>
                <a:spcPts val="2239"/>
              </a:lnSpc>
            </a:pPr>
            <a:r>
              <a:rPr lang="en-US" b="true" sz="1599" spc="-78" u="sng">
                <a:solidFill>
                  <a:srgbClr val="000000"/>
                </a:solidFill>
                <a:latin typeface="Arial Bold"/>
                <a:ea typeface="Arial Bold"/>
                <a:cs typeface="Arial Bold"/>
                <a:sym typeface="Arial Bold"/>
              </a:rPr>
              <a:t>Insights clés:</a:t>
            </a:r>
          </a:p>
          <a:p>
            <a:pPr algn="just">
              <a:lnSpc>
                <a:spcPts val="1960"/>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Les catégories Clothing Sets et Suits doivent être revues en priorité. </a:t>
            </a:r>
          </a:p>
          <a:p>
            <a:pPr algn="l" marL="302261" indent="-151130" lvl="1">
              <a:lnSpc>
                <a:spcPts val="1960"/>
              </a:lnSpc>
              <a:buFont typeface="Arial"/>
              <a:buChar char="•"/>
            </a:pPr>
            <a:r>
              <a:rPr lang="en-US" sz="1400" spc="-68">
                <a:solidFill>
                  <a:srgbClr val="000000"/>
                </a:solidFill>
                <a:latin typeface="Arial"/>
                <a:ea typeface="Arial"/>
                <a:cs typeface="Arial"/>
                <a:sym typeface="Arial"/>
              </a:rPr>
              <a:t>Chaque point de retour en moins = marge directement récupérée.</a:t>
            </a:r>
          </a:p>
          <a:p>
            <a:pPr algn="just">
              <a:lnSpc>
                <a:spcPts val="1960"/>
              </a:lnSpc>
              <a:spcBef>
                <a:spcPct val="0"/>
              </a:spcBef>
            </a:pPr>
          </a:p>
          <a:p>
            <a:pPr algn="just">
              <a:lnSpc>
                <a:spcPts val="2239"/>
              </a:lnSpc>
              <a:spcBef>
                <a:spcPct val="0"/>
              </a:spcBef>
            </a:pPr>
            <a:r>
              <a:rPr lang="en-US" b="true" sz="1599" spc="-78" u="sng">
                <a:solidFill>
                  <a:srgbClr val="000000"/>
                </a:solidFill>
                <a:latin typeface="Arial Bold"/>
                <a:ea typeface="Arial Bold"/>
                <a:cs typeface="Arial Bold"/>
                <a:sym typeface="Arial Bold"/>
              </a:rPr>
              <a:t>Recomma</a:t>
            </a:r>
            <a:r>
              <a:rPr lang="en-US" b="true" sz="1599" spc="-78" u="sng">
                <a:solidFill>
                  <a:srgbClr val="000000"/>
                </a:solidFill>
                <a:latin typeface="Arial Bold"/>
                <a:ea typeface="Arial Bold"/>
                <a:cs typeface="Arial Bold"/>
                <a:sym typeface="Arial Bold"/>
              </a:rPr>
              <a:t>ndation :</a:t>
            </a:r>
          </a:p>
          <a:p>
            <a:pPr algn="just">
              <a:lnSpc>
                <a:spcPts val="2239"/>
              </a:lnSpc>
              <a:spcBef>
                <a:spcPct val="0"/>
              </a:spcBef>
            </a:pPr>
          </a:p>
          <a:p>
            <a:pPr algn="l" marL="302261" indent="-151130" lvl="1">
              <a:lnSpc>
                <a:spcPts val="1960"/>
              </a:lnSpc>
              <a:buFont typeface="Arial"/>
              <a:buChar char="•"/>
            </a:pPr>
            <a:r>
              <a:rPr lang="en-US" sz="1400" spc="-68">
                <a:solidFill>
                  <a:srgbClr val="000000"/>
                </a:solidFill>
                <a:latin typeface="Arial"/>
                <a:ea typeface="Arial"/>
                <a:cs typeface="Arial"/>
                <a:sym typeface="Arial"/>
              </a:rPr>
              <a:t>Améliorer guides de tailles + photos 360° + descriptions matières. Objectif : -5 pts de taux de retour global en 2025.</a:t>
            </a:r>
          </a:p>
          <a:p>
            <a:pPr algn="just">
              <a:lnSpc>
                <a:spcPts val="1960"/>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709698" y="2470116"/>
            <a:ext cx="4837565" cy="1929379"/>
          </a:xfrm>
          <a:custGeom>
            <a:avLst/>
            <a:gdLst/>
            <a:ahLst/>
            <a:cxnLst/>
            <a:rect r="r" b="b" t="t" l="l"/>
            <a:pathLst>
              <a:path h="1929379" w="4837565">
                <a:moveTo>
                  <a:pt x="0" y="0"/>
                </a:moveTo>
                <a:lnTo>
                  <a:pt x="4837566" y="0"/>
                </a:lnTo>
                <a:lnTo>
                  <a:pt x="4837566" y="1929380"/>
                </a:lnTo>
                <a:lnTo>
                  <a:pt x="0" y="1929380"/>
                </a:lnTo>
                <a:lnTo>
                  <a:pt x="0" y="0"/>
                </a:lnTo>
                <a:close/>
              </a:path>
            </a:pathLst>
          </a:custGeom>
          <a:blipFill>
            <a:blip r:embed="rId2"/>
            <a:stretch>
              <a:fillRect l="0" t="0" r="0" b="0"/>
            </a:stretch>
          </a:blipFill>
        </p:spPr>
      </p:sp>
      <p:grpSp>
        <p:nvGrpSpPr>
          <p:cNvPr name="Group 3" id="3"/>
          <p:cNvGrpSpPr/>
          <p:nvPr/>
        </p:nvGrpSpPr>
        <p:grpSpPr>
          <a:xfrm rot="0">
            <a:off x="1028700" y="9037170"/>
            <a:ext cx="3099781" cy="361435"/>
            <a:chOff x="0" y="0"/>
            <a:chExt cx="4133041"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6" id="6"/>
          <p:cNvGrpSpPr/>
          <p:nvPr/>
        </p:nvGrpSpPr>
        <p:grpSpPr>
          <a:xfrm rot="0">
            <a:off x="1028700" y="1028700"/>
            <a:ext cx="4594145" cy="361435"/>
            <a:chOff x="0" y="0"/>
            <a:chExt cx="6125526"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907998"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TextBox 9" id="9"/>
          <p:cNvSpPr txBox="true"/>
          <p:nvPr/>
        </p:nvSpPr>
        <p:spPr>
          <a:xfrm rot="0">
            <a:off x="1209418" y="1939452"/>
            <a:ext cx="5710914"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Fidélisation client &amp; Taux de ré-achat </a:t>
            </a:r>
          </a:p>
        </p:txBody>
      </p:sp>
      <p:sp>
        <p:nvSpPr>
          <p:cNvPr name="TextBox 10" id="10"/>
          <p:cNvSpPr txBox="true"/>
          <p:nvPr/>
        </p:nvSpPr>
        <p:spPr>
          <a:xfrm rot="0">
            <a:off x="10178499" y="2750912"/>
            <a:ext cx="5910830" cy="5105400"/>
          </a:xfrm>
          <a:prstGeom prst="rect">
            <a:avLst/>
          </a:prstGeom>
        </p:spPr>
        <p:txBody>
          <a:bodyPr anchor="t" rtlCol="false" tIns="0" lIns="0" bIns="0" rIns="0">
            <a:spAutoFit/>
          </a:bodyPr>
          <a:lstStyle/>
          <a:p>
            <a:pPr algn="just">
              <a:lnSpc>
                <a:spcPts val="2239"/>
              </a:lnSpc>
              <a:spcBef>
                <a:spcPct val="0"/>
              </a:spcBef>
            </a:pPr>
            <a:r>
              <a:rPr lang="en-US" b="true" sz="1599" spc="-78" u="sng">
                <a:solidFill>
                  <a:srgbClr val="000000"/>
                </a:solidFill>
                <a:latin typeface="Arial Bold"/>
                <a:ea typeface="Arial Bold"/>
                <a:cs typeface="Arial Bold"/>
                <a:sym typeface="Arial Bold"/>
              </a:rPr>
              <a:t>Principaux constats :</a:t>
            </a:r>
          </a:p>
          <a:p>
            <a:pPr algn="l" marL="302261" indent="-151130" lvl="1">
              <a:lnSpc>
                <a:spcPts val="1960"/>
              </a:lnSpc>
              <a:buFont typeface="Arial"/>
              <a:buChar char="•"/>
            </a:pPr>
            <a:r>
              <a:rPr lang="en-US" sz="1400" spc="-68">
                <a:solidFill>
                  <a:srgbClr val="000000"/>
                </a:solidFill>
                <a:latin typeface="Arial"/>
                <a:ea typeface="Arial"/>
                <a:cs typeface="Arial"/>
                <a:sym typeface="Arial"/>
              </a:rPr>
              <a:t>Taux de ré-ach</a:t>
            </a:r>
            <a:r>
              <a:rPr lang="en-US" sz="1400" spc="-68">
                <a:solidFill>
                  <a:srgbClr val="000000"/>
                </a:solidFill>
                <a:latin typeface="Arial"/>
                <a:ea typeface="Arial"/>
                <a:cs typeface="Arial"/>
                <a:sym typeface="Arial"/>
              </a:rPr>
              <a:t>at 2023 : 0% (aucun client avec ≥2 commandes Complete en 2023)</a:t>
            </a:r>
          </a:p>
          <a:p>
            <a:pPr algn="l" marL="302261" indent="-151130" lvl="1">
              <a:lnSpc>
                <a:spcPts val="1960"/>
              </a:lnSpc>
              <a:buFont typeface="Arial"/>
              <a:buChar char="•"/>
            </a:pPr>
            <a:r>
              <a:rPr lang="en-US" sz="1400" spc="-68">
                <a:solidFill>
                  <a:srgbClr val="000000"/>
                </a:solidFill>
                <a:latin typeface="Arial"/>
                <a:ea typeface="Arial"/>
                <a:cs typeface="Arial"/>
                <a:sym typeface="Arial"/>
              </a:rPr>
              <a:t>Taux de ré-achat 2024 : 3,39% (6 clients sur 177 ont commandé au moins 2 fois)</a:t>
            </a:r>
          </a:p>
          <a:p>
            <a:pPr algn="l" marL="302261" indent="-151130" lvl="1">
              <a:lnSpc>
                <a:spcPts val="1960"/>
              </a:lnSpc>
              <a:buFont typeface="Arial"/>
              <a:buChar char="•"/>
            </a:pPr>
            <a:r>
              <a:rPr lang="en-US" sz="1400" spc="-68">
                <a:solidFill>
                  <a:srgbClr val="000000"/>
                </a:solidFill>
                <a:latin typeface="Arial"/>
                <a:ea typeface="Arial"/>
                <a:cs typeface="Arial"/>
                <a:sym typeface="Arial"/>
              </a:rPr>
              <a:t>La fidélisation démarre mais reste très faible — marge de progression énorme</a:t>
            </a:r>
          </a:p>
          <a:p>
            <a:pPr algn="l" marL="302261" indent="-151130" lvl="1">
              <a:lnSpc>
                <a:spcPts val="1960"/>
              </a:lnSpc>
              <a:buFont typeface="Arial"/>
              <a:buChar char="•"/>
            </a:pPr>
            <a:r>
              <a:rPr lang="en-US" sz="1400" spc="-68">
                <a:solidFill>
                  <a:srgbClr val="000000"/>
                </a:solidFill>
                <a:latin typeface="Arial"/>
                <a:ea typeface="Arial"/>
                <a:cs typeface="Arial"/>
                <a:sym typeface="Arial"/>
              </a:rPr>
              <a:t>Panier moyen 2024 : 85,41 € — Outerwear tire le panier à ~225 € par article</a:t>
            </a:r>
          </a:p>
          <a:p>
            <a:pPr algn="l" marL="302261" indent="-151130" lvl="1">
              <a:lnSpc>
                <a:spcPts val="1960"/>
              </a:lnSpc>
              <a:buFont typeface="Arial"/>
              <a:buChar char="•"/>
            </a:pPr>
            <a:r>
              <a:rPr lang="en-US" sz="1400" spc="-68">
                <a:solidFill>
                  <a:srgbClr val="000000"/>
                </a:solidFill>
                <a:latin typeface="Arial"/>
                <a:ea typeface="Arial"/>
                <a:cs typeface="Arial"/>
                <a:sym typeface="Arial"/>
              </a:rPr>
              <a:t>Commandes 2023 : 97 | Commandes 2024 : 184 (×1,9) — base clients en forte croissance</a:t>
            </a:r>
          </a:p>
          <a:p>
            <a:pPr algn="l">
              <a:lnSpc>
                <a:spcPts val="1960"/>
              </a:lnSpc>
            </a:pPr>
          </a:p>
          <a:p>
            <a:pPr algn="l">
              <a:lnSpc>
                <a:spcPts val="2239"/>
              </a:lnSpc>
            </a:pPr>
            <a:r>
              <a:rPr lang="en-US" b="true" sz="1599" spc="-78" u="sng">
                <a:solidFill>
                  <a:srgbClr val="000000"/>
                </a:solidFill>
                <a:latin typeface="Arial Bold"/>
                <a:ea typeface="Arial Bold"/>
                <a:cs typeface="Arial Bold"/>
                <a:sym typeface="Arial Bold"/>
              </a:rPr>
              <a:t>Insight clé:</a:t>
            </a:r>
          </a:p>
          <a:p>
            <a:pPr algn="l">
              <a:lnSpc>
                <a:spcPts val="2239"/>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La fidélisation décolle en 2024 (+3,4 pts) mais reste faible. C'est le chantier prioritaire : un client qui revient coûte 5× moins à acquérir qu'un nouveau.</a:t>
            </a:r>
          </a:p>
          <a:p>
            <a:pPr algn="just">
              <a:lnSpc>
                <a:spcPts val="1960"/>
              </a:lnSpc>
              <a:spcBef>
                <a:spcPct val="0"/>
              </a:spcBef>
            </a:pPr>
          </a:p>
          <a:p>
            <a:pPr algn="just">
              <a:lnSpc>
                <a:spcPts val="2239"/>
              </a:lnSpc>
              <a:spcBef>
                <a:spcPct val="0"/>
              </a:spcBef>
            </a:pPr>
            <a:r>
              <a:rPr lang="en-US" b="true" sz="1599" spc="-78" u="sng">
                <a:solidFill>
                  <a:srgbClr val="000000"/>
                </a:solidFill>
                <a:latin typeface="Arial Bold"/>
                <a:ea typeface="Arial Bold"/>
                <a:cs typeface="Arial Bold"/>
                <a:sym typeface="Arial Bold"/>
              </a:rPr>
              <a:t>Recomma</a:t>
            </a:r>
            <a:r>
              <a:rPr lang="en-US" b="true" sz="1599" spc="-78" u="sng">
                <a:solidFill>
                  <a:srgbClr val="000000"/>
                </a:solidFill>
                <a:latin typeface="Arial Bold"/>
                <a:ea typeface="Arial Bold"/>
                <a:cs typeface="Arial Bold"/>
                <a:sym typeface="Arial Bold"/>
              </a:rPr>
              <a:t>ndations :</a:t>
            </a:r>
          </a:p>
          <a:p>
            <a:pPr algn="just">
              <a:lnSpc>
                <a:spcPts val="2239"/>
              </a:lnSpc>
              <a:spcBef>
                <a:spcPct val="0"/>
              </a:spcBef>
            </a:pPr>
          </a:p>
          <a:p>
            <a:pPr algn="l" marL="302261" indent="-151130" lvl="1">
              <a:lnSpc>
                <a:spcPts val="1960"/>
              </a:lnSpc>
              <a:buFont typeface="Arial"/>
              <a:buChar char="•"/>
            </a:pPr>
            <a:r>
              <a:rPr lang="en-US" sz="1400" spc="-68">
                <a:solidFill>
                  <a:srgbClr val="000000"/>
                </a:solidFill>
                <a:latin typeface="Arial"/>
                <a:ea typeface="Arial"/>
                <a:cs typeface="Arial"/>
                <a:sym typeface="Arial"/>
              </a:rPr>
              <a:t>D</a:t>
            </a:r>
            <a:r>
              <a:rPr lang="en-US" sz="1400" spc="-68">
                <a:solidFill>
                  <a:srgbClr val="000000"/>
                </a:solidFill>
                <a:latin typeface="Arial"/>
                <a:ea typeface="Arial"/>
                <a:cs typeface="Arial"/>
                <a:sym typeface="Arial"/>
              </a:rPr>
              <a:t>éployer programme CRM : email J+7 post-achat + offre personnalisée J+30.</a:t>
            </a:r>
          </a:p>
          <a:p>
            <a:pPr algn="l" marL="302261" indent="-151130" lvl="1">
              <a:lnSpc>
                <a:spcPts val="1960"/>
              </a:lnSpc>
              <a:buFont typeface="Arial"/>
              <a:buChar char="•"/>
            </a:pPr>
            <a:r>
              <a:rPr lang="en-US" sz="1400" spc="-68">
                <a:solidFill>
                  <a:srgbClr val="000000"/>
                </a:solidFill>
                <a:latin typeface="Arial"/>
                <a:ea typeface="Arial"/>
                <a:cs typeface="Arial"/>
                <a:sym typeface="Arial"/>
              </a:rPr>
              <a:t>Objectif : 10% de taux ré-achat en 2025.</a:t>
            </a:r>
          </a:p>
          <a:p>
            <a:pPr algn="just">
              <a:lnSpc>
                <a:spcPts val="1960"/>
              </a:lnSpc>
              <a:spcBef>
                <a:spcPct val="0"/>
              </a:spcBef>
            </a:pPr>
          </a:p>
        </p:txBody>
      </p:sp>
      <p:sp>
        <p:nvSpPr>
          <p:cNvPr name="Freeform 11" id="11"/>
          <p:cNvSpPr/>
          <p:nvPr/>
        </p:nvSpPr>
        <p:spPr>
          <a:xfrm flipH="false" flipV="false" rot="0">
            <a:off x="1209418" y="4129668"/>
            <a:ext cx="7264245" cy="4349466"/>
          </a:xfrm>
          <a:custGeom>
            <a:avLst/>
            <a:gdLst/>
            <a:ahLst/>
            <a:cxnLst/>
            <a:rect r="r" b="b" t="t" l="l"/>
            <a:pathLst>
              <a:path h="4349466" w="7264245">
                <a:moveTo>
                  <a:pt x="0" y="0"/>
                </a:moveTo>
                <a:lnTo>
                  <a:pt x="7264244" y="0"/>
                </a:lnTo>
                <a:lnTo>
                  <a:pt x="7264244" y="4349466"/>
                </a:lnTo>
                <a:lnTo>
                  <a:pt x="0" y="4349466"/>
                </a:lnTo>
                <a:lnTo>
                  <a:pt x="0" y="0"/>
                </a:lnTo>
                <a:close/>
              </a:path>
            </a:pathLst>
          </a:custGeom>
          <a:blipFill>
            <a:blip r:embed="rId5"/>
            <a:stretch>
              <a:fillRect l="0" t="0" r="0" b="0"/>
            </a:stretch>
          </a:blipFill>
        </p:spPr>
      </p:sp>
      <p:sp>
        <p:nvSpPr>
          <p:cNvPr name="Freeform 12" id="12"/>
          <p:cNvSpPr/>
          <p:nvPr/>
        </p:nvSpPr>
        <p:spPr>
          <a:xfrm flipH="false" flipV="false" rot="0">
            <a:off x="17097423" y="8996340"/>
            <a:ext cx="323755" cy="443095"/>
          </a:xfrm>
          <a:custGeom>
            <a:avLst/>
            <a:gdLst/>
            <a:ahLst/>
            <a:cxnLst/>
            <a:rect r="r" b="b" t="t" l="l"/>
            <a:pathLst>
              <a:path h="443095" w="323755">
                <a:moveTo>
                  <a:pt x="0" y="0"/>
                </a:moveTo>
                <a:lnTo>
                  <a:pt x="323754" y="0"/>
                </a:lnTo>
                <a:lnTo>
                  <a:pt x="323754" y="443095"/>
                </a:lnTo>
                <a:lnTo>
                  <a:pt x="0" y="4430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09418" y="2580252"/>
            <a:ext cx="6362959" cy="3825729"/>
          </a:xfrm>
          <a:custGeom>
            <a:avLst/>
            <a:gdLst/>
            <a:ahLst/>
            <a:cxnLst/>
            <a:rect r="r" b="b" t="t" l="l"/>
            <a:pathLst>
              <a:path h="3825729" w="6362959">
                <a:moveTo>
                  <a:pt x="0" y="0"/>
                </a:moveTo>
                <a:lnTo>
                  <a:pt x="6362958" y="0"/>
                </a:lnTo>
                <a:lnTo>
                  <a:pt x="6362958" y="3825728"/>
                </a:lnTo>
                <a:lnTo>
                  <a:pt x="0" y="3825728"/>
                </a:lnTo>
                <a:lnTo>
                  <a:pt x="0" y="0"/>
                </a:lnTo>
                <a:close/>
              </a:path>
            </a:pathLst>
          </a:custGeom>
          <a:blipFill>
            <a:blip r:embed="rId2"/>
            <a:stretch>
              <a:fillRect l="0" t="0" r="0" b="0"/>
            </a:stretch>
          </a:blipFill>
        </p:spPr>
      </p:sp>
      <p:sp>
        <p:nvSpPr>
          <p:cNvPr name="Freeform 3" id="3"/>
          <p:cNvSpPr/>
          <p:nvPr/>
        </p:nvSpPr>
        <p:spPr>
          <a:xfrm flipH="false" flipV="false" rot="0">
            <a:off x="9025013" y="2490114"/>
            <a:ext cx="7062764" cy="3915866"/>
          </a:xfrm>
          <a:custGeom>
            <a:avLst/>
            <a:gdLst/>
            <a:ahLst/>
            <a:cxnLst/>
            <a:rect r="r" b="b" t="t" l="l"/>
            <a:pathLst>
              <a:path h="3915866" w="7062764">
                <a:moveTo>
                  <a:pt x="0" y="0"/>
                </a:moveTo>
                <a:lnTo>
                  <a:pt x="7062764" y="0"/>
                </a:lnTo>
                <a:lnTo>
                  <a:pt x="7062764" y="3915866"/>
                </a:lnTo>
                <a:lnTo>
                  <a:pt x="0" y="3915866"/>
                </a:lnTo>
                <a:lnTo>
                  <a:pt x="0" y="0"/>
                </a:lnTo>
                <a:close/>
              </a:path>
            </a:pathLst>
          </a:custGeom>
          <a:blipFill>
            <a:blip r:embed="rId3"/>
            <a:stretch>
              <a:fillRect l="0" t="0" r="-350" b="0"/>
            </a:stretch>
          </a:blipFill>
        </p:spPr>
      </p:sp>
      <p:sp>
        <p:nvSpPr>
          <p:cNvPr name="Freeform 4" id="4"/>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7259300" y="9039385"/>
            <a:ext cx="336781" cy="440045"/>
          </a:xfrm>
          <a:custGeom>
            <a:avLst/>
            <a:gdLst/>
            <a:ahLst/>
            <a:cxnLst/>
            <a:rect r="r" b="b" t="t" l="l"/>
            <a:pathLst>
              <a:path h="440045" w="336781">
                <a:moveTo>
                  <a:pt x="0" y="0"/>
                </a:moveTo>
                <a:lnTo>
                  <a:pt x="336781" y="0"/>
                </a:lnTo>
                <a:lnTo>
                  <a:pt x="336781" y="440045"/>
                </a:lnTo>
                <a:lnTo>
                  <a:pt x="0" y="4400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6986947" y="2472398"/>
            <a:ext cx="585429" cy="248130"/>
            <a:chOff x="0" y="0"/>
            <a:chExt cx="154187" cy="65351"/>
          </a:xfrm>
        </p:grpSpPr>
        <p:sp>
          <p:nvSpPr>
            <p:cNvPr name="Freeform 7" id="7"/>
            <p:cNvSpPr/>
            <p:nvPr/>
          </p:nvSpPr>
          <p:spPr>
            <a:xfrm flipH="false" flipV="false" rot="0">
              <a:off x="0" y="0"/>
              <a:ext cx="154187" cy="65351"/>
            </a:xfrm>
            <a:custGeom>
              <a:avLst/>
              <a:gdLst/>
              <a:ahLst/>
              <a:cxnLst/>
              <a:rect r="r" b="b" t="t" l="l"/>
              <a:pathLst>
                <a:path h="65351" w="154187">
                  <a:moveTo>
                    <a:pt x="0" y="0"/>
                  </a:moveTo>
                  <a:lnTo>
                    <a:pt x="154187" y="0"/>
                  </a:lnTo>
                  <a:lnTo>
                    <a:pt x="154187" y="65351"/>
                  </a:lnTo>
                  <a:lnTo>
                    <a:pt x="0" y="65351"/>
                  </a:lnTo>
                  <a:close/>
                </a:path>
              </a:pathLst>
            </a:custGeom>
            <a:solidFill>
              <a:srgbClr val="FFFFFF"/>
            </a:solidFill>
          </p:spPr>
        </p:sp>
        <p:sp>
          <p:nvSpPr>
            <p:cNvPr name="TextBox 8" id="8"/>
            <p:cNvSpPr txBox="true"/>
            <p:nvPr/>
          </p:nvSpPr>
          <p:spPr>
            <a:xfrm>
              <a:off x="0" y="28575"/>
              <a:ext cx="154187" cy="36776"/>
            </a:xfrm>
            <a:prstGeom prst="rect">
              <a:avLst/>
            </a:prstGeom>
          </p:spPr>
          <p:txBody>
            <a:bodyPr anchor="ctr" rtlCol="false" tIns="50800" lIns="50800" bIns="50800" rIns="50800"/>
            <a:lstStyle/>
            <a:p>
              <a:pPr algn="ctr">
                <a:lnSpc>
                  <a:spcPts val="1305"/>
                </a:lnSpc>
              </a:pPr>
            </a:p>
          </p:txBody>
        </p:sp>
      </p:grpSp>
      <p:grpSp>
        <p:nvGrpSpPr>
          <p:cNvPr name="Group 9" id="9"/>
          <p:cNvGrpSpPr/>
          <p:nvPr/>
        </p:nvGrpSpPr>
        <p:grpSpPr>
          <a:xfrm rot="0">
            <a:off x="1028700" y="9081243"/>
            <a:ext cx="3099781" cy="361435"/>
            <a:chOff x="0" y="0"/>
            <a:chExt cx="4133041" cy="481914"/>
          </a:xfrm>
        </p:grpSpPr>
        <p:sp>
          <p:nvSpPr>
            <p:cNvPr name="Freeform 10" id="10"/>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762184" y="114790"/>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12" id="12"/>
          <p:cNvGrpSpPr/>
          <p:nvPr/>
        </p:nvGrpSpPr>
        <p:grpSpPr>
          <a:xfrm rot="0">
            <a:off x="1028700" y="1028700"/>
            <a:ext cx="4484785" cy="361435"/>
            <a:chOff x="0" y="0"/>
            <a:chExt cx="5979713" cy="481914"/>
          </a:xfrm>
        </p:grpSpPr>
        <p:sp>
          <p:nvSpPr>
            <p:cNvPr name="Freeform 13" id="1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4" id="14"/>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TextBox 15" id="15"/>
          <p:cNvSpPr txBox="true"/>
          <p:nvPr/>
        </p:nvSpPr>
        <p:spPr>
          <a:xfrm rot="0">
            <a:off x="1209418" y="1840794"/>
            <a:ext cx="531109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Top marques &amp; Catégories par CA</a:t>
            </a:r>
          </a:p>
        </p:txBody>
      </p:sp>
      <p:sp>
        <p:nvSpPr>
          <p:cNvPr name="TextBox 16" id="16"/>
          <p:cNvSpPr txBox="true"/>
          <p:nvPr/>
        </p:nvSpPr>
        <p:spPr>
          <a:xfrm rot="0">
            <a:off x="1600338" y="6673825"/>
            <a:ext cx="6899773" cy="2047875"/>
          </a:xfrm>
          <a:prstGeom prst="rect">
            <a:avLst/>
          </a:prstGeom>
        </p:spPr>
        <p:txBody>
          <a:bodyPr anchor="t" rtlCol="false" tIns="0" lIns="0" bIns="0" rIns="0">
            <a:spAutoFit/>
          </a:bodyPr>
          <a:lstStyle/>
          <a:p>
            <a:pPr algn="just">
              <a:lnSpc>
                <a:spcPts val="2239"/>
              </a:lnSpc>
            </a:pPr>
            <a:r>
              <a:rPr lang="en-US" b="true" sz="1599" spc="-78" u="sng">
                <a:solidFill>
                  <a:srgbClr val="000000"/>
                </a:solidFill>
                <a:latin typeface="Arial Bold"/>
                <a:ea typeface="Arial Bold"/>
                <a:cs typeface="Arial Bold"/>
                <a:sym typeface="Arial Bold"/>
              </a:rPr>
              <a:t>Principales constats :</a:t>
            </a:r>
          </a:p>
          <a:p>
            <a:pPr algn="just">
              <a:lnSpc>
                <a:spcPts val="2239"/>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Outerwear &amp; Coats : CA 3 148 € + marg</a:t>
            </a:r>
            <a:r>
              <a:rPr lang="en-US" sz="1400" spc="-68">
                <a:solidFill>
                  <a:srgbClr val="000000"/>
                </a:solidFill>
                <a:latin typeface="Arial"/>
                <a:ea typeface="Arial"/>
                <a:cs typeface="Arial"/>
                <a:sym typeface="Arial"/>
              </a:rPr>
              <a:t>e 55,2% = c</a:t>
            </a:r>
            <a:r>
              <a:rPr lang="en-US" sz="1400" spc="-68">
                <a:solidFill>
                  <a:srgbClr val="000000"/>
                </a:solidFill>
                <a:latin typeface="Arial"/>
                <a:ea typeface="Arial"/>
                <a:cs typeface="Arial"/>
                <a:sym typeface="Arial"/>
              </a:rPr>
              <a:t>atégorie champion</a:t>
            </a:r>
          </a:p>
          <a:p>
            <a:pPr algn="l" marL="302261" indent="-151130" lvl="1">
              <a:lnSpc>
                <a:spcPts val="1960"/>
              </a:lnSpc>
              <a:buFont typeface="Arial"/>
              <a:buChar char="•"/>
            </a:pPr>
            <a:r>
              <a:rPr lang="en-US" sz="1400" spc="-68">
                <a:solidFill>
                  <a:srgbClr val="000000"/>
                </a:solidFill>
                <a:latin typeface="Arial"/>
                <a:ea typeface="Arial"/>
                <a:cs typeface="Arial"/>
                <a:sym typeface="Arial"/>
              </a:rPr>
              <a:t>Intimates : CA 2 259 € (2e) avec fort volume (72 lignes Complete)</a:t>
            </a:r>
          </a:p>
          <a:p>
            <a:pPr algn="l" marL="302261" indent="-151130" lvl="1">
              <a:lnSpc>
                <a:spcPts val="1960"/>
              </a:lnSpc>
              <a:buFont typeface="Arial"/>
              <a:buChar char="•"/>
            </a:pPr>
            <a:r>
              <a:rPr lang="en-US" sz="1400" spc="-68">
                <a:solidFill>
                  <a:srgbClr val="000000"/>
                </a:solidFill>
                <a:latin typeface="Arial"/>
                <a:ea typeface="Arial"/>
                <a:cs typeface="Arial"/>
                <a:sym typeface="Arial"/>
              </a:rPr>
              <a:t>The North Face : 1 211 € de CA — marque dominante</a:t>
            </a:r>
          </a:p>
          <a:p>
            <a:pPr algn="l" marL="302261" indent="-151130" lvl="1">
              <a:lnSpc>
                <a:spcPts val="1960"/>
              </a:lnSpc>
              <a:buFont typeface="Arial"/>
              <a:buChar char="•"/>
            </a:pPr>
            <a:r>
              <a:rPr lang="en-US" sz="1400" spc="-68">
                <a:solidFill>
                  <a:srgbClr val="000000"/>
                </a:solidFill>
                <a:latin typeface="Arial"/>
                <a:ea typeface="Arial"/>
                <a:cs typeface="Arial"/>
                <a:sym typeface="Arial"/>
              </a:rPr>
              <a:t>Arc'teryx + PAIGE = 35% du CA marques Top 10</a:t>
            </a:r>
          </a:p>
          <a:p>
            <a:pPr algn="l" marL="302261" indent="-151130" lvl="1">
              <a:lnSpc>
                <a:spcPts val="1960"/>
              </a:lnSpc>
              <a:buFont typeface="Arial"/>
              <a:buChar char="•"/>
            </a:pPr>
            <a:r>
              <a:rPr lang="en-US" sz="1400" spc="-68">
                <a:solidFill>
                  <a:srgbClr val="000000"/>
                </a:solidFill>
                <a:latin typeface="Arial"/>
                <a:ea typeface="Arial"/>
                <a:cs typeface="Arial"/>
                <a:sym typeface="Arial"/>
              </a:rPr>
              <a:t>Blazers &amp; Jackets : taux de marge 61,8% mais faible CA — potentiel sous-exploité</a:t>
            </a:r>
          </a:p>
          <a:p>
            <a:pPr algn="l" marL="302261" indent="-151130" lvl="1">
              <a:lnSpc>
                <a:spcPts val="1960"/>
              </a:lnSpc>
              <a:spcBef>
                <a:spcPct val="0"/>
              </a:spcBef>
              <a:buFont typeface="Arial"/>
              <a:buChar char="•"/>
            </a:pPr>
            <a:r>
              <a:rPr lang="en-US" sz="1400" spc="-68">
                <a:solidFill>
                  <a:srgbClr val="000000"/>
                </a:solidFill>
                <a:latin typeface="Arial"/>
                <a:ea typeface="Arial"/>
                <a:cs typeface="Arial"/>
                <a:sym typeface="Arial"/>
              </a:rPr>
              <a:t>Swim : meilleur taux de marge (59,1%) — à développer campagne été</a:t>
            </a:r>
          </a:p>
        </p:txBody>
      </p:sp>
      <p:sp>
        <p:nvSpPr>
          <p:cNvPr name="TextBox 17" id="17"/>
          <p:cNvSpPr txBox="true"/>
          <p:nvPr/>
        </p:nvSpPr>
        <p:spPr>
          <a:xfrm rot="0">
            <a:off x="9291195" y="6686710"/>
            <a:ext cx="6682139" cy="2352675"/>
          </a:xfrm>
          <a:prstGeom prst="rect">
            <a:avLst/>
          </a:prstGeom>
        </p:spPr>
        <p:txBody>
          <a:bodyPr anchor="t" rtlCol="false" tIns="0" lIns="0" bIns="0" rIns="0">
            <a:spAutoFit/>
          </a:bodyPr>
          <a:lstStyle/>
          <a:p>
            <a:pPr algn="just">
              <a:lnSpc>
                <a:spcPts val="2239"/>
              </a:lnSpc>
            </a:pPr>
            <a:r>
              <a:rPr lang="en-US" b="true" sz="1599" spc="-78" u="sng">
                <a:solidFill>
                  <a:srgbClr val="000000"/>
                </a:solidFill>
                <a:latin typeface="Arial Bold"/>
                <a:ea typeface="Arial Bold"/>
                <a:cs typeface="Arial Bold"/>
                <a:sym typeface="Arial Bold"/>
              </a:rPr>
              <a:t>Insight clé :</a:t>
            </a:r>
          </a:p>
          <a:p>
            <a:pPr algn="just">
              <a:lnSpc>
                <a:spcPts val="2239"/>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Outerwear &amp; Coats cumule fort CA ET forte marge : priorité absolue pour les investissements marketing.</a:t>
            </a:r>
          </a:p>
          <a:p>
            <a:pPr algn="l">
              <a:lnSpc>
                <a:spcPts val="1960"/>
              </a:lnSpc>
            </a:pPr>
          </a:p>
          <a:p>
            <a:pPr algn="just">
              <a:lnSpc>
                <a:spcPts val="2239"/>
              </a:lnSpc>
            </a:pPr>
            <a:r>
              <a:rPr lang="en-US" b="true" sz="1599" spc="-78" u="sng">
                <a:solidFill>
                  <a:srgbClr val="000000"/>
                </a:solidFill>
                <a:latin typeface="Arial Bold"/>
                <a:ea typeface="Arial Bold"/>
                <a:cs typeface="Arial Bold"/>
                <a:sym typeface="Arial Bold"/>
              </a:rPr>
              <a:t>Recommandations :</a:t>
            </a:r>
          </a:p>
          <a:p>
            <a:pPr algn="just">
              <a:lnSpc>
                <a:spcPts val="2239"/>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Concentrer le budget acquisition sur Outerwear, Swim et Accessories. </a:t>
            </a:r>
          </a:p>
          <a:p>
            <a:pPr algn="l" marL="302261" indent="-151130" lvl="1">
              <a:lnSpc>
                <a:spcPts val="1960"/>
              </a:lnSpc>
              <a:spcBef>
                <a:spcPct val="0"/>
              </a:spcBef>
              <a:buFont typeface="Arial"/>
              <a:buChar char="•"/>
            </a:pPr>
            <a:r>
              <a:rPr lang="en-US" sz="1400" spc="-68">
                <a:solidFill>
                  <a:srgbClr val="000000"/>
                </a:solidFill>
                <a:latin typeface="Arial"/>
                <a:ea typeface="Arial"/>
                <a:cs typeface="Arial"/>
                <a:sym typeface="Arial"/>
              </a:rPr>
              <a:t>Développer Blazers &amp; Jackets (forte marge, faible CA = visibilité insuffisante)</a:t>
            </a:r>
            <a:r>
              <a:rPr lang="en-US" b="true" sz="1400" spc="-68" u="sng">
                <a:solidFill>
                  <a:srgbClr val="000000"/>
                </a:solidFill>
                <a:latin typeface="Arial Bold"/>
                <a:ea typeface="Arial Bold"/>
                <a:cs typeface="Arial Bold"/>
                <a:sym typeface="Arial Bold"/>
              </a:rPr>
              <a:t>.</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Freeform 8" id="8"/>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7259300"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028700" y="2586255"/>
            <a:ext cx="4683288" cy="6002034"/>
          </a:xfrm>
          <a:custGeom>
            <a:avLst/>
            <a:gdLst/>
            <a:ahLst/>
            <a:cxnLst/>
            <a:rect r="r" b="b" t="t" l="l"/>
            <a:pathLst>
              <a:path h="6002034" w="4683288">
                <a:moveTo>
                  <a:pt x="0" y="0"/>
                </a:moveTo>
                <a:lnTo>
                  <a:pt x="4683288" y="0"/>
                </a:lnTo>
                <a:lnTo>
                  <a:pt x="4683288" y="6002034"/>
                </a:lnTo>
                <a:lnTo>
                  <a:pt x="0" y="6002034"/>
                </a:lnTo>
                <a:lnTo>
                  <a:pt x="0" y="0"/>
                </a:lnTo>
                <a:close/>
              </a:path>
            </a:pathLst>
          </a:custGeom>
          <a:blipFill>
            <a:blip r:embed="rId6"/>
            <a:stretch>
              <a:fillRect l="0" t="0" r="-22948" b="0"/>
            </a:stretch>
          </a:blipFill>
        </p:spPr>
      </p:sp>
      <p:sp>
        <p:nvSpPr>
          <p:cNvPr name="Freeform 11" id="11"/>
          <p:cNvSpPr/>
          <p:nvPr/>
        </p:nvSpPr>
        <p:spPr>
          <a:xfrm flipH="false" flipV="false" rot="0">
            <a:off x="5513485" y="3545284"/>
            <a:ext cx="5806714" cy="4283884"/>
          </a:xfrm>
          <a:custGeom>
            <a:avLst/>
            <a:gdLst/>
            <a:ahLst/>
            <a:cxnLst/>
            <a:rect r="r" b="b" t="t" l="l"/>
            <a:pathLst>
              <a:path h="4283884" w="5806714">
                <a:moveTo>
                  <a:pt x="0" y="0"/>
                </a:moveTo>
                <a:lnTo>
                  <a:pt x="5806714" y="0"/>
                </a:lnTo>
                <a:lnTo>
                  <a:pt x="5806714" y="4283884"/>
                </a:lnTo>
                <a:lnTo>
                  <a:pt x="0" y="4283884"/>
                </a:lnTo>
                <a:lnTo>
                  <a:pt x="0" y="0"/>
                </a:lnTo>
                <a:close/>
              </a:path>
            </a:pathLst>
          </a:custGeom>
          <a:blipFill>
            <a:blip r:embed="rId7"/>
            <a:stretch>
              <a:fillRect l="0" t="0" r="-31754" b="0"/>
            </a:stretch>
          </a:blipFill>
        </p:spPr>
      </p:sp>
      <p:sp>
        <p:nvSpPr>
          <p:cNvPr name="TextBox 12" id="12"/>
          <p:cNvSpPr txBox="true"/>
          <p:nvPr/>
        </p:nvSpPr>
        <p:spPr>
          <a:xfrm rot="0">
            <a:off x="1028700" y="1781901"/>
            <a:ext cx="531109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Répartition géographique du CA</a:t>
            </a:r>
          </a:p>
        </p:txBody>
      </p:sp>
      <p:sp>
        <p:nvSpPr>
          <p:cNvPr name="TextBox 13" id="13"/>
          <p:cNvSpPr txBox="true"/>
          <p:nvPr/>
        </p:nvSpPr>
        <p:spPr>
          <a:xfrm rot="0">
            <a:off x="11438774" y="2373304"/>
            <a:ext cx="5910830" cy="6010275"/>
          </a:xfrm>
          <a:prstGeom prst="rect">
            <a:avLst/>
          </a:prstGeom>
        </p:spPr>
        <p:txBody>
          <a:bodyPr anchor="t" rtlCol="false" tIns="0" lIns="0" bIns="0" rIns="0">
            <a:spAutoFit/>
          </a:bodyPr>
          <a:lstStyle/>
          <a:p>
            <a:pPr algn="just">
              <a:lnSpc>
                <a:spcPts val="2239"/>
              </a:lnSpc>
              <a:spcBef>
                <a:spcPct val="0"/>
              </a:spcBef>
            </a:pPr>
            <a:r>
              <a:rPr lang="en-US" b="true" sz="1599" spc="-78" u="sng">
                <a:solidFill>
                  <a:srgbClr val="000000"/>
                </a:solidFill>
                <a:latin typeface="Arial Bold"/>
                <a:ea typeface="Arial Bold"/>
                <a:cs typeface="Arial Bold"/>
                <a:sym typeface="Arial Bold"/>
              </a:rPr>
              <a:t>Principaux constats :</a:t>
            </a:r>
          </a:p>
          <a:p>
            <a:pPr algn="just">
              <a:lnSpc>
                <a:spcPts val="2239"/>
              </a:lnSpc>
              <a:spcBef>
                <a:spcPct val="0"/>
              </a:spcBef>
            </a:pPr>
          </a:p>
          <a:p>
            <a:pPr algn="l" marL="302261" indent="-151130" lvl="1">
              <a:lnSpc>
                <a:spcPts val="1960"/>
              </a:lnSpc>
              <a:buFont typeface="Arial"/>
              <a:buChar char="•"/>
            </a:pPr>
            <a:r>
              <a:rPr lang="en-US" sz="1400" spc="-68">
                <a:solidFill>
                  <a:srgbClr val="000000"/>
                </a:solidFill>
                <a:latin typeface="Arial"/>
                <a:ea typeface="Arial"/>
                <a:cs typeface="Arial"/>
                <a:sym typeface="Arial"/>
              </a:rPr>
              <a:t>Paris : 950 € de CA — ville numéro 1</a:t>
            </a:r>
          </a:p>
          <a:p>
            <a:pPr algn="l" marL="302261" indent="-151130" lvl="1">
              <a:lnSpc>
                <a:spcPts val="1960"/>
              </a:lnSpc>
              <a:buFont typeface="Arial"/>
              <a:buChar char="•"/>
            </a:pPr>
            <a:r>
              <a:rPr lang="en-US" sz="1400" spc="-68">
                <a:solidFill>
                  <a:srgbClr val="000000"/>
                </a:solidFill>
                <a:latin typeface="Arial"/>
                <a:ea typeface="Arial"/>
                <a:cs typeface="Arial"/>
                <a:sym typeface="Arial"/>
              </a:rPr>
              <a:t>Locon (903 €) et Vandœuvre-lès-Nancy (823 €) quasi à égalité avec Paris</a:t>
            </a:r>
          </a:p>
          <a:p>
            <a:pPr algn="l" marL="302261" indent="-151130" lvl="1">
              <a:lnSpc>
                <a:spcPts val="1960"/>
              </a:lnSpc>
              <a:buFont typeface="Arial"/>
              <a:buChar char="•"/>
            </a:pPr>
            <a:r>
              <a:rPr lang="en-US" sz="1400" spc="-68">
                <a:solidFill>
                  <a:srgbClr val="000000"/>
                </a:solidFill>
                <a:latin typeface="Arial"/>
                <a:ea typeface="Arial"/>
                <a:cs typeface="Arial"/>
                <a:sym typeface="Arial"/>
              </a:rPr>
              <a:t>Les villes moyennes montrent un CA per capita supérieur aux grandes villes</a:t>
            </a:r>
          </a:p>
          <a:p>
            <a:pPr algn="l" marL="302261" indent="-151130" lvl="1">
              <a:lnSpc>
                <a:spcPts val="1960"/>
              </a:lnSpc>
              <a:buFont typeface="Arial"/>
              <a:buChar char="•"/>
            </a:pPr>
            <a:r>
              <a:rPr lang="en-US" sz="1400" spc="-68">
                <a:solidFill>
                  <a:srgbClr val="000000"/>
                </a:solidFill>
                <a:latin typeface="Arial"/>
                <a:ea typeface="Arial"/>
                <a:cs typeface="Arial"/>
                <a:sym typeface="Arial"/>
              </a:rPr>
              <a:t>Île-de-France et Grand Est concentrent le plus fort volume</a:t>
            </a:r>
          </a:p>
          <a:p>
            <a:pPr algn="l" marL="302261" indent="-151130" lvl="1">
              <a:lnSpc>
                <a:spcPts val="1960"/>
              </a:lnSpc>
              <a:buFont typeface="Arial"/>
              <a:buChar char="•"/>
            </a:pPr>
            <a:r>
              <a:rPr lang="en-US" sz="1400" spc="-68">
                <a:solidFill>
                  <a:srgbClr val="000000"/>
                </a:solidFill>
                <a:latin typeface="Arial"/>
                <a:ea typeface="Arial"/>
                <a:cs typeface="Arial"/>
                <a:sym typeface="Arial"/>
              </a:rPr>
              <a:t>Forte dispersion : l'activité est présente sur tout le territoire</a:t>
            </a:r>
          </a:p>
          <a:p>
            <a:pPr algn="l" marL="302261" indent="-151130" lvl="1">
              <a:lnSpc>
                <a:spcPts val="1960"/>
              </a:lnSpc>
              <a:buFont typeface="Arial"/>
              <a:buChar char="•"/>
            </a:pPr>
            <a:r>
              <a:rPr lang="en-US" sz="1400" spc="-68">
                <a:solidFill>
                  <a:srgbClr val="000000"/>
                </a:solidFill>
                <a:latin typeface="Arial"/>
                <a:ea typeface="Arial"/>
                <a:cs typeface="Arial"/>
                <a:sym typeface="Arial"/>
              </a:rPr>
              <a:t>Potentiel identifié dans les villes entre 500 € et 900 € de CA</a:t>
            </a:r>
          </a:p>
          <a:p>
            <a:pPr algn="l">
              <a:lnSpc>
                <a:spcPts val="1960"/>
              </a:lnSpc>
            </a:pPr>
          </a:p>
          <a:p>
            <a:pPr algn="l">
              <a:lnSpc>
                <a:spcPts val="1960"/>
              </a:lnSpc>
            </a:pPr>
            <a:r>
              <a:rPr lang="en-US" b="true" sz="1400" spc="-68" u="sng">
                <a:solidFill>
                  <a:srgbClr val="000000"/>
                </a:solidFill>
                <a:latin typeface="Arial Bold"/>
                <a:ea typeface="Arial Bold"/>
                <a:cs typeface="Arial Bold"/>
                <a:sym typeface="Arial Bold"/>
              </a:rPr>
              <a:t>Insights clés :</a:t>
            </a:r>
          </a:p>
          <a:p>
            <a:pPr algn="l">
              <a:lnSpc>
                <a:spcPts val="1960"/>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Le second semestre 2024 est le principal moteur de croissance, avec un pic de ventes en octobre (+87 % vs octobre 2023).</a:t>
            </a:r>
          </a:p>
          <a:p>
            <a:pPr algn="l" marL="302261" indent="-151130" lvl="1">
              <a:lnSpc>
                <a:spcPts val="1960"/>
              </a:lnSpc>
              <a:buFont typeface="Arial"/>
              <a:buChar char="•"/>
            </a:pPr>
            <a:r>
              <a:rPr lang="en-US" sz="1400" spc="-68">
                <a:solidFill>
                  <a:srgbClr val="000000"/>
                </a:solidFill>
                <a:latin typeface="Arial"/>
                <a:ea typeface="Arial"/>
                <a:cs typeface="Arial"/>
                <a:sym typeface="Arial"/>
              </a:rPr>
              <a:t> Malgré quelques ralentissements en février et juillet, le niveau d'activité 2024 reste supérieur à celui de 2023.</a:t>
            </a:r>
          </a:p>
          <a:p>
            <a:pPr algn="l">
              <a:lnSpc>
                <a:spcPts val="1960"/>
              </a:lnSpc>
            </a:pPr>
          </a:p>
          <a:p>
            <a:pPr algn="l">
              <a:lnSpc>
                <a:spcPts val="1960"/>
              </a:lnSpc>
            </a:pPr>
            <a:r>
              <a:rPr lang="en-US" b="true" sz="1400" spc="-68" u="sng">
                <a:solidFill>
                  <a:srgbClr val="000000"/>
                </a:solidFill>
                <a:latin typeface="Arial Bold"/>
                <a:ea typeface="Arial Bold"/>
                <a:cs typeface="Arial Bold"/>
                <a:sym typeface="Arial Bold"/>
              </a:rPr>
              <a:t>Recommandations :</a:t>
            </a:r>
          </a:p>
          <a:p>
            <a:pPr algn="l">
              <a:lnSpc>
                <a:spcPts val="1960"/>
              </a:lnSpc>
            </a:pPr>
          </a:p>
          <a:p>
            <a:pPr algn="l" marL="302261" indent="-151130" lvl="1">
              <a:lnSpc>
                <a:spcPts val="1960"/>
              </a:lnSpc>
              <a:buFont typeface="Arial"/>
              <a:buChar char="•"/>
            </a:pPr>
            <a:r>
              <a:rPr lang="en-US" sz="1400" spc="-68">
                <a:solidFill>
                  <a:srgbClr val="000000"/>
                </a:solidFill>
                <a:latin typeface="Arial"/>
                <a:ea typeface="Arial"/>
                <a:cs typeface="Arial"/>
                <a:sym typeface="Arial"/>
              </a:rPr>
              <a:t>Renforcer les campagnes marketing dès T3</a:t>
            </a:r>
          </a:p>
          <a:p>
            <a:pPr algn="l" marL="302261" indent="-151130" lvl="1">
              <a:lnSpc>
                <a:spcPts val="1960"/>
              </a:lnSpc>
              <a:buFont typeface="Arial"/>
              <a:buChar char="•"/>
            </a:pPr>
            <a:r>
              <a:rPr lang="en-US" sz="1400" spc="-68">
                <a:solidFill>
                  <a:srgbClr val="000000"/>
                </a:solidFill>
                <a:latin typeface="Arial"/>
                <a:ea typeface="Arial"/>
                <a:cs typeface="Arial"/>
                <a:sym typeface="Arial"/>
              </a:rPr>
              <a:t>Anticiper les stocks sur les périodes à forte demande, notamment au Trimestre 4</a:t>
            </a:r>
          </a:p>
          <a:p>
            <a:pPr algn="l" marL="302261" indent="-151130" lvl="1">
              <a:lnSpc>
                <a:spcPts val="1960"/>
              </a:lnSpc>
              <a:buFont typeface="Arial"/>
              <a:buChar char="•"/>
            </a:pPr>
            <a:r>
              <a:rPr lang="en-US" sz="1400" spc="-68">
                <a:solidFill>
                  <a:srgbClr val="000000"/>
                </a:solidFill>
                <a:latin typeface="Arial"/>
                <a:ea typeface="Arial"/>
                <a:cs typeface="Arial"/>
                <a:sym typeface="Arial"/>
              </a:rPr>
              <a:t>Analyser les leviers ayant contribué à la performance d'octobre 2024 (produits, promotions, catégories, marques) afin de les reproduire sur d'autres périodes.</a:t>
            </a:r>
          </a:p>
          <a:p>
            <a:pPr algn="l">
              <a:lnSpc>
                <a:spcPts val="1960"/>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AD6200"/>
        </a:solidFill>
      </p:bgPr>
    </p:bg>
    <p:spTree>
      <p:nvGrpSpPr>
        <p:cNvPr id="1" name=""/>
        <p:cNvGrpSpPr/>
        <p:nvPr/>
      </p:nvGrpSpPr>
      <p:grpSpPr>
        <a:xfrm>
          <a:off x="0" y="0"/>
          <a:ext cx="0" cy="0"/>
          <a:chOff x="0" y="0"/>
          <a:chExt cx="0" cy="0"/>
        </a:xfrm>
      </p:grpSpPr>
      <p:grpSp>
        <p:nvGrpSpPr>
          <p:cNvPr name="Group 2" id="2"/>
          <p:cNvGrpSpPr/>
          <p:nvPr/>
        </p:nvGrpSpPr>
        <p:grpSpPr>
          <a:xfrm rot="0">
            <a:off x="1028700" y="9037170"/>
            <a:ext cx="3099781" cy="361435"/>
            <a:chOff x="0" y="0"/>
            <a:chExt cx="4133041"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FFFFFF"/>
                  </a:solidFill>
                  <a:latin typeface="Arial"/>
                  <a:ea typeface="Arial"/>
                  <a:cs typeface="Arial"/>
                  <a:sym typeface="Arial"/>
                </a:rPr>
                <a:t>@thelook europe e-commerce</a:t>
              </a:r>
            </a:p>
          </p:txBody>
        </p:sp>
      </p:grpSp>
      <p:sp>
        <p:nvSpPr>
          <p:cNvPr name="TextBox 5" id="5"/>
          <p:cNvSpPr txBox="true"/>
          <p:nvPr/>
        </p:nvSpPr>
        <p:spPr>
          <a:xfrm rot="0">
            <a:off x="5716053" y="4821555"/>
            <a:ext cx="6855894" cy="815341"/>
          </a:xfrm>
          <a:prstGeom prst="rect">
            <a:avLst/>
          </a:prstGeom>
        </p:spPr>
        <p:txBody>
          <a:bodyPr anchor="t" rtlCol="false" tIns="0" lIns="0" bIns="0" rIns="0">
            <a:spAutoFit/>
          </a:bodyPr>
          <a:lstStyle/>
          <a:p>
            <a:pPr algn="l">
              <a:lnSpc>
                <a:spcPts val="5655"/>
              </a:lnSpc>
            </a:pPr>
            <a:r>
              <a:rPr lang="en-US" sz="6500" spc="-318" b="true">
                <a:solidFill>
                  <a:srgbClr val="FFFFFF"/>
                </a:solidFill>
                <a:latin typeface="Arial Bold"/>
                <a:ea typeface="Arial Bold"/>
                <a:cs typeface="Arial Bold"/>
                <a:sym typeface="Arial Bold"/>
              </a:rPr>
              <a:t>R</a:t>
            </a:r>
            <a:r>
              <a:rPr lang="en-US" b="true" sz="6500" spc="-318">
                <a:solidFill>
                  <a:srgbClr val="FFFFFF"/>
                </a:solidFill>
                <a:latin typeface="Arial Bold"/>
                <a:ea typeface="Arial Bold"/>
                <a:cs typeface="Arial Bold"/>
                <a:sym typeface="Arial Bold"/>
              </a:rPr>
              <a:t>ecommandations</a:t>
            </a:r>
          </a:p>
        </p:txBody>
      </p:sp>
      <p:grpSp>
        <p:nvGrpSpPr>
          <p:cNvPr name="Group 6" id="6"/>
          <p:cNvGrpSpPr/>
          <p:nvPr/>
        </p:nvGrpSpPr>
        <p:grpSpPr>
          <a:xfrm rot="0">
            <a:off x="1028700" y="1028700"/>
            <a:ext cx="4484785" cy="361435"/>
            <a:chOff x="0" y="0"/>
            <a:chExt cx="5979713"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FFFFFF"/>
                  </a:solidFill>
                  <a:latin typeface="Arial Bold"/>
                  <a:ea typeface="Arial Bold"/>
                  <a:cs typeface="Arial Bold"/>
                  <a:sym typeface="Arial Bold"/>
                </a:rPr>
                <a:t>TheLook - Women France 2023 vs 2024 </a:t>
              </a:r>
            </a:p>
          </p:txBody>
        </p:sp>
      </p:grpSp>
      <p:sp>
        <p:nvSpPr>
          <p:cNvPr name="TextBox 9" id="9"/>
          <p:cNvSpPr txBox="true"/>
          <p:nvPr/>
        </p:nvSpPr>
        <p:spPr>
          <a:xfrm rot="0">
            <a:off x="2315618" y="2431154"/>
            <a:ext cx="2482588" cy="2102741"/>
          </a:xfrm>
          <a:prstGeom prst="rect">
            <a:avLst/>
          </a:prstGeom>
        </p:spPr>
        <p:txBody>
          <a:bodyPr anchor="t" rtlCol="false" tIns="0" lIns="0" bIns="0" rIns="0">
            <a:spAutoFit/>
          </a:bodyPr>
          <a:lstStyle/>
          <a:p>
            <a:pPr algn="l">
              <a:lnSpc>
                <a:spcPts val="14724"/>
              </a:lnSpc>
            </a:pPr>
            <a:r>
              <a:rPr lang="en-US" sz="16925" spc="-829" b="true">
                <a:solidFill>
                  <a:srgbClr val="FFFFFF"/>
                </a:solidFill>
                <a:latin typeface="Arial Bold"/>
                <a:ea typeface="Arial Bold"/>
                <a:cs typeface="Arial Bold"/>
                <a:sym typeface="Arial Bold"/>
              </a:rPr>
              <a:t>05</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9117995"/>
            <a:ext cx="3067438" cy="361435"/>
            <a:chOff x="0" y="0"/>
            <a:chExt cx="4089917" cy="481914"/>
          </a:xfrm>
        </p:grpSpPr>
        <p:sp>
          <p:nvSpPr>
            <p:cNvPr name="Freeform 3" id="3"/>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719060"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grpSp>
        <p:nvGrpSpPr>
          <p:cNvPr name="Group 5" id="5"/>
          <p:cNvGrpSpPr/>
          <p:nvPr/>
        </p:nvGrpSpPr>
        <p:grpSpPr>
          <a:xfrm rot="0">
            <a:off x="1028700" y="1028700"/>
            <a:ext cx="4484785" cy="361435"/>
            <a:chOff x="0" y="0"/>
            <a:chExt cx="5979713" cy="481914"/>
          </a:xfrm>
        </p:grpSpPr>
        <p:sp>
          <p:nvSpPr>
            <p:cNvPr name="Freeform 6" id="6"/>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762184" y="4738"/>
              <a:ext cx="5217529" cy="415287"/>
            </a:xfrm>
            <a:prstGeom prst="rect">
              <a:avLst/>
            </a:prstGeom>
          </p:spPr>
          <p:txBody>
            <a:bodyPr anchor="t" rtlCol="false" tIns="0" lIns="0" bIns="0" rIns="0">
              <a:spAutoFit/>
            </a:bodyPr>
            <a:lstStyle/>
            <a:p>
              <a:pPr algn="ctr">
                <a:lnSpc>
                  <a:spcPts val="2520"/>
                </a:lnSpc>
                <a:spcBef>
                  <a:spcPct val="0"/>
                </a:spcBef>
              </a:pPr>
              <a:r>
                <a:rPr lang="en-US" b="true" sz="1800" spc="-88">
                  <a:solidFill>
                    <a:srgbClr val="000000"/>
                  </a:solidFill>
                  <a:latin typeface="Arial Bold"/>
                  <a:ea typeface="Arial Bold"/>
                  <a:cs typeface="Arial Bold"/>
                  <a:sym typeface="Arial Bold"/>
                </a:rPr>
                <a:t>TheLook - Women France 2023 vs 2024 </a:t>
              </a:r>
            </a:p>
          </p:txBody>
        </p:sp>
      </p:grpSp>
      <p:sp>
        <p:nvSpPr>
          <p:cNvPr name="TextBox 8" id="8"/>
          <p:cNvSpPr txBox="true"/>
          <p:nvPr/>
        </p:nvSpPr>
        <p:spPr>
          <a:xfrm rot="0">
            <a:off x="1209418" y="1600603"/>
            <a:ext cx="4534858"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Recommandations business</a:t>
            </a:r>
          </a:p>
        </p:txBody>
      </p:sp>
      <p:sp>
        <p:nvSpPr>
          <p:cNvPr name="Freeform 9" id="9"/>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7259300" y="9036335"/>
            <a:ext cx="327295" cy="443095"/>
          </a:xfrm>
          <a:custGeom>
            <a:avLst/>
            <a:gdLst/>
            <a:ahLst/>
            <a:cxnLst/>
            <a:rect r="r" b="b" t="t" l="l"/>
            <a:pathLst>
              <a:path h="443095" w="327295">
                <a:moveTo>
                  <a:pt x="0" y="0"/>
                </a:moveTo>
                <a:lnTo>
                  <a:pt x="327295" y="0"/>
                </a:lnTo>
                <a:lnTo>
                  <a:pt x="327295" y="443095"/>
                </a:lnTo>
                <a:lnTo>
                  <a:pt x="0" y="44309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1" id="11"/>
          <p:cNvGrpSpPr/>
          <p:nvPr/>
        </p:nvGrpSpPr>
        <p:grpSpPr>
          <a:xfrm rot="0">
            <a:off x="4217613" y="2184676"/>
            <a:ext cx="9852773" cy="1525869"/>
            <a:chOff x="0" y="0"/>
            <a:chExt cx="13137031" cy="2034492"/>
          </a:xfrm>
        </p:grpSpPr>
        <p:grpSp>
          <p:nvGrpSpPr>
            <p:cNvPr name="Group 12" id="12"/>
            <p:cNvGrpSpPr/>
            <p:nvPr/>
          </p:nvGrpSpPr>
          <p:grpSpPr>
            <a:xfrm rot="0">
              <a:off x="1622325" y="0"/>
              <a:ext cx="11097783" cy="2034492"/>
              <a:chOff x="0" y="0"/>
              <a:chExt cx="2254056" cy="413223"/>
            </a:xfrm>
          </p:grpSpPr>
          <p:sp>
            <p:nvSpPr>
              <p:cNvPr name="Freeform 13" id="13"/>
              <p:cNvSpPr/>
              <p:nvPr/>
            </p:nvSpPr>
            <p:spPr>
              <a:xfrm flipH="false" flipV="false" rot="0">
                <a:off x="0" y="0"/>
                <a:ext cx="2254056" cy="413223"/>
              </a:xfrm>
              <a:custGeom>
                <a:avLst/>
                <a:gdLst/>
                <a:ahLst/>
                <a:cxnLst/>
                <a:rect r="r" b="b" t="t" l="l"/>
                <a:pathLst>
                  <a:path h="413223" w="2254056">
                    <a:moveTo>
                      <a:pt x="0" y="0"/>
                    </a:moveTo>
                    <a:lnTo>
                      <a:pt x="2254056" y="0"/>
                    </a:lnTo>
                    <a:lnTo>
                      <a:pt x="2254056" y="413223"/>
                    </a:lnTo>
                    <a:lnTo>
                      <a:pt x="0" y="413223"/>
                    </a:lnTo>
                    <a:close/>
                  </a:path>
                </a:pathLst>
              </a:custGeom>
              <a:solidFill>
                <a:srgbClr val="3779E3">
                  <a:alpha val="62745"/>
                </a:srgbClr>
              </a:solidFill>
            </p:spPr>
          </p:sp>
          <p:sp>
            <p:nvSpPr>
              <p:cNvPr name="TextBox 14" id="14"/>
              <p:cNvSpPr txBox="true"/>
              <p:nvPr/>
            </p:nvSpPr>
            <p:spPr>
              <a:xfrm>
                <a:off x="0" y="57150"/>
                <a:ext cx="2254056" cy="356073"/>
              </a:xfrm>
              <a:prstGeom prst="rect">
                <a:avLst/>
              </a:prstGeom>
            </p:spPr>
            <p:txBody>
              <a:bodyPr anchor="ctr" rtlCol="false" tIns="49405" lIns="49405" bIns="49405" rIns="49405"/>
              <a:lstStyle/>
              <a:p>
                <a:pPr algn="ctr">
                  <a:lnSpc>
                    <a:spcPts val="1479"/>
                  </a:lnSpc>
                </a:pPr>
              </a:p>
              <a:p>
                <a:pPr algn="ctr">
                  <a:lnSpc>
                    <a:spcPts val="1479"/>
                  </a:lnSpc>
                </a:pPr>
              </a:p>
            </p:txBody>
          </p:sp>
        </p:grpSp>
        <p:grpSp>
          <p:nvGrpSpPr>
            <p:cNvPr name="Group 15" id="15"/>
            <p:cNvGrpSpPr/>
            <p:nvPr/>
          </p:nvGrpSpPr>
          <p:grpSpPr>
            <a:xfrm rot="0">
              <a:off x="0" y="0"/>
              <a:ext cx="1441406" cy="2034492"/>
              <a:chOff x="0" y="0"/>
              <a:chExt cx="292762" cy="413223"/>
            </a:xfrm>
          </p:grpSpPr>
          <p:sp>
            <p:nvSpPr>
              <p:cNvPr name="Freeform 16" id="16"/>
              <p:cNvSpPr/>
              <p:nvPr/>
            </p:nvSpPr>
            <p:spPr>
              <a:xfrm flipH="false" flipV="false" rot="0">
                <a:off x="0" y="0"/>
                <a:ext cx="292762" cy="413223"/>
              </a:xfrm>
              <a:custGeom>
                <a:avLst/>
                <a:gdLst/>
                <a:ahLst/>
                <a:cxnLst/>
                <a:rect r="r" b="b" t="t" l="l"/>
                <a:pathLst>
                  <a:path h="413223" w="292762">
                    <a:moveTo>
                      <a:pt x="0" y="0"/>
                    </a:moveTo>
                    <a:lnTo>
                      <a:pt x="292762" y="0"/>
                    </a:lnTo>
                    <a:lnTo>
                      <a:pt x="292762" y="413223"/>
                    </a:lnTo>
                    <a:lnTo>
                      <a:pt x="0" y="413223"/>
                    </a:lnTo>
                    <a:close/>
                  </a:path>
                </a:pathLst>
              </a:custGeom>
              <a:solidFill>
                <a:srgbClr val="3779E3"/>
              </a:solidFill>
            </p:spPr>
          </p:sp>
          <p:sp>
            <p:nvSpPr>
              <p:cNvPr name="TextBox 17" id="17"/>
              <p:cNvSpPr txBox="true"/>
              <p:nvPr/>
            </p:nvSpPr>
            <p:spPr>
              <a:xfrm>
                <a:off x="0" y="38100"/>
                <a:ext cx="292762" cy="375123"/>
              </a:xfrm>
              <a:prstGeom prst="rect">
                <a:avLst/>
              </a:prstGeom>
            </p:spPr>
            <p:txBody>
              <a:bodyPr anchor="ctr" rtlCol="false" tIns="49405" lIns="49405" bIns="49405" rIns="49405"/>
              <a:lstStyle/>
              <a:p>
                <a:pPr algn="ctr">
                  <a:lnSpc>
                    <a:spcPts val="1479"/>
                  </a:lnSpc>
                </a:pPr>
              </a:p>
            </p:txBody>
          </p:sp>
        </p:grpSp>
        <p:sp>
          <p:nvSpPr>
            <p:cNvPr name="Freeform 18" id="18"/>
            <p:cNvSpPr/>
            <p:nvPr/>
          </p:nvSpPr>
          <p:spPr>
            <a:xfrm flipH="false" flipV="false" rot="0">
              <a:off x="776037" y="731939"/>
              <a:ext cx="233023" cy="570614"/>
            </a:xfrm>
            <a:custGeom>
              <a:avLst/>
              <a:gdLst/>
              <a:ahLst/>
              <a:cxnLst/>
              <a:rect r="r" b="b" t="t" l="l"/>
              <a:pathLst>
                <a:path h="570614" w="233023">
                  <a:moveTo>
                    <a:pt x="0" y="0"/>
                  </a:moveTo>
                  <a:lnTo>
                    <a:pt x="233023" y="0"/>
                  </a:lnTo>
                  <a:lnTo>
                    <a:pt x="233023" y="570614"/>
                  </a:lnTo>
                  <a:lnTo>
                    <a:pt x="0" y="5706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9" id="19"/>
            <p:cNvSpPr/>
            <p:nvPr/>
          </p:nvSpPr>
          <p:spPr>
            <a:xfrm flipH="false" flipV="false" rot="0">
              <a:off x="283993" y="731939"/>
              <a:ext cx="436710" cy="570614"/>
            </a:xfrm>
            <a:custGeom>
              <a:avLst/>
              <a:gdLst/>
              <a:ahLst/>
              <a:cxnLst/>
              <a:rect r="r" b="b" t="t" l="l"/>
              <a:pathLst>
                <a:path h="570614" w="436710">
                  <a:moveTo>
                    <a:pt x="0" y="0"/>
                  </a:moveTo>
                  <a:lnTo>
                    <a:pt x="436710" y="0"/>
                  </a:lnTo>
                  <a:lnTo>
                    <a:pt x="436710" y="570614"/>
                  </a:lnTo>
                  <a:lnTo>
                    <a:pt x="0" y="5706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20" id="20"/>
            <p:cNvSpPr txBox="true"/>
            <p:nvPr/>
          </p:nvSpPr>
          <p:spPr>
            <a:xfrm rot="0">
              <a:off x="1825875" y="159756"/>
              <a:ext cx="4238045" cy="316273"/>
            </a:xfrm>
            <a:prstGeom prst="rect">
              <a:avLst/>
            </a:prstGeom>
          </p:spPr>
          <p:txBody>
            <a:bodyPr anchor="t" rtlCol="false" tIns="0" lIns="0" bIns="0" rIns="0">
              <a:spAutoFit/>
            </a:bodyPr>
            <a:lstStyle/>
            <a:p>
              <a:pPr algn="l">
                <a:lnSpc>
                  <a:spcPts val="1523"/>
                </a:lnSpc>
              </a:pPr>
              <a:r>
                <a:rPr lang="en-US" sz="1750" spc="-85" b="true">
                  <a:solidFill>
                    <a:srgbClr val="000000"/>
                  </a:solidFill>
                  <a:latin typeface="Arial Bold"/>
                  <a:ea typeface="Arial Bold"/>
                  <a:cs typeface="Arial Bold"/>
                  <a:sym typeface="Arial Bold"/>
                </a:rPr>
                <a:t>Amplifier Outerwear &amp; Coats</a:t>
              </a:r>
            </a:p>
          </p:txBody>
        </p:sp>
        <p:sp>
          <p:nvSpPr>
            <p:cNvPr name="TextBox 21" id="21"/>
            <p:cNvSpPr txBox="true"/>
            <p:nvPr/>
          </p:nvSpPr>
          <p:spPr>
            <a:xfrm rot="0">
              <a:off x="1825875" y="777556"/>
              <a:ext cx="4238045" cy="298488"/>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KPI : CA 3 148 € · Marge 55%</a:t>
              </a:r>
            </a:p>
          </p:txBody>
        </p:sp>
        <p:sp>
          <p:nvSpPr>
            <p:cNvPr name="TextBox 22" id="22"/>
            <p:cNvSpPr txBox="true"/>
            <p:nvPr/>
          </p:nvSpPr>
          <p:spPr>
            <a:xfrm rot="0">
              <a:off x="1825875" y="1331128"/>
              <a:ext cx="11311156" cy="533161"/>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Augmenter le budget acquisition S2. Partenariat The North Face + Arc'teryx en avant-plan. </a:t>
              </a:r>
            </a:p>
            <a:p>
              <a:pPr algn="l">
                <a:lnSpc>
                  <a:spcPts val="1438"/>
                </a:lnSpc>
              </a:pPr>
              <a:r>
                <a:rPr lang="en-US" sz="1653" spc="-81" b="true">
                  <a:solidFill>
                    <a:srgbClr val="000000"/>
                  </a:solidFill>
                  <a:latin typeface="Arial Bold"/>
                  <a:ea typeface="Arial Bold"/>
                  <a:cs typeface="Arial Bold"/>
                  <a:sym typeface="Arial Bold"/>
                </a:rPr>
                <a:t>Objectif : +15% CA Outerwear 2025.</a:t>
              </a:r>
            </a:p>
          </p:txBody>
        </p:sp>
      </p:grpSp>
      <p:grpSp>
        <p:nvGrpSpPr>
          <p:cNvPr name="Group 23" id="23"/>
          <p:cNvGrpSpPr/>
          <p:nvPr/>
        </p:nvGrpSpPr>
        <p:grpSpPr>
          <a:xfrm rot="0">
            <a:off x="4217613" y="3939145"/>
            <a:ext cx="9852773" cy="1525869"/>
            <a:chOff x="0" y="0"/>
            <a:chExt cx="13137031" cy="2034492"/>
          </a:xfrm>
        </p:grpSpPr>
        <p:grpSp>
          <p:nvGrpSpPr>
            <p:cNvPr name="Group 24" id="24"/>
            <p:cNvGrpSpPr/>
            <p:nvPr/>
          </p:nvGrpSpPr>
          <p:grpSpPr>
            <a:xfrm rot="0">
              <a:off x="1622325" y="0"/>
              <a:ext cx="11097783" cy="2034492"/>
              <a:chOff x="0" y="0"/>
              <a:chExt cx="2254056" cy="413223"/>
            </a:xfrm>
          </p:grpSpPr>
          <p:sp>
            <p:nvSpPr>
              <p:cNvPr name="Freeform 25" id="25"/>
              <p:cNvSpPr/>
              <p:nvPr/>
            </p:nvSpPr>
            <p:spPr>
              <a:xfrm flipH="false" flipV="false" rot="0">
                <a:off x="0" y="0"/>
                <a:ext cx="2254056" cy="413223"/>
              </a:xfrm>
              <a:custGeom>
                <a:avLst/>
                <a:gdLst/>
                <a:ahLst/>
                <a:cxnLst/>
                <a:rect r="r" b="b" t="t" l="l"/>
                <a:pathLst>
                  <a:path h="413223" w="2254056">
                    <a:moveTo>
                      <a:pt x="0" y="0"/>
                    </a:moveTo>
                    <a:lnTo>
                      <a:pt x="2254056" y="0"/>
                    </a:lnTo>
                    <a:lnTo>
                      <a:pt x="2254056" y="413223"/>
                    </a:lnTo>
                    <a:lnTo>
                      <a:pt x="0" y="413223"/>
                    </a:lnTo>
                    <a:close/>
                  </a:path>
                </a:pathLst>
              </a:custGeom>
              <a:solidFill>
                <a:srgbClr val="E99842">
                  <a:alpha val="62745"/>
                </a:srgbClr>
              </a:solidFill>
            </p:spPr>
          </p:sp>
          <p:sp>
            <p:nvSpPr>
              <p:cNvPr name="TextBox 26" id="26"/>
              <p:cNvSpPr txBox="true"/>
              <p:nvPr/>
            </p:nvSpPr>
            <p:spPr>
              <a:xfrm>
                <a:off x="0" y="57150"/>
                <a:ext cx="2254056" cy="356073"/>
              </a:xfrm>
              <a:prstGeom prst="rect">
                <a:avLst/>
              </a:prstGeom>
            </p:spPr>
            <p:txBody>
              <a:bodyPr anchor="ctr" rtlCol="false" tIns="49405" lIns="49405" bIns="49405" rIns="49405"/>
              <a:lstStyle/>
              <a:p>
                <a:pPr algn="ctr">
                  <a:lnSpc>
                    <a:spcPts val="1479"/>
                  </a:lnSpc>
                </a:pPr>
              </a:p>
              <a:p>
                <a:pPr algn="ctr">
                  <a:lnSpc>
                    <a:spcPts val="1479"/>
                  </a:lnSpc>
                </a:pPr>
              </a:p>
            </p:txBody>
          </p:sp>
        </p:grpSp>
        <p:sp>
          <p:nvSpPr>
            <p:cNvPr name="TextBox 27" id="27"/>
            <p:cNvSpPr txBox="true"/>
            <p:nvPr/>
          </p:nvSpPr>
          <p:spPr>
            <a:xfrm rot="0">
              <a:off x="1825875" y="204107"/>
              <a:ext cx="4238045" cy="316273"/>
            </a:xfrm>
            <a:prstGeom prst="rect">
              <a:avLst/>
            </a:prstGeom>
          </p:spPr>
          <p:txBody>
            <a:bodyPr anchor="t" rtlCol="false" tIns="0" lIns="0" bIns="0" rIns="0">
              <a:spAutoFit/>
            </a:bodyPr>
            <a:lstStyle/>
            <a:p>
              <a:pPr algn="l">
                <a:lnSpc>
                  <a:spcPts val="1523"/>
                </a:lnSpc>
              </a:pPr>
              <a:r>
                <a:rPr lang="en-US" sz="1750" spc="-85" b="true">
                  <a:solidFill>
                    <a:srgbClr val="000000"/>
                  </a:solidFill>
                  <a:latin typeface="Arial Bold"/>
                  <a:ea typeface="Arial Bold"/>
                  <a:cs typeface="Arial Bold"/>
                  <a:sym typeface="Arial Bold"/>
                </a:rPr>
                <a:t>Exploiter le pic d'octobre</a:t>
              </a:r>
            </a:p>
          </p:txBody>
        </p:sp>
        <p:sp>
          <p:nvSpPr>
            <p:cNvPr name="TextBox 28" id="28"/>
            <p:cNvSpPr txBox="true"/>
            <p:nvPr/>
          </p:nvSpPr>
          <p:spPr>
            <a:xfrm rot="0">
              <a:off x="1825875" y="777556"/>
              <a:ext cx="4238045" cy="298488"/>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KPI : Oct 2024 = 2 389 € (+87%)</a:t>
              </a:r>
            </a:p>
          </p:txBody>
        </p:sp>
        <p:sp>
          <p:nvSpPr>
            <p:cNvPr name="TextBox 29" id="29"/>
            <p:cNvSpPr txBox="true"/>
            <p:nvPr/>
          </p:nvSpPr>
          <p:spPr>
            <a:xfrm rot="0">
              <a:off x="1825875" y="1333218"/>
              <a:ext cx="11311156" cy="533161"/>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Déclencher les campagnes fin août. Anticiper les stocks T4. </a:t>
              </a:r>
            </a:p>
            <a:p>
              <a:pPr algn="l">
                <a:lnSpc>
                  <a:spcPts val="1438"/>
                </a:lnSpc>
              </a:pPr>
              <a:r>
                <a:rPr lang="en-US" sz="1653" spc="-81" b="true">
                  <a:solidFill>
                    <a:srgbClr val="000000"/>
                  </a:solidFill>
                  <a:latin typeface="Arial Bold"/>
                  <a:ea typeface="Arial Bold"/>
                  <a:cs typeface="Arial Bold"/>
                  <a:sym typeface="Arial Bold"/>
                </a:rPr>
                <a:t>Objectif : étendre le pic sur 3 semaines supplémentaires.</a:t>
              </a:r>
            </a:p>
          </p:txBody>
        </p:sp>
        <p:grpSp>
          <p:nvGrpSpPr>
            <p:cNvPr name="Group 30" id="30"/>
            <p:cNvGrpSpPr/>
            <p:nvPr/>
          </p:nvGrpSpPr>
          <p:grpSpPr>
            <a:xfrm rot="0">
              <a:off x="0" y="0"/>
              <a:ext cx="1441406" cy="2034492"/>
              <a:chOff x="0" y="0"/>
              <a:chExt cx="292762" cy="413223"/>
            </a:xfrm>
          </p:grpSpPr>
          <p:sp>
            <p:nvSpPr>
              <p:cNvPr name="Freeform 31" id="31"/>
              <p:cNvSpPr/>
              <p:nvPr/>
            </p:nvSpPr>
            <p:spPr>
              <a:xfrm flipH="false" flipV="false" rot="0">
                <a:off x="0" y="0"/>
                <a:ext cx="292762" cy="413223"/>
              </a:xfrm>
              <a:custGeom>
                <a:avLst/>
                <a:gdLst/>
                <a:ahLst/>
                <a:cxnLst/>
                <a:rect r="r" b="b" t="t" l="l"/>
                <a:pathLst>
                  <a:path h="413223" w="292762">
                    <a:moveTo>
                      <a:pt x="0" y="0"/>
                    </a:moveTo>
                    <a:lnTo>
                      <a:pt x="292762" y="0"/>
                    </a:lnTo>
                    <a:lnTo>
                      <a:pt x="292762" y="413223"/>
                    </a:lnTo>
                    <a:lnTo>
                      <a:pt x="0" y="413223"/>
                    </a:lnTo>
                    <a:close/>
                  </a:path>
                </a:pathLst>
              </a:custGeom>
              <a:solidFill>
                <a:srgbClr val="E99842"/>
              </a:solidFill>
            </p:spPr>
          </p:sp>
          <p:sp>
            <p:nvSpPr>
              <p:cNvPr name="TextBox 32" id="32"/>
              <p:cNvSpPr txBox="true"/>
              <p:nvPr/>
            </p:nvSpPr>
            <p:spPr>
              <a:xfrm>
                <a:off x="0" y="38100"/>
                <a:ext cx="292762" cy="375123"/>
              </a:xfrm>
              <a:prstGeom prst="rect">
                <a:avLst/>
              </a:prstGeom>
            </p:spPr>
            <p:txBody>
              <a:bodyPr anchor="ctr" rtlCol="false" tIns="49405" lIns="49405" bIns="49405" rIns="49405"/>
              <a:lstStyle/>
              <a:p>
                <a:pPr algn="ctr">
                  <a:lnSpc>
                    <a:spcPts val="1479"/>
                  </a:lnSpc>
                </a:pPr>
              </a:p>
            </p:txBody>
          </p:sp>
        </p:grpSp>
        <p:sp>
          <p:nvSpPr>
            <p:cNvPr name="Freeform 33" id="33"/>
            <p:cNvSpPr/>
            <p:nvPr/>
          </p:nvSpPr>
          <p:spPr>
            <a:xfrm flipH="false" flipV="false" rot="0">
              <a:off x="283993" y="731939"/>
              <a:ext cx="436710" cy="570614"/>
            </a:xfrm>
            <a:custGeom>
              <a:avLst/>
              <a:gdLst/>
              <a:ahLst/>
              <a:cxnLst/>
              <a:rect r="r" b="b" t="t" l="l"/>
              <a:pathLst>
                <a:path h="570614" w="436710">
                  <a:moveTo>
                    <a:pt x="0" y="0"/>
                  </a:moveTo>
                  <a:lnTo>
                    <a:pt x="436710" y="0"/>
                  </a:lnTo>
                  <a:lnTo>
                    <a:pt x="436710" y="570614"/>
                  </a:lnTo>
                  <a:lnTo>
                    <a:pt x="0" y="5706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34" id="34"/>
            <p:cNvSpPr/>
            <p:nvPr/>
          </p:nvSpPr>
          <p:spPr>
            <a:xfrm flipH="false" flipV="false" rot="0">
              <a:off x="720703" y="731939"/>
              <a:ext cx="414447" cy="561082"/>
            </a:xfrm>
            <a:custGeom>
              <a:avLst/>
              <a:gdLst/>
              <a:ahLst/>
              <a:cxnLst/>
              <a:rect r="r" b="b" t="t" l="l"/>
              <a:pathLst>
                <a:path h="561082" w="414447">
                  <a:moveTo>
                    <a:pt x="0" y="0"/>
                  </a:moveTo>
                  <a:lnTo>
                    <a:pt x="414447" y="0"/>
                  </a:lnTo>
                  <a:lnTo>
                    <a:pt x="414447" y="561082"/>
                  </a:lnTo>
                  <a:lnTo>
                    <a:pt x="0" y="56108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35" id="35"/>
          <p:cNvGrpSpPr/>
          <p:nvPr/>
        </p:nvGrpSpPr>
        <p:grpSpPr>
          <a:xfrm rot="0">
            <a:off x="4217613" y="5693614"/>
            <a:ext cx="9540081" cy="1525869"/>
            <a:chOff x="0" y="0"/>
            <a:chExt cx="12720108" cy="2034492"/>
          </a:xfrm>
        </p:grpSpPr>
        <p:grpSp>
          <p:nvGrpSpPr>
            <p:cNvPr name="Group 36" id="36"/>
            <p:cNvGrpSpPr/>
            <p:nvPr/>
          </p:nvGrpSpPr>
          <p:grpSpPr>
            <a:xfrm rot="0">
              <a:off x="1622325" y="0"/>
              <a:ext cx="11097783" cy="2034492"/>
              <a:chOff x="0" y="0"/>
              <a:chExt cx="2254056" cy="413223"/>
            </a:xfrm>
          </p:grpSpPr>
          <p:sp>
            <p:nvSpPr>
              <p:cNvPr name="Freeform 37" id="37"/>
              <p:cNvSpPr/>
              <p:nvPr/>
            </p:nvSpPr>
            <p:spPr>
              <a:xfrm flipH="false" flipV="false" rot="0">
                <a:off x="0" y="0"/>
                <a:ext cx="2254056" cy="413223"/>
              </a:xfrm>
              <a:custGeom>
                <a:avLst/>
                <a:gdLst/>
                <a:ahLst/>
                <a:cxnLst/>
                <a:rect r="r" b="b" t="t" l="l"/>
                <a:pathLst>
                  <a:path h="413223" w="2254056">
                    <a:moveTo>
                      <a:pt x="0" y="0"/>
                    </a:moveTo>
                    <a:lnTo>
                      <a:pt x="2254056" y="0"/>
                    </a:lnTo>
                    <a:lnTo>
                      <a:pt x="2254056" y="413223"/>
                    </a:lnTo>
                    <a:lnTo>
                      <a:pt x="0" y="413223"/>
                    </a:lnTo>
                    <a:close/>
                  </a:path>
                </a:pathLst>
              </a:custGeom>
              <a:solidFill>
                <a:srgbClr val="7ED957">
                  <a:alpha val="62745"/>
                </a:srgbClr>
              </a:solidFill>
            </p:spPr>
          </p:sp>
          <p:sp>
            <p:nvSpPr>
              <p:cNvPr name="TextBox 38" id="38"/>
              <p:cNvSpPr txBox="true"/>
              <p:nvPr/>
            </p:nvSpPr>
            <p:spPr>
              <a:xfrm>
                <a:off x="0" y="57150"/>
                <a:ext cx="2254056" cy="356073"/>
              </a:xfrm>
              <a:prstGeom prst="rect">
                <a:avLst/>
              </a:prstGeom>
            </p:spPr>
            <p:txBody>
              <a:bodyPr anchor="ctr" rtlCol="false" tIns="49405" lIns="49405" bIns="49405" rIns="49405"/>
              <a:lstStyle/>
              <a:p>
                <a:pPr algn="ctr">
                  <a:lnSpc>
                    <a:spcPts val="1479"/>
                  </a:lnSpc>
                </a:pPr>
              </a:p>
              <a:p>
                <a:pPr algn="ctr">
                  <a:lnSpc>
                    <a:spcPts val="1479"/>
                  </a:lnSpc>
                </a:pPr>
              </a:p>
            </p:txBody>
          </p:sp>
        </p:grpSp>
        <p:sp>
          <p:nvSpPr>
            <p:cNvPr name="TextBox 39" id="39"/>
            <p:cNvSpPr txBox="true"/>
            <p:nvPr/>
          </p:nvSpPr>
          <p:spPr>
            <a:xfrm rot="0">
              <a:off x="1825875" y="204107"/>
              <a:ext cx="4238045" cy="316273"/>
            </a:xfrm>
            <a:prstGeom prst="rect">
              <a:avLst/>
            </a:prstGeom>
          </p:spPr>
          <p:txBody>
            <a:bodyPr anchor="t" rtlCol="false" tIns="0" lIns="0" bIns="0" rIns="0">
              <a:spAutoFit/>
            </a:bodyPr>
            <a:lstStyle/>
            <a:p>
              <a:pPr algn="l">
                <a:lnSpc>
                  <a:spcPts val="1523"/>
                </a:lnSpc>
              </a:pPr>
              <a:r>
                <a:rPr lang="en-US" sz="1750" spc="-85" b="true">
                  <a:solidFill>
                    <a:srgbClr val="000000"/>
                  </a:solidFill>
                  <a:latin typeface="Arial Bold"/>
                  <a:ea typeface="Arial Bold"/>
                  <a:cs typeface="Arial Bold"/>
                  <a:sym typeface="Arial Bold"/>
                </a:rPr>
                <a:t>Réduire les retours </a:t>
              </a:r>
            </a:p>
          </p:txBody>
        </p:sp>
        <p:sp>
          <p:nvSpPr>
            <p:cNvPr name="TextBox 40" id="40"/>
            <p:cNvSpPr txBox="true"/>
            <p:nvPr/>
          </p:nvSpPr>
          <p:spPr>
            <a:xfrm rot="0">
              <a:off x="1825875" y="775465"/>
              <a:ext cx="4742641" cy="298488"/>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KPI : Clothing Sets 100% · Blazers 55%</a:t>
              </a:r>
            </a:p>
          </p:txBody>
        </p:sp>
        <p:sp>
          <p:nvSpPr>
            <p:cNvPr name="TextBox 41" id="41"/>
            <p:cNvSpPr txBox="true"/>
            <p:nvPr/>
          </p:nvSpPr>
          <p:spPr>
            <a:xfrm rot="0">
              <a:off x="1825875" y="1331128"/>
              <a:ext cx="6847778" cy="533161"/>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Guide des tailles + photos 360° + descriptions matières. </a:t>
              </a:r>
            </a:p>
            <a:p>
              <a:pPr algn="l">
                <a:lnSpc>
                  <a:spcPts val="1438"/>
                </a:lnSpc>
              </a:pPr>
              <a:r>
                <a:rPr lang="en-US" sz="1653" spc="-81" b="true">
                  <a:solidFill>
                    <a:srgbClr val="000000"/>
                  </a:solidFill>
                  <a:latin typeface="Arial Bold"/>
                  <a:ea typeface="Arial Bold"/>
                  <a:cs typeface="Arial Bold"/>
                  <a:sym typeface="Arial Bold"/>
                </a:rPr>
                <a:t>Objectif : -5 pts de taux retour global en 2025.</a:t>
              </a:r>
            </a:p>
          </p:txBody>
        </p:sp>
        <p:grpSp>
          <p:nvGrpSpPr>
            <p:cNvPr name="Group 42" id="42"/>
            <p:cNvGrpSpPr/>
            <p:nvPr/>
          </p:nvGrpSpPr>
          <p:grpSpPr>
            <a:xfrm rot="0">
              <a:off x="0" y="0"/>
              <a:ext cx="1441406" cy="2034492"/>
              <a:chOff x="0" y="0"/>
              <a:chExt cx="292762" cy="413223"/>
            </a:xfrm>
          </p:grpSpPr>
          <p:sp>
            <p:nvSpPr>
              <p:cNvPr name="Freeform 43" id="43"/>
              <p:cNvSpPr/>
              <p:nvPr/>
            </p:nvSpPr>
            <p:spPr>
              <a:xfrm flipH="false" flipV="false" rot="0">
                <a:off x="0" y="0"/>
                <a:ext cx="292762" cy="413223"/>
              </a:xfrm>
              <a:custGeom>
                <a:avLst/>
                <a:gdLst/>
                <a:ahLst/>
                <a:cxnLst/>
                <a:rect r="r" b="b" t="t" l="l"/>
                <a:pathLst>
                  <a:path h="413223" w="292762">
                    <a:moveTo>
                      <a:pt x="0" y="0"/>
                    </a:moveTo>
                    <a:lnTo>
                      <a:pt x="292762" y="0"/>
                    </a:lnTo>
                    <a:lnTo>
                      <a:pt x="292762" y="413223"/>
                    </a:lnTo>
                    <a:lnTo>
                      <a:pt x="0" y="413223"/>
                    </a:lnTo>
                    <a:close/>
                  </a:path>
                </a:pathLst>
              </a:custGeom>
              <a:solidFill>
                <a:srgbClr val="7ED957"/>
              </a:solidFill>
            </p:spPr>
          </p:sp>
          <p:sp>
            <p:nvSpPr>
              <p:cNvPr name="TextBox 44" id="44"/>
              <p:cNvSpPr txBox="true"/>
              <p:nvPr/>
            </p:nvSpPr>
            <p:spPr>
              <a:xfrm>
                <a:off x="0" y="38100"/>
                <a:ext cx="292762" cy="375123"/>
              </a:xfrm>
              <a:prstGeom prst="rect">
                <a:avLst/>
              </a:prstGeom>
            </p:spPr>
            <p:txBody>
              <a:bodyPr anchor="ctr" rtlCol="false" tIns="49405" lIns="49405" bIns="49405" rIns="49405"/>
              <a:lstStyle/>
              <a:p>
                <a:pPr algn="ctr">
                  <a:lnSpc>
                    <a:spcPts val="1479"/>
                  </a:lnSpc>
                </a:pPr>
              </a:p>
            </p:txBody>
          </p:sp>
        </p:grpSp>
        <p:sp>
          <p:nvSpPr>
            <p:cNvPr name="Freeform 45" id="45"/>
            <p:cNvSpPr/>
            <p:nvPr/>
          </p:nvSpPr>
          <p:spPr>
            <a:xfrm flipH="false" flipV="false" rot="0">
              <a:off x="283993" y="731939"/>
              <a:ext cx="436710" cy="570614"/>
            </a:xfrm>
            <a:custGeom>
              <a:avLst/>
              <a:gdLst/>
              <a:ahLst/>
              <a:cxnLst/>
              <a:rect r="r" b="b" t="t" l="l"/>
              <a:pathLst>
                <a:path h="570614" w="436710">
                  <a:moveTo>
                    <a:pt x="0" y="0"/>
                  </a:moveTo>
                  <a:lnTo>
                    <a:pt x="436710" y="0"/>
                  </a:lnTo>
                  <a:lnTo>
                    <a:pt x="436710" y="570614"/>
                  </a:lnTo>
                  <a:lnTo>
                    <a:pt x="0" y="5706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46" id="46"/>
            <p:cNvSpPr/>
            <p:nvPr/>
          </p:nvSpPr>
          <p:spPr>
            <a:xfrm flipH="false" flipV="false" rot="0">
              <a:off x="720703" y="716319"/>
              <a:ext cx="417920" cy="586234"/>
            </a:xfrm>
            <a:custGeom>
              <a:avLst/>
              <a:gdLst/>
              <a:ahLst/>
              <a:cxnLst/>
              <a:rect r="r" b="b" t="t" l="l"/>
              <a:pathLst>
                <a:path h="586234" w="417920">
                  <a:moveTo>
                    <a:pt x="0" y="0"/>
                  </a:moveTo>
                  <a:lnTo>
                    <a:pt x="417919" y="0"/>
                  </a:lnTo>
                  <a:lnTo>
                    <a:pt x="417919" y="586234"/>
                  </a:lnTo>
                  <a:lnTo>
                    <a:pt x="0" y="58623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grpSp>
        <p:nvGrpSpPr>
          <p:cNvPr name="Group 47" id="47"/>
          <p:cNvGrpSpPr/>
          <p:nvPr/>
        </p:nvGrpSpPr>
        <p:grpSpPr>
          <a:xfrm rot="0">
            <a:off x="4217613" y="7448083"/>
            <a:ext cx="9540081" cy="1525869"/>
            <a:chOff x="0" y="0"/>
            <a:chExt cx="12720108" cy="2034492"/>
          </a:xfrm>
        </p:grpSpPr>
        <p:grpSp>
          <p:nvGrpSpPr>
            <p:cNvPr name="Group 48" id="48"/>
            <p:cNvGrpSpPr/>
            <p:nvPr/>
          </p:nvGrpSpPr>
          <p:grpSpPr>
            <a:xfrm rot="0">
              <a:off x="1622325" y="0"/>
              <a:ext cx="11097783" cy="2034492"/>
              <a:chOff x="0" y="0"/>
              <a:chExt cx="2254056" cy="413223"/>
            </a:xfrm>
          </p:grpSpPr>
          <p:sp>
            <p:nvSpPr>
              <p:cNvPr name="Freeform 49" id="49"/>
              <p:cNvSpPr/>
              <p:nvPr/>
            </p:nvSpPr>
            <p:spPr>
              <a:xfrm flipH="false" flipV="false" rot="0">
                <a:off x="0" y="0"/>
                <a:ext cx="2254056" cy="413223"/>
              </a:xfrm>
              <a:custGeom>
                <a:avLst/>
                <a:gdLst/>
                <a:ahLst/>
                <a:cxnLst/>
                <a:rect r="r" b="b" t="t" l="l"/>
                <a:pathLst>
                  <a:path h="413223" w="2254056">
                    <a:moveTo>
                      <a:pt x="0" y="0"/>
                    </a:moveTo>
                    <a:lnTo>
                      <a:pt x="2254056" y="0"/>
                    </a:lnTo>
                    <a:lnTo>
                      <a:pt x="2254056" y="413223"/>
                    </a:lnTo>
                    <a:lnTo>
                      <a:pt x="0" y="413223"/>
                    </a:lnTo>
                    <a:close/>
                  </a:path>
                </a:pathLst>
              </a:custGeom>
              <a:solidFill>
                <a:srgbClr val="B4B4B4">
                  <a:alpha val="62745"/>
                </a:srgbClr>
              </a:solidFill>
            </p:spPr>
          </p:sp>
          <p:sp>
            <p:nvSpPr>
              <p:cNvPr name="TextBox 50" id="50"/>
              <p:cNvSpPr txBox="true"/>
              <p:nvPr/>
            </p:nvSpPr>
            <p:spPr>
              <a:xfrm>
                <a:off x="0" y="57150"/>
                <a:ext cx="2254056" cy="356073"/>
              </a:xfrm>
              <a:prstGeom prst="rect">
                <a:avLst/>
              </a:prstGeom>
            </p:spPr>
            <p:txBody>
              <a:bodyPr anchor="ctr" rtlCol="false" tIns="49405" lIns="49405" bIns="49405" rIns="49405"/>
              <a:lstStyle/>
              <a:p>
                <a:pPr algn="ctr">
                  <a:lnSpc>
                    <a:spcPts val="1479"/>
                  </a:lnSpc>
                </a:pPr>
              </a:p>
              <a:p>
                <a:pPr algn="ctr">
                  <a:lnSpc>
                    <a:spcPts val="1479"/>
                  </a:lnSpc>
                </a:pPr>
              </a:p>
            </p:txBody>
          </p:sp>
        </p:grpSp>
        <p:sp>
          <p:nvSpPr>
            <p:cNvPr name="TextBox 51" id="51"/>
            <p:cNvSpPr txBox="true"/>
            <p:nvPr/>
          </p:nvSpPr>
          <p:spPr>
            <a:xfrm rot="0">
              <a:off x="1825875" y="204107"/>
              <a:ext cx="3763676" cy="316273"/>
            </a:xfrm>
            <a:prstGeom prst="rect">
              <a:avLst/>
            </a:prstGeom>
          </p:spPr>
          <p:txBody>
            <a:bodyPr anchor="t" rtlCol="false" tIns="0" lIns="0" bIns="0" rIns="0">
              <a:spAutoFit/>
            </a:bodyPr>
            <a:lstStyle/>
            <a:p>
              <a:pPr algn="l">
                <a:lnSpc>
                  <a:spcPts val="1523"/>
                </a:lnSpc>
              </a:pPr>
              <a:r>
                <a:rPr lang="en-US" sz="1750" spc="-85" b="true">
                  <a:solidFill>
                    <a:srgbClr val="000000"/>
                  </a:solidFill>
                  <a:latin typeface="Arial Bold"/>
                  <a:ea typeface="Arial Bold"/>
                  <a:cs typeface="Arial Bold"/>
                  <a:sym typeface="Arial Bold"/>
                </a:rPr>
                <a:t>Programme CRM fidélisation</a:t>
              </a:r>
            </a:p>
          </p:txBody>
        </p:sp>
        <p:sp>
          <p:nvSpPr>
            <p:cNvPr name="TextBox 52" id="52"/>
            <p:cNvSpPr txBox="true"/>
            <p:nvPr/>
          </p:nvSpPr>
          <p:spPr>
            <a:xfrm rot="0">
              <a:off x="1825875" y="777556"/>
              <a:ext cx="4238045" cy="298488"/>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KPI : Réachat 3,39% (0% en 2023)</a:t>
              </a:r>
            </a:p>
          </p:txBody>
        </p:sp>
        <p:sp>
          <p:nvSpPr>
            <p:cNvPr name="TextBox 53" id="53"/>
            <p:cNvSpPr txBox="true"/>
            <p:nvPr/>
          </p:nvSpPr>
          <p:spPr>
            <a:xfrm rot="0">
              <a:off x="1825875" y="1333218"/>
              <a:ext cx="6114663" cy="533161"/>
            </a:xfrm>
            <a:prstGeom prst="rect">
              <a:avLst/>
            </a:prstGeom>
          </p:spPr>
          <p:txBody>
            <a:bodyPr anchor="t" rtlCol="false" tIns="0" lIns="0" bIns="0" rIns="0">
              <a:spAutoFit/>
            </a:bodyPr>
            <a:lstStyle/>
            <a:p>
              <a:pPr algn="l">
                <a:lnSpc>
                  <a:spcPts val="1438"/>
                </a:lnSpc>
              </a:pPr>
              <a:r>
                <a:rPr lang="en-US" sz="1653" spc="-81" b="true">
                  <a:solidFill>
                    <a:srgbClr val="000000"/>
                  </a:solidFill>
                  <a:latin typeface="Arial Bold"/>
                  <a:ea typeface="Arial Bold"/>
                  <a:cs typeface="Arial Bold"/>
                  <a:sym typeface="Arial Bold"/>
                </a:rPr>
                <a:t>Email automatique J+7 + offre personnalisée J+30. </a:t>
              </a:r>
            </a:p>
            <a:p>
              <a:pPr algn="l">
                <a:lnSpc>
                  <a:spcPts val="1438"/>
                </a:lnSpc>
              </a:pPr>
              <a:r>
                <a:rPr lang="en-US" sz="1653" spc="-81" b="true">
                  <a:solidFill>
                    <a:srgbClr val="000000"/>
                  </a:solidFill>
                  <a:latin typeface="Arial Bold"/>
                  <a:ea typeface="Arial Bold"/>
                  <a:cs typeface="Arial Bold"/>
                  <a:sym typeface="Arial Bold"/>
                </a:rPr>
                <a:t>Objectif : taux ré-achat 10% en 2025.</a:t>
              </a:r>
            </a:p>
          </p:txBody>
        </p:sp>
        <p:grpSp>
          <p:nvGrpSpPr>
            <p:cNvPr name="Group 54" id="54"/>
            <p:cNvGrpSpPr/>
            <p:nvPr/>
          </p:nvGrpSpPr>
          <p:grpSpPr>
            <a:xfrm rot="0">
              <a:off x="0" y="0"/>
              <a:ext cx="1441406" cy="2034492"/>
              <a:chOff x="0" y="0"/>
              <a:chExt cx="292762" cy="413223"/>
            </a:xfrm>
          </p:grpSpPr>
          <p:sp>
            <p:nvSpPr>
              <p:cNvPr name="Freeform 55" id="55"/>
              <p:cNvSpPr/>
              <p:nvPr/>
            </p:nvSpPr>
            <p:spPr>
              <a:xfrm flipH="false" flipV="false" rot="0">
                <a:off x="0" y="0"/>
                <a:ext cx="292762" cy="413223"/>
              </a:xfrm>
              <a:custGeom>
                <a:avLst/>
                <a:gdLst/>
                <a:ahLst/>
                <a:cxnLst/>
                <a:rect r="r" b="b" t="t" l="l"/>
                <a:pathLst>
                  <a:path h="413223" w="292762">
                    <a:moveTo>
                      <a:pt x="0" y="0"/>
                    </a:moveTo>
                    <a:lnTo>
                      <a:pt x="292762" y="0"/>
                    </a:lnTo>
                    <a:lnTo>
                      <a:pt x="292762" y="413223"/>
                    </a:lnTo>
                    <a:lnTo>
                      <a:pt x="0" y="413223"/>
                    </a:lnTo>
                    <a:close/>
                  </a:path>
                </a:pathLst>
              </a:custGeom>
              <a:solidFill>
                <a:srgbClr val="B4B4B4"/>
              </a:solidFill>
            </p:spPr>
          </p:sp>
          <p:sp>
            <p:nvSpPr>
              <p:cNvPr name="TextBox 56" id="56"/>
              <p:cNvSpPr txBox="true"/>
              <p:nvPr/>
            </p:nvSpPr>
            <p:spPr>
              <a:xfrm>
                <a:off x="0" y="38100"/>
                <a:ext cx="292762" cy="375123"/>
              </a:xfrm>
              <a:prstGeom prst="rect">
                <a:avLst/>
              </a:prstGeom>
            </p:spPr>
            <p:txBody>
              <a:bodyPr anchor="ctr" rtlCol="false" tIns="49405" lIns="49405" bIns="49405" rIns="49405"/>
              <a:lstStyle/>
              <a:p>
                <a:pPr algn="ctr">
                  <a:lnSpc>
                    <a:spcPts val="1479"/>
                  </a:lnSpc>
                </a:pPr>
              </a:p>
            </p:txBody>
          </p:sp>
        </p:grpSp>
        <p:sp>
          <p:nvSpPr>
            <p:cNvPr name="Freeform 57" id="57"/>
            <p:cNvSpPr/>
            <p:nvPr/>
          </p:nvSpPr>
          <p:spPr>
            <a:xfrm flipH="false" flipV="false" rot="0">
              <a:off x="283993" y="731939"/>
              <a:ext cx="436710" cy="570614"/>
            </a:xfrm>
            <a:custGeom>
              <a:avLst/>
              <a:gdLst/>
              <a:ahLst/>
              <a:cxnLst/>
              <a:rect r="r" b="b" t="t" l="l"/>
              <a:pathLst>
                <a:path h="570614" w="436710">
                  <a:moveTo>
                    <a:pt x="0" y="0"/>
                  </a:moveTo>
                  <a:lnTo>
                    <a:pt x="436710" y="0"/>
                  </a:lnTo>
                  <a:lnTo>
                    <a:pt x="436710" y="570614"/>
                  </a:lnTo>
                  <a:lnTo>
                    <a:pt x="0" y="57061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58" id="58"/>
            <p:cNvSpPr/>
            <p:nvPr/>
          </p:nvSpPr>
          <p:spPr>
            <a:xfrm flipH="false" flipV="false" rot="0">
              <a:off x="720703" y="731939"/>
              <a:ext cx="502312" cy="590794"/>
            </a:xfrm>
            <a:custGeom>
              <a:avLst/>
              <a:gdLst/>
              <a:ahLst/>
              <a:cxnLst/>
              <a:rect r="r" b="b" t="t" l="l"/>
              <a:pathLst>
                <a:path h="590794" w="502312">
                  <a:moveTo>
                    <a:pt x="0" y="0"/>
                  </a:moveTo>
                  <a:lnTo>
                    <a:pt x="502312" y="0"/>
                  </a:lnTo>
                  <a:lnTo>
                    <a:pt x="502312" y="590794"/>
                  </a:lnTo>
                  <a:lnTo>
                    <a:pt x="0" y="59079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6822619" y="1028700"/>
            <a:ext cx="436681" cy="339023"/>
          </a:xfrm>
          <a:custGeom>
            <a:avLst/>
            <a:gdLst/>
            <a:ahLst/>
            <a:cxnLst/>
            <a:rect r="r" b="b" t="t" l="l"/>
            <a:pathLst>
              <a:path h="339023" w="436681">
                <a:moveTo>
                  <a:pt x="436681" y="339023"/>
                </a:moveTo>
                <a:lnTo>
                  <a:pt x="0" y="339023"/>
                </a:lnTo>
                <a:lnTo>
                  <a:pt x="0" y="0"/>
                </a:lnTo>
                <a:lnTo>
                  <a:pt x="436681" y="0"/>
                </a:lnTo>
                <a:lnTo>
                  <a:pt x="436681" y="33902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7078693" y="9037170"/>
            <a:ext cx="180607" cy="442260"/>
          </a:xfrm>
          <a:custGeom>
            <a:avLst/>
            <a:gdLst/>
            <a:ahLst/>
            <a:cxnLst/>
            <a:rect r="r" b="b" t="t" l="l"/>
            <a:pathLst>
              <a:path h="442260" w="180607">
                <a:moveTo>
                  <a:pt x="0" y="0"/>
                </a:moveTo>
                <a:lnTo>
                  <a:pt x="180607" y="0"/>
                </a:lnTo>
                <a:lnTo>
                  <a:pt x="180607" y="442260"/>
                </a:lnTo>
                <a:lnTo>
                  <a:pt x="0" y="4422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255162" y="9023786"/>
            <a:ext cx="313440" cy="439675"/>
          </a:xfrm>
          <a:custGeom>
            <a:avLst/>
            <a:gdLst/>
            <a:ahLst/>
            <a:cxnLst/>
            <a:rect r="r" b="b" t="t" l="l"/>
            <a:pathLst>
              <a:path h="439675" w="313440">
                <a:moveTo>
                  <a:pt x="0" y="0"/>
                </a:moveTo>
                <a:lnTo>
                  <a:pt x="313439" y="0"/>
                </a:lnTo>
                <a:lnTo>
                  <a:pt x="313439" y="439676"/>
                </a:lnTo>
                <a:lnTo>
                  <a:pt x="0" y="4396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566219" y="1977617"/>
            <a:ext cx="9461815" cy="355473"/>
          </a:xfrm>
          <a:prstGeom prst="rect">
            <a:avLst/>
          </a:prstGeom>
        </p:spPr>
        <p:txBody>
          <a:bodyPr anchor="t" rtlCol="false" tIns="0" lIns="0" bIns="0" rIns="0">
            <a:spAutoFit/>
          </a:bodyPr>
          <a:lstStyle/>
          <a:p>
            <a:pPr algn="l">
              <a:lnSpc>
                <a:spcPts val="2435"/>
              </a:lnSpc>
            </a:pPr>
            <a:r>
              <a:rPr lang="en-US" sz="2799" spc="-137" b="true">
                <a:solidFill>
                  <a:srgbClr val="000000"/>
                </a:solidFill>
                <a:latin typeface="Arial Bold"/>
                <a:ea typeface="Arial Bold"/>
                <a:cs typeface="Arial Bold"/>
                <a:sym typeface="Arial Bold"/>
              </a:rPr>
              <a:t>Conclusion</a:t>
            </a:r>
          </a:p>
        </p:txBody>
      </p:sp>
      <p:grpSp>
        <p:nvGrpSpPr>
          <p:cNvPr name="Group 6" id="6"/>
          <p:cNvGrpSpPr/>
          <p:nvPr/>
        </p:nvGrpSpPr>
        <p:grpSpPr>
          <a:xfrm rot="0">
            <a:off x="1028700" y="1028700"/>
            <a:ext cx="4329431" cy="361435"/>
            <a:chOff x="0" y="0"/>
            <a:chExt cx="5772575"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762184" y="115017"/>
              <a:ext cx="5010390" cy="279147"/>
            </a:xfrm>
            <a:prstGeom prst="rect">
              <a:avLst/>
            </a:prstGeom>
          </p:spPr>
          <p:txBody>
            <a:bodyPr anchor="t" rtlCol="false" tIns="0" lIns="0" bIns="0" rIns="0">
              <a:spAutoFit/>
            </a:bodyPr>
            <a:lstStyle/>
            <a:p>
              <a:pPr algn="l">
                <a:lnSpc>
                  <a:spcPts val="1479"/>
                </a:lnSpc>
              </a:pPr>
              <a:r>
                <a:rPr lang="en-US" sz="1700" spc="-83" b="true">
                  <a:solidFill>
                    <a:srgbClr val="000000"/>
                  </a:solidFill>
                  <a:latin typeface="TT Interphases Bold"/>
                  <a:ea typeface="TT Interphases Bold"/>
                  <a:cs typeface="TT Interphases Bold"/>
                  <a:sym typeface="TT Interphases Bold"/>
                </a:rPr>
                <a:t>TheLook - Women France 2023 vs 2024 </a:t>
              </a:r>
            </a:p>
          </p:txBody>
        </p:sp>
      </p:grpSp>
      <p:grpSp>
        <p:nvGrpSpPr>
          <p:cNvPr name="Group 9" id="9"/>
          <p:cNvGrpSpPr/>
          <p:nvPr/>
        </p:nvGrpSpPr>
        <p:grpSpPr>
          <a:xfrm rot="0">
            <a:off x="1028700" y="9037170"/>
            <a:ext cx="3099781" cy="361435"/>
            <a:chOff x="0" y="0"/>
            <a:chExt cx="4133041" cy="481914"/>
          </a:xfrm>
        </p:grpSpPr>
        <p:sp>
          <p:nvSpPr>
            <p:cNvPr name="Freeform 10" id="10"/>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1" id="11"/>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sp>
        <p:nvSpPr>
          <p:cNvPr name="TextBox 12" id="12"/>
          <p:cNvSpPr txBox="true"/>
          <p:nvPr/>
        </p:nvSpPr>
        <p:spPr>
          <a:xfrm rot="0">
            <a:off x="1600338" y="3564950"/>
            <a:ext cx="7527206" cy="3348990"/>
          </a:xfrm>
          <a:prstGeom prst="rect">
            <a:avLst/>
          </a:prstGeom>
        </p:spPr>
        <p:txBody>
          <a:bodyPr anchor="t" rtlCol="false" tIns="0" lIns="0" bIns="0" rIns="0">
            <a:spAutoFit/>
          </a:bodyPr>
          <a:lstStyle/>
          <a:p>
            <a:pPr algn="just">
              <a:lnSpc>
                <a:spcPts val="3360"/>
              </a:lnSpc>
              <a:spcBef>
                <a:spcPct val="0"/>
              </a:spcBef>
            </a:pPr>
            <a:r>
              <a:rPr lang="en-US" b="true" sz="2400" spc="-117">
                <a:solidFill>
                  <a:srgbClr val="000000"/>
                </a:solidFill>
                <a:latin typeface="Arial Bold"/>
                <a:ea typeface="Arial Bold"/>
                <a:cs typeface="Arial Bold"/>
                <a:sym typeface="Arial Bold"/>
              </a:rPr>
              <a:t>✅ CA</a:t>
            </a:r>
            <a:r>
              <a:rPr lang="en-US" b="true" sz="2400" spc="-117">
                <a:solidFill>
                  <a:srgbClr val="000000"/>
                </a:solidFill>
                <a:latin typeface="Arial Bold"/>
                <a:ea typeface="Arial Bold"/>
                <a:cs typeface="Arial Bold"/>
                <a:sym typeface="Arial Bold"/>
              </a:rPr>
              <a:t> 2024 : 15 716 € — +101% vs 2023</a:t>
            </a:r>
          </a:p>
          <a:p>
            <a:pPr algn="just">
              <a:lnSpc>
                <a:spcPts val="3360"/>
              </a:lnSpc>
              <a:spcBef>
                <a:spcPct val="0"/>
              </a:spcBef>
            </a:pPr>
          </a:p>
          <a:p>
            <a:pPr algn="just">
              <a:lnSpc>
                <a:spcPts val="3360"/>
              </a:lnSpc>
              <a:spcBef>
                <a:spcPct val="0"/>
              </a:spcBef>
            </a:pPr>
            <a:r>
              <a:rPr lang="en-US" b="true" sz="2400" spc="-117">
                <a:solidFill>
                  <a:srgbClr val="000000"/>
                </a:solidFill>
                <a:latin typeface="Arial Bold"/>
                <a:ea typeface="Arial Bold"/>
                <a:cs typeface="Arial Bold"/>
                <a:sym typeface="Arial Bold"/>
              </a:rPr>
              <a:t>✅ Taux de retour en baisse : 37,87% → 30,42% (-7,5 pts)</a:t>
            </a:r>
          </a:p>
          <a:p>
            <a:pPr algn="just">
              <a:lnSpc>
                <a:spcPts val="3360"/>
              </a:lnSpc>
              <a:spcBef>
                <a:spcPct val="0"/>
              </a:spcBef>
            </a:pPr>
          </a:p>
          <a:p>
            <a:pPr algn="just">
              <a:lnSpc>
                <a:spcPts val="3360"/>
              </a:lnSpc>
              <a:spcBef>
                <a:spcPct val="0"/>
              </a:spcBef>
            </a:pPr>
            <a:r>
              <a:rPr lang="en-US" b="true" sz="2400" spc="-117">
                <a:solidFill>
                  <a:srgbClr val="000000"/>
                </a:solidFill>
                <a:latin typeface="Arial Bold"/>
                <a:ea typeface="Arial Bold"/>
                <a:cs typeface="Arial Bold"/>
                <a:sym typeface="Arial Bold"/>
              </a:rPr>
              <a:t>✅ Ré-achat qui démarre : 0% → 3,39% en 2024</a:t>
            </a:r>
          </a:p>
          <a:p>
            <a:pPr algn="just">
              <a:lnSpc>
                <a:spcPts val="3360"/>
              </a:lnSpc>
              <a:spcBef>
                <a:spcPct val="0"/>
              </a:spcBef>
            </a:pPr>
          </a:p>
          <a:p>
            <a:pPr algn="just">
              <a:lnSpc>
                <a:spcPts val="3360"/>
              </a:lnSpc>
              <a:spcBef>
                <a:spcPct val="0"/>
              </a:spcBef>
            </a:pPr>
            <a:r>
              <a:rPr lang="en-US" b="true" sz="2400" spc="-117">
                <a:solidFill>
                  <a:srgbClr val="000000"/>
                </a:solidFill>
                <a:latin typeface="Arial Bold"/>
                <a:ea typeface="Arial Bold"/>
                <a:cs typeface="Arial Bold"/>
                <a:sym typeface="Arial Bold"/>
              </a:rPr>
              <a:t>📌 4 recommandations actionnables identifiées pour 2025</a:t>
            </a:r>
          </a:p>
          <a:p>
            <a:pPr algn="just">
              <a:lnSpc>
                <a:spcPts val="3360"/>
              </a:lnSpc>
              <a:spcBef>
                <a:spcPct val="0"/>
              </a:spcBef>
            </a:pPr>
          </a:p>
        </p:txBody>
      </p:sp>
      <p:sp>
        <p:nvSpPr>
          <p:cNvPr name="TextBox 13" id="13"/>
          <p:cNvSpPr txBox="true"/>
          <p:nvPr/>
        </p:nvSpPr>
        <p:spPr>
          <a:xfrm rot="0">
            <a:off x="11264112" y="4429760"/>
            <a:ext cx="5558507" cy="1332230"/>
          </a:xfrm>
          <a:prstGeom prst="rect">
            <a:avLst/>
          </a:prstGeom>
        </p:spPr>
        <p:txBody>
          <a:bodyPr anchor="t" rtlCol="false" tIns="0" lIns="0" bIns="0" rIns="0">
            <a:spAutoFit/>
          </a:bodyPr>
          <a:lstStyle/>
          <a:p>
            <a:pPr algn="ctr">
              <a:lnSpc>
                <a:spcPts val="5319"/>
              </a:lnSpc>
              <a:spcBef>
                <a:spcPct val="0"/>
              </a:spcBef>
            </a:pPr>
            <a:r>
              <a:rPr lang="en-US" b="true" sz="3799" spc="-186">
                <a:solidFill>
                  <a:srgbClr val="000000"/>
                </a:solidFill>
                <a:latin typeface="Arial Bold"/>
                <a:ea typeface="Arial Bold"/>
                <a:cs typeface="Arial Bold"/>
                <a:sym typeface="Arial Bold"/>
              </a:rPr>
              <a:t>Merci pour votre attention  </a:t>
            </a:r>
          </a:p>
          <a:p>
            <a:pPr algn="ctr">
              <a:lnSpc>
                <a:spcPts val="5319"/>
              </a:lnSpc>
              <a:spcBef>
                <a:spcPct val="0"/>
              </a:spcBef>
            </a:pPr>
            <a:r>
              <a:rPr lang="en-US" b="true" sz="3799" spc="-186">
                <a:solidFill>
                  <a:srgbClr val="000000"/>
                </a:solidFill>
                <a:latin typeface="Arial Bold"/>
                <a:ea typeface="Arial Bold"/>
                <a:cs typeface="Arial Bold"/>
                <a:sym typeface="Arial Bold"/>
              </a:rPr>
              <a:t>Questions ?</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4451313"/>
            <a:ext cx="8332616" cy="1784425"/>
          </a:xfrm>
          <a:prstGeom prst="rect">
            <a:avLst/>
          </a:prstGeom>
        </p:spPr>
        <p:txBody>
          <a:bodyPr anchor="t" rtlCol="false" tIns="0" lIns="0" bIns="0" rIns="0">
            <a:spAutoFit/>
          </a:bodyPr>
          <a:lstStyle/>
          <a:p>
            <a:pPr algn="l">
              <a:lnSpc>
                <a:spcPts val="12524"/>
              </a:lnSpc>
            </a:pPr>
            <a:r>
              <a:rPr lang="en-US" sz="14395" spc="-705">
                <a:solidFill>
                  <a:srgbClr val="000000"/>
                </a:solidFill>
                <a:latin typeface="Arial"/>
                <a:ea typeface="Arial"/>
                <a:cs typeface="Arial"/>
                <a:sym typeface="Arial"/>
              </a:rPr>
              <a:t>Merci</a:t>
            </a:r>
          </a:p>
        </p:txBody>
      </p:sp>
      <p:grpSp>
        <p:nvGrpSpPr>
          <p:cNvPr name="Group 3" id="3"/>
          <p:cNvGrpSpPr/>
          <p:nvPr/>
        </p:nvGrpSpPr>
        <p:grpSpPr>
          <a:xfrm rot="0">
            <a:off x="1028700" y="1028700"/>
            <a:ext cx="4166308" cy="361435"/>
            <a:chOff x="0" y="0"/>
            <a:chExt cx="5555078" cy="481914"/>
          </a:xfrm>
        </p:grpSpPr>
        <p:sp>
          <p:nvSpPr>
            <p:cNvPr name="Freeform 4" id="4"/>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764796" y="21304"/>
              <a:ext cx="4790281" cy="382156"/>
            </a:xfrm>
            <a:prstGeom prst="rect">
              <a:avLst/>
            </a:prstGeom>
          </p:spPr>
          <p:txBody>
            <a:bodyPr anchor="t" rtlCol="false" tIns="0" lIns="0" bIns="0" rIns="0">
              <a:spAutoFit/>
            </a:bodyPr>
            <a:lstStyle/>
            <a:p>
              <a:pPr algn="ctr">
                <a:lnSpc>
                  <a:spcPts val="2314"/>
                </a:lnSpc>
                <a:spcBef>
                  <a:spcPct val="0"/>
                </a:spcBef>
              </a:pPr>
              <a:r>
                <a:rPr lang="en-US" b="true" sz="1653" spc="-81">
                  <a:solidFill>
                    <a:srgbClr val="000000"/>
                  </a:solidFill>
                  <a:latin typeface="Arial Bold"/>
                  <a:ea typeface="Arial Bold"/>
                  <a:cs typeface="Arial Bold"/>
                  <a:sym typeface="Arial Bold"/>
                </a:rPr>
                <a:t>TheLook - Women France 2023 vs 2024 </a:t>
              </a:r>
            </a:p>
          </p:txBody>
        </p:sp>
      </p:grpSp>
      <p:grpSp>
        <p:nvGrpSpPr>
          <p:cNvPr name="Group 6" id="6"/>
          <p:cNvGrpSpPr/>
          <p:nvPr/>
        </p:nvGrpSpPr>
        <p:grpSpPr>
          <a:xfrm rot="0">
            <a:off x="1028700" y="9037170"/>
            <a:ext cx="3099781" cy="361435"/>
            <a:chOff x="0" y="0"/>
            <a:chExt cx="4133041" cy="481914"/>
          </a:xfrm>
        </p:grpSpPr>
        <p:sp>
          <p:nvSpPr>
            <p:cNvPr name="Freeform 7" id="7"/>
            <p:cNvSpPr/>
            <p:nvPr/>
          </p:nvSpPr>
          <p:spPr>
            <a:xfrm flipH="false" flipV="false" rot="0">
              <a:off x="0" y="0"/>
              <a:ext cx="481914" cy="481914"/>
            </a:xfrm>
            <a:custGeom>
              <a:avLst/>
              <a:gdLst/>
              <a:ahLst/>
              <a:cxnLst/>
              <a:rect r="r" b="b" t="t" l="l"/>
              <a:pathLst>
                <a:path h="481914" w="481914">
                  <a:moveTo>
                    <a:pt x="0" y="0"/>
                  </a:moveTo>
                  <a:lnTo>
                    <a:pt x="481914" y="0"/>
                  </a:lnTo>
                  <a:lnTo>
                    <a:pt x="481914" y="481914"/>
                  </a:lnTo>
                  <a:lnTo>
                    <a:pt x="0" y="48191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762184" y="119671"/>
              <a:ext cx="3370857" cy="271146"/>
            </a:xfrm>
            <a:prstGeom prst="rect">
              <a:avLst/>
            </a:prstGeom>
          </p:spPr>
          <p:txBody>
            <a:bodyPr anchor="t" rtlCol="false" tIns="0" lIns="0" bIns="0" rIns="0">
              <a:spAutoFit/>
            </a:bodyPr>
            <a:lstStyle/>
            <a:p>
              <a:pPr algn="l">
                <a:lnSpc>
                  <a:spcPts val="1305"/>
                </a:lnSpc>
              </a:pPr>
              <a:r>
                <a:rPr lang="en-US" sz="1500" spc="-73">
                  <a:solidFill>
                    <a:srgbClr val="000000"/>
                  </a:solidFill>
                  <a:latin typeface="Arial"/>
                  <a:ea typeface="Arial"/>
                  <a:cs typeface="Arial"/>
                  <a:sym typeface="Arial"/>
                </a:rPr>
                <a:t>@thelook europe e-commerce</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DAHKtNJnomc</dc:identifier>
  <dcterms:modified xsi:type="dcterms:W3CDTF">2011-08-01T06:04:30Z</dcterms:modified>
  <cp:revision>1</cp:revision>
  <dc:title>www.reallygreatsite.com</dc:title>
</cp:coreProperties>
</file>